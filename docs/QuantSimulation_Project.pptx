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ebp" ContentType="image/webp"/>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notesMasterIdLst>
    <p:notesMasterId r:id="rId36"/>
  </p:notesMasterIdLst>
  <p:handoutMasterIdLst>
    <p:handoutMasterId r:id="rId37"/>
  </p:handoutMasterIdLst>
  <p:sldIdLst>
    <p:sldId id="256" r:id="rId2"/>
    <p:sldId id="271" r:id="rId3"/>
    <p:sldId id="284" r:id="rId4"/>
    <p:sldId id="313" r:id="rId5"/>
    <p:sldId id="314" r:id="rId6"/>
    <p:sldId id="279" r:id="rId7"/>
    <p:sldId id="283" r:id="rId8"/>
    <p:sldId id="285" r:id="rId9"/>
    <p:sldId id="292" r:id="rId10"/>
    <p:sldId id="288" r:id="rId11"/>
    <p:sldId id="290" r:id="rId12"/>
    <p:sldId id="291" r:id="rId13"/>
    <p:sldId id="294" r:id="rId14"/>
    <p:sldId id="295" r:id="rId15"/>
    <p:sldId id="315" r:id="rId16"/>
    <p:sldId id="316" r:id="rId17"/>
    <p:sldId id="296" r:id="rId18"/>
    <p:sldId id="297" r:id="rId19"/>
    <p:sldId id="298" r:id="rId20"/>
    <p:sldId id="299" r:id="rId21"/>
    <p:sldId id="300" r:id="rId22"/>
    <p:sldId id="301" r:id="rId23"/>
    <p:sldId id="302" r:id="rId24"/>
    <p:sldId id="308" r:id="rId25"/>
    <p:sldId id="303" r:id="rId26"/>
    <p:sldId id="304" r:id="rId27"/>
    <p:sldId id="305" r:id="rId28"/>
    <p:sldId id="306" r:id="rId29"/>
    <p:sldId id="309" r:id="rId30"/>
    <p:sldId id="293" r:id="rId31"/>
    <p:sldId id="310" r:id="rId32"/>
    <p:sldId id="311" r:id="rId33"/>
    <p:sldId id="312" r:id="rId34"/>
    <p:sldId id="282" r:id="rId3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Welcome" id="{E75E278A-FF0E-49A4-B170-79828D63BBAD}">
          <p14:sldIdLst>
            <p14:sldId id="256"/>
          </p14:sldIdLst>
        </p14:section>
        <p14:section name="Design, Morph, Annotate, Work Together, Tell Me" id="{B9B51309-D148-4332-87C2-07BE32FBCA3B}">
          <p14:sldIdLst>
            <p14:sldId id="271"/>
            <p14:sldId id="284"/>
            <p14:sldId id="313"/>
            <p14:sldId id="314"/>
            <p14:sldId id="279"/>
            <p14:sldId id="283"/>
            <p14:sldId id="285"/>
            <p14:sldId id="292"/>
            <p14:sldId id="288"/>
            <p14:sldId id="290"/>
            <p14:sldId id="291"/>
            <p14:sldId id="294"/>
            <p14:sldId id="295"/>
            <p14:sldId id="315"/>
            <p14:sldId id="316"/>
            <p14:sldId id="296"/>
            <p14:sldId id="297"/>
            <p14:sldId id="298"/>
            <p14:sldId id="299"/>
            <p14:sldId id="300"/>
            <p14:sldId id="301"/>
            <p14:sldId id="302"/>
            <p14:sldId id="308"/>
            <p14:sldId id="303"/>
            <p14:sldId id="304"/>
            <p14:sldId id="305"/>
            <p14:sldId id="306"/>
            <p14:sldId id="309"/>
            <p14:sldId id="293"/>
            <p14:sldId id="310"/>
            <p14:sldId id="311"/>
            <p14:sldId id="312"/>
          </p14:sldIdLst>
        </p14:section>
        <p14:section name="Learn More" id="{2CC34DB2-6590-42C0-AD4B-A04C6060184E}">
          <p14:sldIdLst>
            <p14:sldId id="282"/>
          </p14:sldIdLst>
        </p14:section>
      </p14:sectionLst>
    </p:ex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2" name="Author" initials="A" lastIdx="0" clrIdx="1"/>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24726"/>
    <a:srgbClr val="404040"/>
    <a:srgbClr val="FF9B45"/>
    <a:srgbClr val="DD462F"/>
    <a:srgbClr val="F8CFB6"/>
    <a:srgbClr val="F8CAB6"/>
    <a:srgbClr val="923922"/>
    <a:srgbClr val="F5F5F5"/>
    <a:srgbClr val="F2F2F2"/>
    <a:srgbClr val="D2B4A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241" autoAdjust="0"/>
  </p:normalViewPr>
  <p:slideViewPr>
    <p:cSldViewPr snapToGrid="0">
      <p:cViewPr>
        <p:scale>
          <a:sx n="100" d="100"/>
          <a:sy n="100" d="100"/>
        </p:scale>
        <p:origin x="-1464" y="-736"/>
      </p:cViewPr>
      <p:guideLst>
        <p:guide orient="horz" pos="2160"/>
        <p:guide pos="3840"/>
      </p:guideLst>
    </p:cSldViewPr>
  </p:slideViewPr>
  <p:outlineViewPr>
    <p:cViewPr>
      <p:scale>
        <a:sx n="33" d="100"/>
        <a:sy n="33" d="100"/>
      </p:scale>
      <p:origin x="0" y="0"/>
    </p:cViewPr>
  </p:outlineViewPr>
  <p:notesTextViewPr>
    <p:cViewPr>
      <p:scale>
        <a:sx n="1" d="1"/>
        <a:sy n="1" d="1"/>
      </p:scale>
      <p:origin x="0" y="0"/>
    </p:cViewPr>
  </p:notesTextViewPr>
  <p:notesViewPr>
    <p:cSldViewPr snapToGrid="0">
      <p:cViewPr varScale="1">
        <p:scale>
          <a:sx n="84" d="100"/>
          <a:sy n="84" d="100"/>
        </p:scale>
        <p:origin x="3828" y="90"/>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presProps" Target="presProps.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handoutMaster" Target="handoutMasters/handoutMaster1.xml"/><Relationship Id="rId40"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commentAuthors" Target="commentAuthor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80680FBE-A8DF-4758-9AC4-3A9E1039168F}" type="datetimeFigureOut">
              <a:rPr lang="en-US" smtClean="0"/>
              <a:t>6/21/2026</a:t>
            </a:fld>
            <a:endParaRPr lang="en-US" dirty="0"/>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9C679768-A2FC-4D08-91F6-8DCE6C566B36}" type="slidenum">
              <a:rPr lang="en-US" smtClean="0"/>
              <a:t>‹#›</a:t>
            </a:fld>
            <a:endParaRPr lang="en-US" dirty="0"/>
          </a:p>
        </p:txBody>
      </p:sp>
    </p:spTree>
    <p:extLst>
      <p:ext uri="{BB962C8B-B14F-4D97-AF65-F5344CB8AC3E}">
        <p14:creationId xmlns:p14="http://schemas.microsoft.com/office/powerpoint/2010/main" val="183025516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C13577B-6902-467D-A26C-08A0DD5E4E03}" type="datetimeFigureOut">
              <a:rPr lang="en-US" smtClean="0"/>
              <a:t>6/21/2026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F61EA0F-A667-4B49-8422-0062BC55E249}" type="slidenum">
              <a:rPr lang="en-US" smtClean="0"/>
              <a:t>‹#›</a:t>
            </a:fld>
            <a:endParaRPr lang="en-US" dirty="0"/>
          </a:p>
        </p:txBody>
      </p:sp>
    </p:spTree>
    <p:extLst>
      <p:ext uri="{BB962C8B-B14F-4D97-AF65-F5344CB8AC3E}">
        <p14:creationId xmlns:p14="http://schemas.microsoft.com/office/powerpoint/2010/main" val="338191029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DF61EA0F-A667-4B49-8422-0062BC55E249}" type="slidenum">
              <a:rPr lang="en-US" smtClean="0"/>
              <a:t>1</a:t>
            </a:fld>
            <a:endParaRPr lang="en-US" dirty="0"/>
          </a:p>
        </p:txBody>
      </p:sp>
    </p:spTree>
    <p:extLst>
      <p:ext uri="{BB962C8B-B14F-4D97-AF65-F5344CB8AC3E}">
        <p14:creationId xmlns:p14="http://schemas.microsoft.com/office/powerpoint/2010/main" val="101176981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DF61EA0F-A667-4B49-8422-0062BC55E249}" type="slidenum">
              <a:rPr lang="en-US" smtClean="0"/>
              <a:t>34</a:t>
            </a:fld>
            <a:endParaRPr lang="en-US" dirty="0"/>
          </a:p>
        </p:txBody>
      </p:sp>
    </p:spTree>
    <p:extLst>
      <p:ext uri="{BB962C8B-B14F-4D97-AF65-F5344CB8AC3E}">
        <p14:creationId xmlns:p14="http://schemas.microsoft.com/office/powerpoint/2010/main" val="342178084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7" name="Rectangle 6"/>
          <p:cNvSpPr/>
          <p:nvPr userDrawn="1"/>
        </p:nvSpPr>
        <p:spPr bwMode="blackWhite">
          <a:xfrm>
            <a:off x="254950" y="262784"/>
            <a:ext cx="11682101" cy="6332433"/>
          </a:xfrm>
          <a:prstGeom prst="rect">
            <a:avLst/>
          </a:prstGeom>
          <a:solidFill>
            <a:srgbClr val="D247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p>
        </p:txBody>
      </p:sp>
      <p:sp>
        <p:nvSpPr>
          <p:cNvPr id="2" name="Title 1"/>
          <p:cNvSpPr>
            <a:spLocks noGrp="1"/>
          </p:cNvSpPr>
          <p:nvPr>
            <p:ph type="title"/>
          </p:nvPr>
        </p:nvSpPr>
        <p:spPr/>
        <p:txBody>
          <a:bodyPr/>
          <a:lstStyle/>
          <a:p>
            <a:r>
              <a:rPr lang="en-US"/>
              <a:t>Click to edit Master title style</a:t>
            </a:r>
            <a:endParaRPr lang="en-US" dirty="0"/>
          </a:p>
        </p:txBody>
      </p:sp>
    </p:spTree>
    <p:extLst>
      <p:ext uri="{BB962C8B-B14F-4D97-AF65-F5344CB8AC3E}">
        <p14:creationId xmlns:p14="http://schemas.microsoft.com/office/powerpoint/2010/main" val="171854949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9" name="Rectangle 8"/>
          <p:cNvSpPr/>
          <p:nvPr userDrawn="1"/>
        </p:nvSpPr>
        <p:spPr>
          <a:xfrm>
            <a:off x="256032" y="265176"/>
            <a:ext cx="11683049" cy="6332433"/>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b" anchorCtr="0"/>
          <a:lstStyle/>
          <a:p>
            <a:pPr algn="ctr"/>
            <a:endParaRPr lang="en-US" sz="1800" dirty="0"/>
          </a:p>
        </p:txBody>
      </p:sp>
      <p:cxnSp>
        <p:nvCxnSpPr>
          <p:cNvPr id="12" name="Straight Connector 11"/>
          <p:cNvCxnSpPr/>
          <p:nvPr userDrawn="1"/>
        </p:nvCxnSpPr>
        <p:spPr>
          <a:xfrm>
            <a:off x="604434" y="1196392"/>
            <a:ext cx="10983132" cy="0"/>
          </a:xfrm>
          <a:prstGeom prst="line">
            <a:avLst/>
          </a:prstGeom>
          <a:ln w="25400">
            <a:solidFill>
              <a:srgbClr val="D24726"/>
            </a:solidFill>
          </a:ln>
        </p:spPr>
        <p:style>
          <a:lnRef idx="1">
            <a:schemeClr val="accent1"/>
          </a:lnRef>
          <a:fillRef idx="0">
            <a:schemeClr val="accent1"/>
          </a:fillRef>
          <a:effectRef idx="0">
            <a:schemeClr val="accent1"/>
          </a:effectRef>
          <a:fontRef idx="minor">
            <a:schemeClr val="tx1"/>
          </a:fontRef>
        </p:style>
      </p:cxnSp>
      <p:sp>
        <p:nvSpPr>
          <p:cNvPr id="4" name="Title 3"/>
          <p:cNvSpPr>
            <a:spLocks noGrp="1"/>
          </p:cNvSpPr>
          <p:nvPr>
            <p:ph type="title"/>
          </p:nvPr>
        </p:nvSpPr>
        <p:spPr>
          <a:xfrm>
            <a:off x="521207" y="448056"/>
            <a:ext cx="6877119" cy="640080"/>
          </a:xfrm>
        </p:spPr>
        <p:txBody>
          <a:bodyPr anchor="b" anchorCtr="0">
            <a:normAutofit/>
          </a:bodyPr>
          <a:lstStyle>
            <a:lvl1pPr>
              <a:defRPr sz="2800">
                <a:solidFill>
                  <a:schemeClr val="bg2">
                    <a:lumMod val="25000"/>
                  </a:schemeClr>
                </a:solidFill>
              </a:defRPr>
            </a:lvl1pPr>
          </a:lstStyle>
          <a:p>
            <a:r>
              <a:rPr lang="en-US"/>
              <a:t>Click to edit Master title style</a:t>
            </a:r>
            <a:endParaRPr lang="en-US" dirty="0"/>
          </a:p>
        </p:txBody>
      </p:sp>
      <p:sp>
        <p:nvSpPr>
          <p:cNvPr id="3" name="Content Placeholder 2"/>
          <p:cNvSpPr>
            <a:spLocks noGrp="1"/>
          </p:cNvSpPr>
          <p:nvPr>
            <p:ph sz="quarter" idx="10"/>
          </p:nvPr>
        </p:nvSpPr>
        <p:spPr>
          <a:xfrm>
            <a:off x="539496" y="1435608"/>
            <a:ext cx="4416552" cy="3977640"/>
          </a:xfrm>
        </p:spPr>
        <p:txBody>
          <a:bodyPr vert="horz" lIns="91440" tIns="45720" rIns="91440" bIns="45720" rtlCol="0">
            <a:normAutofit/>
          </a:bodyPr>
          <a:lstStyle>
            <a:lvl1pPr>
              <a:defRPr lang="en-US" sz="1200" smtClean="0">
                <a:solidFill>
                  <a:schemeClr val="tx1">
                    <a:lumMod val="75000"/>
                    <a:lumOff val="25000"/>
                  </a:schemeClr>
                </a:solidFill>
              </a:defRPr>
            </a:lvl1pPr>
            <a:lvl2pPr>
              <a:defRPr lang="en-US" sz="1200" smtClean="0">
                <a:solidFill>
                  <a:schemeClr val="tx1">
                    <a:lumMod val="75000"/>
                    <a:lumOff val="25000"/>
                  </a:schemeClr>
                </a:solidFill>
              </a:defRPr>
            </a:lvl2pPr>
            <a:lvl3pPr>
              <a:defRPr lang="en-US" sz="1200" smtClean="0">
                <a:solidFill>
                  <a:schemeClr val="tx1">
                    <a:lumMod val="75000"/>
                    <a:lumOff val="25000"/>
                  </a:schemeClr>
                </a:solidFill>
              </a:defRPr>
            </a:lvl3pPr>
            <a:lvl4pPr>
              <a:defRPr lang="en-US" sz="1200" smtClean="0">
                <a:solidFill>
                  <a:schemeClr val="tx1">
                    <a:lumMod val="75000"/>
                    <a:lumOff val="25000"/>
                  </a:schemeClr>
                </a:solidFill>
              </a:defRPr>
            </a:lvl4pPr>
            <a:lvl5pPr>
              <a:defRPr lang="en-US" sz="1200">
                <a:solidFill>
                  <a:schemeClr val="tx1">
                    <a:lumMod val="75000"/>
                    <a:lumOff val="25000"/>
                  </a:schemeClr>
                </a:solidFill>
              </a:defRPr>
            </a:lvl5pPr>
          </a:lstStyle>
          <a:p>
            <a:pPr marL="0" lvl="0" indent="0">
              <a:lnSpc>
                <a:spcPct val="150000"/>
              </a:lnSpc>
              <a:spcBef>
                <a:spcPts val="1000"/>
              </a:spcBef>
              <a:spcAft>
                <a:spcPts val="1200"/>
              </a:spcAft>
              <a:buNone/>
            </a:pPr>
            <a:r>
              <a:rPr lang="en-US"/>
              <a:t>Click to edit Master text styles</a:t>
            </a:r>
          </a:p>
          <a:p>
            <a:pPr marL="0" lvl="1" indent="0">
              <a:lnSpc>
                <a:spcPct val="150000"/>
              </a:lnSpc>
              <a:spcBef>
                <a:spcPts val="1000"/>
              </a:spcBef>
              <a:spcAft>
                <a:spcPts val="1200"/>
              </a:spcAft>
              <a:buNone/>
            </a:pPr>
            <a:r>
              <a:rPr lang="en-US"/>
              <a:t>Second level</a:t>
            </a:r>
          </a:p>
          <a:p>
            <a:pPr marL="0" lvl="2" indent="0">
              <a:lnSpc>
                <a:spcPct val="150000"/>
              </a:lnSpc>
              <a:spcBef>
                <a:spcPts val="1000"/>
              </a:spcBef>
              <a:spcAft>
                <a:spcPts val="1200"/>
              </a:spcAft>
              <a:buNone/>
            </a:pPr>
            <a:r>
              <a:rPr lang="en-US"/>
              <a:t>Third level</a:t>
            </a:r>
          </a:p>
          <a:p>
            <a:pPr marL="0" lvl="3" indent="0">
              <a:lnSpc>
                <a:spcPct val="150000"/>
              </a:lnSpc>
              <a:spcBef>
                <a:spcPts val="1000"/>
              </a:spcBef>
              <a:spcAft>
                <a:spcPts val="1200"/>
              </a:spcAft>
              <a:buNone/>
            </a:pPr>
            <a:r>
              <a:rPr lang="en-US"/>
              <a:t>Fourth level</a:t>
            </a:r>
          </a:p>
          <a:p>
            <a:pPr marL="0" lvl="4" indent="0">
              <a:lnSpc>
                <a:spcPct val="150000"/>
              </a:lnSpc>
              <a:spcBef>
                <a:spcPts val="1000"/>
              </a:spcBef>
              <a:spcAft>
                <a:spcPts val="1200"/>
              </a:spcAft>
              <a:buNone/>
            </a:pPr>
            <a:r>
              <a:rPr lang="en-US"/>
              <a:t>Fifth level</a:t>
            </a:r>
            <a:endParaRPr lang="en-US" dirty="0"/>
          </a:p>
        </p:txBody>
      </p:sp>
      <p:sp>
        <p:nvSpPr>
          <p:cNvPr id="6" name="Date Placeholder 3"/>
          <p:cNvSpPr>
            <a:spLocks noGrp="1"/>
          </p:cNvSpPr>
          <p:nvPr>
            <p:ph type="dt" sz="half" idx="2"/>
          </p:nvPr>
        </p:nvSpPr>
        <p:spPr>
          <a:xfrm>
            <a:off x="539496" y="6203952"/>
            <a:ext cx="3276600" cy="365125"/>
          </a:xfrm>
          <a:prstGeom prst="rect">
            <a:avLst/>
          </a:prstGeom>
        </p:spPr>
        <p:txBody>
          <a:bodyPr vert="horz" lIns="91440" tIns="45720" rIns="91440" bIns="45720" rtlCol="0" anchor="ctr"/>
          <a:lstStyle>
            <a:lvl1pPr algn="l">
              <a:defRPr sz="1200" baseline="0">
                <a:solidFill>
                  <a:schemeClr val="tx1">
                    <a:lumMod val="65000"/>
                    <a:lumOff val="35000"/>
                  </a:schemeClr>
                </a:solidFill>
              </a:defRPr>
            </a:lvl1pPr>
          </a:lstStyle>
          <a:p>
            <a:fld id="{8BEEBAAA-29B5-4AF5-BC5F-7E580C29002D}" type="datetimeFigureOut">
              <a:rPr lang="en-US" smtClean="0"/>
              <a:pPr/>
              <a:t>6/21/2026</a:t>
            </a:fld>
            <a:endParaRPr lang="en-US" dirty="0"/>
          </a:p>
        </p:txBody>
      </p:sp>
      <p:sp>
        <p:nvSpPr>
          <p:cNvPr id="7" name="Footer Placeholder 4"/>
          <p:cNvSpPr>
            <a:spLocks noGrp="1"/>
          </p:cNvSpPr>
          <p:nvPr>
            <p:ph type="ftr" sz="quarter" idx="3"/>
          </p:nvPr>
        </p:nvSpPr>
        <p:spPr>
          <a:xfrm>
            <a:off x="4648200" y="6203952"/>
            <a:ext cx="2895600" cy="365125"/>
          </a:xfrm>
          <a:prstGeom prst="rect">
            <a:avLst/>
          </a:prstGeom>
        </p:spPr>
        <p:txBody>
          <a:bodyPr vert="horz" lIns="91440" tIns="45720" rIns="91440" bIns="45720" rtlCol="0" anchor="ctr"/>
          <a:lstStyle>
            <a:lvl1pPr algn="ctr">
              <a:defRPr sz="1200" baseline="0">
                <a:solidFill>
                  <a:schemeClr val="tx1">
                    <a:lumMod val="65000"/>
                    <a:lumOff val="35000"/>
                  </a:schemeClr>
                </a:solidFill>
              </a:defRPr>
            </a:lvl1pPr>
          </a:lstStyle>
          <a:p>
            <a:endParaRPr lang="en-US" dirty="0"/>
          </a:p>
        </p:txBody>
      </p:sp>
      <p:sp>
        <p:nvSpPr>
          <p:cNvPr id="8" name="Slide Number Placeholder 5"/>
          <p:cNvSpPr>
            <a:spLocks noGrp="1"/>
          </p:cNvSpPr>
          <p:nvPr>
            <p:ph type="sldNum" sz="quarter" idx="4"/>
          </p:nvPr>
        </p:nvSpPr>
        <p:spPr>
          <a:xfrm>
            <a:off x="8371926" y="6203952"/>
            <a:ext cx="3276600" cy="365125"/>
          </a:xfrm>
          <a:prstGeom prst="rect">
            <a:avLst/>
          </a:prstGeom>
        </p:spPr>
        <p:txBody>
          <a:bodyPr vert="horz" lIns="91440" tIns="45720" rIns="91440" bIns="45720" rtlCol="0" anchor="ctr"/>
          <a:lstStyle>
            <a:lvl1pPr algn="r">
              <a:defRPr sz="1200" baseline="0">
                <a:solidFill>
                  <a:schemeClr val="tx1">
                    <a:lumMod val="65000"/>
                    <a:lumOff val="35000"/>
                  </a:schemeClr>
                </a:solidFill>
              </a:defRPr>
            </a:lvl1pPr>
          </a:lstStyle>
          <a:p>
            <a:fld id="{9860EDB8-5305-433F-BE41-D7A86D811DB3}" type="slidenum">
              <a:rPr lang="en-US" smtClean="0"/>
              <a:pPr/>
              <a:t>‹#›</a:t>
            </a:fld>
            <a:endParaRPr lang="en-US" dirty="0"/>
          </a:p>
        </p:txBody>
      </p:sp>
    </p:spTree>
    <p:extLst>
      <p:ext uri="{BB962C8B-B14F-4D97-AF65-F5344CB8AC3E}">
        <p14:creationId xmlns:p14="http://schemas.microsoft.com/office/powerpoint/2010/main" val="218583654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9" name="Rectangle 8"/>
          <p:cNvSpPr/>
          <p:nvPr userDrawn="1"/>
        </p:nvSpPr>
        <p:spPr>
          <a:xfrm>
            <a:off x="254951" y="262784"/>
            <a:ext cx="11683049" cy="6332433"/>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p>
        </p:txBody>
      </p:sp>
      <p:sp>
        <p:nvSpPr>
          <p:cNvPr id="10" name="Rectangle 9"/>
          <p:cNvSpPr/>
          <p:nvPr userDrawn="1"/>
        </p:nvSpPr>
        <p:spPr bwMode="blackWhite">
          <a:xfrm>
            <a:off x="254950" y="262784"/>
            <a:ext cx="11682101" cy="2072643"/>
          </a:xfrm>
          <a:prstGeom prst="rect">
            <a:avLst/>
          </a:prstGeom>
          <a:solidFill>
            <a:srgbClr val="D247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p>
        </p:txBody>
      </p:sp>
      <p:sp>
        <p:nvSpPr>
          <p:cNvPr id="2" name="Title 1"/>
          <p:cNvSpPr>
            <a:spLocks noGrp="1"/>
          </p:cNvSpPr>
          <p:nvPr>
            <p:ph type="title"/>
          </p:nvPr>
        </p:nvSpPr>
        <p:spPr>
          <a:xfrm>
            <a:off x="521208" y="1536192"/>
            <a:ext cx="6876288" cy="640080"/>
          </a:xfrm>
        </p:spPr>
        <p:txBody>
          <a:bodyPr>
            <a:normAutofit/>
          </a:bodyPr>
          <a:lstStyle>
            <a:lvl1pPr>
              <a:defRPr sz="3600">
                <a:solidFill>
                  <a:schemeClr val="bg1"/>
                </a:solidFill>
              </a:defRPr>
            </a:lvl1pPr>
          </a:lstStyle>
          <a:p>
            <a:r>
              <a:rPr lang="en-US"/>
              <a:t>Click to edit Master title style</a:t>
            </a:r>
            <a:endParaRPr lang="en-US" dirty="0"/>
          </a:p>
        </p:txBody>
      </p:sp>
      <p:sp>
        <p:nvSpPr>
          <p:cNvPr id="7" name="Content Placeholder 6"/>
          <p:cNvSpPr>
            <a:spLocks noGrp="1"/>
          </p:cNvSpPr>
          <p:nvPr>
            <p:ph sz="quarter" idx="13"/>
          </p:nvPr>
        </p:nvSpPr>
        <p:spPr>
          <a:xfrm>
            <a:off x="539496" y="2560320"/>
            <a:ext cx="9445752" cy="3977640"/>
          </a:xfrm>
        </p:spPr>
        <p:txBody>
          <a:bodyPr vert="horz" lIns="91440" tIns="45720" rIns="91440" bIns="45720" rtlCol="0">
            <a:normAutofit/>
          </a:bodyPr>
          <a:lstStyle>
            <a:lvl1pPr>
              <a:defRPr lang="en-US" sz="2400" smtClean="0">
                <a:solidFill>
                  <a:schemeClr val="tx1">
                    <a:lumMod val="75000"/>
                    <a:lumOff val="25000"/>
                  </a:schemeClr>
                </a:solidFill>
                <a:latin typeface="+mj-lt"/>
              </a:defRPr>
            </a:lvl1pPr>
            <a:lvl2pPr>
              <a:defRPr lang="en-US" sz="1200" dirty="0" smtClean="0">
                <a:solidFill>
                  <a:schemeClr val="tx1">
                    <a:lumMod val="75000"/>
                    <a:lumOff val="25000"/>
                  </a:schemeClr>
                </a:solidFill>
              </a:defRPr>
            </a:lvl2pPr>
            <a:lvl3pPr>
              <a:defRPr lang="en-US" sz="1200" dirty="0" smtClean="0">
                <a:solidFill>
                  <a:schemeClr val="tx1">
                    <a:lumMod val="75000"/>
                    <a:lumOff val="25000"/>
                  </a:schemeClr>
                </a:solidFill>
              </a:defRPr>
            </a:lvl3pPr>
            <a:lvl4pPr>
              <a:defRPr lang="en-US" sz="1200" dirty="0" smtClean="0">
                <a:solidFill>
                  <a:schemeClr val="tx1">
                    <a:lumMod val="75000"/>
                    <a:lumOff val="25000"/>
                  </a:schemeClr>
                </a:solidFill>
              </a:defRPr>
            </a:lvl4pPr>
            <a:lvl5pPr>
              <a:defRPr lang="en-US" sz="1200" dirty="0">
                <a:solidFill>
                  <a:schemeClr val="tx1">
                    <a:lumMod val="75000"/>
                    <a:lumOff val="25000"/>
                  </a:schemeClr>
                </a:solidFill>
              </a:defRPr>
            </a:lvl5pPr>
          </a:lstStyle>
          <a:p>
            <a:pPr marL="0" lvl="0" indent="0">
              <a:lnSpc>
                <a:spcPct val="150000"/>
              </a:lnSpc>
              <a:spcBef>
                <a:spcPts val="1000"/>
              </a:spcBef>
              <a:spcAft>
                <a:spcPts val="1200"/>
              </a:spcAft>
              <a:buNone/>
            </a:pPr>
            <a:r>
              <a:rPr lang="en-US"/>
              <a:t>Click to edit Master text styles</a:t>
            </a:r>
          </a:p>
          <a:p>
            <a:pPr marL="0" lvl="1" indent="0">
              <a:lnSpc>
                <a:spcPct val="150000"/>
              </a:lnSpc>
              <a:spcBef>
                <a:spcPts val="1000"/>
              </a:spcBef>
              <a:spcAft>
                <a:spcPts val="1200"/>
              </a:spcAft>
              <a:buNone/>
            </a:pPr>
            <a:r>
              <a:rPr lang="en-US"/>
              <a:t>Second level</a:t>
            </a:r>
          </a:p>
          <a:p>
            <a:pPr marL="0" lvl="2" indent="0">
              <a:lnSpc>
                <a:spcPct val="150000"/>
              </a:lnSpc>
              <a:spcBef>
                <a:spcPts val="1000"/>
              </a:spcBef>
              <a:spcAft>
                <a:spcPts val="1200"/>
              </a:spcAft>
              <a:buNone/>
            </a:pPr>
            <a:r>
              <a:rPr lang="en-US"/>
              <a:t>Third level</a:t>
            </a:r>
          </a:p>
          <a:p>
            <a:pPr marL="0" lvl="3" indent="0">
              <a:lnSpc>
                <a:spcPct val="150000"/>
              </a:lnSpc>
              <a:spcBef>
                <a:spcPts val="1000"/>
              </a:spcBef>
              <a:spcAft>
                <a:spcPts val="1200"/>
              </a:spcAft>
              <a:buNone/>
            </a:pPr>
            <a:r>
              <a:rPr lang="en-US"/>
              <a:t>Fourth level</a:t>
            </a:r>
          </a:p>
          <a:p>
            <a:pPr marL="0" lvl="4" indent="0">
              <a:lnSpc>
                <a:spcPct val="150000"/>
              </a:lnSpc>
              <a:spcBef>
                <a:spcPts val="1000"/>
              </a:spcBef>
              <a:spcAft>
                <a:spcPts val="1200"/>
              </a:spcAft>
              <a:buNone/>
            </a:pPr>
            <a:r>
              <a:rPr lang="en-US"/>
              <a:t>Fifth level</a:t>
            </a:r>
            <a:endParaRPr lang="en-US" dirty="0"/>
          </a:p>
        </p:txBody>
      </p:sp>
    </p:spTree>
    <p:extLst>
      <p:ext uri="{BB962C8B-B14F-4D97-AF65-F5344CB8AC3E}">
        <p14:creationId xmlns:p14="http://schemas.microsoft.com/office/powerpoint/2010/main" val="1335655537"/>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userDrawn="1"/>
        </p:nvSpPr>
        <p:spPr>
          <a:xfrm>
            <a:off x="256032" y="265176"/>
            <a:ext cx="11683049" cy="6332433"/>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b" anchorCtr="0"/>
          <a:lstStyle/>
          <a:p>
            <a:pPr algn="ctr"/>
            <a:endParaRPr lang="en-US" sz="1800" dirty="0"/>
          </a:p>
        </p:txBody>
      </p:sp>
      <p:sp>
        <p:nvSpPr>
          <p:cNvPr id="2" name="Title Placeholder 1"/>
          <p:cNvSpPr>
            <a:spLocks noGrp="1"/>
          </p:cNvSpPr>
          <p:nvPr>
            <p:ph type="title"/>
          </p:nvPr>
        </p:nvSpPr>
        <p:spPr>
          <a:xfrm>
            <a:off x="521208" y="448056"/>
            <a:ext cx="6876288" cy="640080"/>
          </a:xfrm>
          <a:prstGeom prst="rect">
            <a:avLst/>
          </a:prstGeom>
        </p:spPr>
        <p:txBody>
          <a:bodyPr vert="horz" lIns="91440" tIns="45720" rIns="91440" bIns="45720" rtlCol="0" anchor="b" anchorCtr="0">
            <a:normAutofit/>
          </a:bodyPr>
          <a:lstStyle/>
          <a:p>
            <a:r>
              <a:rPr lang="en-US"/>
              <a:t>Click to edit Master title style</a:t>
            </a:r>
            <a:endParaRPr lang="en-US" dirty="0"/>
          </a:p>
        </p:txBody>
      </p:sp>
      <p:sp>
        <p:nvSpPr>
          <p:cNvPr id="3" name="Text Placeholder 2"/>
          <p:cNvSpPr>
            <a:spLocks noGrp="1"/>
          </p:cNvSpPr>
          <p:nvPr>
            <p:ph type="body" idx="1"/>
          </p:nvPr>
        </p:nvSpPr>
        <p:spPr>
          <a:xfrm>
            <a:off x="539496" y="1435608"/>
            <a:ext cx="4416552" cy="397764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539496" y="6203952"/>
            <a:ext cx="3276600" cy="365125"/>
          </a:xfrm>
          <a:prstGeom prst="rect">
            <a:avLst/>
          </a:prstGeom>
        </p:spPr>
        <p:txBody>
          <a:bodyPr vert="horz" lIns="91440" tIns="45720" rIns="91440" bIns="45720" rtlCol="0" anchor="ctr"/>
          <a:lstStyle>
            <a:lvl1pPr algn="l">
              <a:defRPr sz="1200" baseline="0">
                <a:solidFill>
                  <a:schemeClr val="tx1">
                    <a:lumMod val="65000"/>
                    <a:lumOff val="35000"/>
                  </a:schemeClr>
                </a:solidFill>
              </a:defRPr>
            </a:lvl1pPr>
          </a:lstStyle>
          <a:p>
            <a:fld id="{8BEEBAAA-29B5-4AF5-BC5F-7E580C29002D}" type="datetimeFigureOut">
              <a:rPr lang="en-US" smtClean="0"/>
              <a:pPr/>
              <a:t>6/21/2026</a:t>
            </a:fld>
            <a:endParaRPr lang="en-US" dirty="0"/>
          </a:p>
        </p:txBody>
      </p:sp>
      <p:sp>
        <p:nvSpPr>
          <p:cNvPr id="5" name="Footer Placeholder 4"/>
          <p:cNvSpPr>
            <a:spLocks noGrp="1"/>
          </p:cNvSpPr>
          <p:nvPr>
            <p:ph type="ftr" sz="quarter" idx="3"/>
          </p:nvPr>
        </p:nvSpPr>
        <p:spPr>
          <a:xfrm>
            <a:off x="4648200" y="6203952"/>
            <a:ext cx="2895600" cy="365125"/>
          </a:xfrm>
          <a:prstGeom prst="rect">
            <a:avLst/>
          </a:prstGeom>
        </p:spPr>
        <p:txBody>
          <a:bodyPr vert="horz" lIns="91440" tIns="45720" rIns="91440" bIns="45720" rtlCol="0" anchor="ctr"/>
          <a:lstStyle>
            <a:lvl1pPr algn="ctr">
              <a:defRPr sz="1200" baseline="0">
                <a:solidFill>
                  <a:schemeClr val="tx1">
                    <a:lumMod val="65000"/>
                    <a:lumOff val="35000"/>
                  </a:schemeClr>
                </a:solidFill>
              </a:defRPr>
            </a:lvl1pPr>
          </a:lstStyle>
          <a:p>
            <a:endParaRPr lang="en-US" dirty="0"/>
          </a:p>
        </p:txBody>
      </p:sp>
      <p:sp>
        <p:nvSpPr>
          <p:cNvPr id="6" name="Slide Number Placeholder 5"/>
          <p:cNvSpPr>
            <a:spLocks noGrp="1"/>
          </p:cNvSpPr>
          <p:nvPr>
            <p:ph type="sldNum" sz="quarter" idx="4"/>
          </p:nvPr>
        </p:nvSpPr>
        <p:spPr>
          <a:xfrm>
            <a:off x="8375904" y="6203952"/>
            <a:ext cx="3276600" cy="365125"/>
          </a:xfrm>
          <a:prstGeom prst="rect">
            <a:avLst/>
          </a:prstGeom>
        </p:spPr>
        <p:txBody>
          <a:bodyPr vert="horz" lIns="91440" tIns="45720" rIns="91440" bIns="45720" rtlCol="0" anchor="ctr"/>
          <a:lstStyle>
            <a:lvl1pPr algn="r">
              <a:defRPr sz="1200" baseline="0">
                <a:solidFill>
                  <a:schemeClr val="tx1">
                    <a:lumMod val="65000"/>
                    <a:lumOff val="35000"/>
                  </a:schemeClr>
                </a:solidFill>
              </a:defRPr>
            </a:lvl1pPr>
          </a:lstStyle>
          <a:p>
            <a:fld id="{9860EDB8-5305-433F-BE41-D7A86D811DB3}" type="slidenum">
              <a:rPr lang="en-US" smtClean="0"/>
              <a:pPr/>
              <a:t>‹#›</a:t>
            </a:fld>
            <a:endParaRPr lang="en-US" dirty="0"/>
          </a:p>
        </p:txBody>
      </p:sp>
      <p:cxnSp>
        <p:nvCxnSpPr>
          <p:cNvPr id="8" name="Straight Connector 7"/>
          <p:cNvCxnSpPr/>
          <p:nvPr userDrawn="1"/>
        </p:nvCxnSpPr>
        <p:spPr>
          <a:xfrm>
            <a:off x="604434" y="1196392"/>
            <a:ext cx="10983132" cy="0"/>
          </a:xfrm>
          <a:prstGeom prst="line">
            <a:avLst/>
          </a:prstGeom>
          <a:ln w="25400">
            <a:solidFill>
              <a:srgbClr val="D24726"/>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4675494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Lst>
  <p:txStyles>
    <p:titleStyle>
      <a:lvl1pPr algn="l" defTabSz="914400" rtl="0" eaLnBrk="1" latinLnBrk="0" hangingPunct="1">
        <a:spcBef>
          <a:spcPct val="0"/>
        </a:spcBef>
        <a:buNone/>
        <a:defRPr sz="2800" kern="1200">
          <a:solidFill>
            <a:schemeClr val="tx1"/>
          </a:solidFill>
          <a:latin typeface="+mj-lt"/>
          <a:ea typeface="+mj-ea"/>
          <a:cs typeface="+mj-cs"/>
        </a:defRPr>
      </a:lvl1pPr>
    </p:titleStyle>
    <p:bodyStyle>
      <a:lvl1pPr marL="0" indent="0" algn="l" defTabSz="914400" rtl="0" eaLnBrk="1" latinLnBrk="0" hangingPunct="1">
        <a:lnSpc>
          <a:spcPct val="150000"/>
        </a:lnSpc>
        <a:spcBef>
          <a:spcPts val="1000"/>
        </a:spcBef>
        <a:spcAft>
          <a:spcPts val="1200"/>
        </a:spcAft>
        <a:buFontTx/>
        <a:buNone/>
        <a:defRPr lang="en-US" sz="1200" kern="1200" dirty="0">
          <a:solidFill>
            <a:schemeClr val="tx1"/>
          </a:solidFill>
          <a:latin typeface="+mn-lt"/>
          <a:ea typeface="+mn-ea"/>
          <a:cs typeface="+mn-cs"/>
        </a:defRPr>
      </a:lvl1pPr>
      <a:lvl2pPr marL="228600" indent="-228600" algn="l" defTabSz="914400" rtl="0" eaLnBrk="1" latinLnBrk="0" hangingPunct="1">
        <a:lnSpc>
          <a:spcPct val="150000"/>
        </a:lnSpc>
        <a:spcBef>
          <a:spcPts val="1000"/>
        </a:spcBef>
        <a:spcAft>
          <a:spcPts val="1200"/>
        </a:spcAft>
        <a:buFont typeface="Arial" panose="020B0604020202020204" pitchFamily="34" charset="0"/>
        <a:buChar char="•"/>
        <a:defRPr lang="en-US" sz="1200" kern="1200" dirty="0">
          <a:solidFill>
            <a:schemeClr val="tx1"/>
          </a:solidFill>
          <a:latin typeface="+mn-lt"/>
          <a:ea typeface="+mn-ea"/>
          <a:cs typeface="+mn-cs"/>
        </a:defRPr>
      </a:lvl2pPr>
      <a:lvl3pPr marL="685800" indent="-228600" algn="l" defTabSz="914400" rtl="0" eaLnBrk="1" latinLnBrk="0" hangingPunct="1">
        <a:lnSpc>
          <a:spcPct val="150000"/>
        </a:lnSpc>
        <a:spcBef>
          <a:spcPts val="1000"/>
        </a:spcBef>
        <a:spcAft>
          <a:spcPts val="1200"/>
        </a:spcAft>
        <a:buFont typeface="Arial" panose="020B0604020202020204" pitchFamily="34" charset="0"/>
        <a:buChar char="•"/>
        <a:defRPr lang="en-US" sz="1200" kern="1200" dirty="0">
          <a:solidFill>
            <a:schemeClr val="tx1"/>
          </a:solidFill>
          <a:latin typeface="+mn-lt"/>
          <a:ea typeface="+mn-ea"/>
          <a:cs typeface="+mn-cs"/>
        </a:defRPr>
      </a:lvl3pPr>
      <a:lvl4pPr marL="1143000" indent="-228600" algn="l" defTabSz="914400" rtl="0" eaLnBrk="1" latinLnBrk="0" hangingPunct="1">
        <a:lnSpc>
          <a:spcPct val="150000"/>
        </a:lnSpc>
        <a:spcBef>
          <a:spcPts val="1000"/>
        </a:spcBef>
        <a:spcAft>
          <a:spcPts val="1200"/>
        </a:spcAft>
        <a:buFont typeface="Arial" panose="020B0604020202020204" pitchFamily="34" charset="0"/>
        <a:buChar char="•"/>
        <a:defRPr lang="en-US" sz="1200" kern="1200" dirty="0" smtClean="0">
          <a:solidFill>
            <a:schemeClr val="tx1"/>
          </a:solidFill>
          <a:latin typeface="+mn-lt"/>
          <a:ea typeface="+mn-ea"/>
          <a:cs typeface="+mn-cs"/>
        </a:defRPr>
      </a:lvl4pPr>
      <a:lvl5pPr marL="1600200" indent="-228600" algn="l" defTabSz="914400" rtl="0" eaLnBrk="1" latinLnBrk="0" hangingPunct="1">
        <a:lnSpc>
          <a:spcPct val="150000"/>
        </a:lnSpc>
        <a:spcBef>
          <a:spcPts val="1000"/>
        </a:spcBef>
        <a:spcAft>
          <a:spcPts val="1200"/>
        </a:spcAft>
        <a:buFont typeface="Arial" panose="020B0604020202020204" pitchFamily="34" charset="0"/>
        <a:buChar char="•"/>
        <a:defRPr lang="en-US" sz="1200" kern="1200" dirty="0" smtClean="0">
          <a:solidFill>
            <a:schemeClr val="tx1"/>
          </a:solidFill>
          <a:latin typeface="+mn-lt"/>
          <a:ea typeface="+mn-ea"/>
          <a:cs typeface="+mn-cs"/>
        </a:defRPr>
      </a:lvl5pPr>
      <a:lvl6pPr marL="2057400" indent="-228600" algn="l" defTabSz="914400" rtl="0" eaLnBrk="1" latinLnBrk="0" hangingPunct="1">
        <a:lnSpc>
          <a:spcPct val="150000"/>
        </a:lnSpc>
        <a:spcBef>
          <a:spcPts val="1000"/>
        </a:spcBef>
        <a:spcAft>
          <a:spcPts val="1200"/>
        </a:spcAft>
        <a:buFont typeface="Arial" panose="020B0604020202020204" pitchFamily="34" charset="0"/>
        <a:buChar char="•"/>
        <a:defRPr lang="en-US" sz="1200" kern="1200" dirty="0" smtClean="0">
          <a:solidFill>
            <a:schemeClr val="tx1"/>
          </a:solidFill>
          <a:latin typeface="+mn-lt"/>
          <a:ea typeface="+mn-ea"/>
          <a:cs typeface="+mn-cs"/>
        </a:defRPr>
      </a:lvl6pPr>
      <a:lvl7pPr marL="2514600" indent="-228600" algn="l" defTabSz="914400" rtl="0" eaLnBrk="1" latinLnBrk="0" hangingPunct="1">
        <a:lnSpc>
          <a:spcPct val="150000"/>
        </a:lnSpc>
        <a:spcBef>
          <a:spcPts val="1000"/>
        </a:spcBef>
        <a:spcAft>
          <a:spcPts val="1200"/>
        </a:spcAft>
        <a:buFont typeface="Arial" panose="020B0604020202020204" pitchFamily="34" charset="0"/>
        <a:buChar char="•"/>
        <a:defRPr lang="en-US" sz="1200" kern="1200" dirty="0" smtClean="0">
          <a:solidFill>
            <a:schemeClr val="tx1"/>
          </a:solidFill>
          <a:latin typeface="+mn-lt"/>
          <a:ea typeface="+mn-ea"/>
          <a:cs typeface="+mn-cs"/>
        </a:defRPr>
      </a:lvl7pPr>
      <a:lvl8pPr marL="2971800" indent="-228600" algn="l" defTabSz="914400" rtl="0" eaLnBrk="1" latinLnBrk="0" hangingPunct="1">
        <a:lnSpc>
          <a:spcPct val="150000"/>
        </a:lnSpc>
        <a:spcBef>
          <a:spcPts val="1000"/>
        </a:spcBef>
        <a:spcAft>
          <a:spcPts val="1200"/>
        </a:spcAft>
        <a:buFont typeface="Arial" panose="020B0604020202020204" pitchFamily="34" charset="0"/>
        <a:buChar char="•"/>
        <a:defRPr lang="en-US" sz="1200" kern="1200" dirty="0" smtClean="0">
          <a:solidFill>
            <a:schemeClr val="tx1"/>
          </a:solidFill>
          <a:latin typeface="+mn-lt"/>
          <a:ea typeface="+mn-ea"/>
          <a:cs typeface="+mn-cs"/>
        </a:defRPr>
      </a:lvl8pPr>
      <a:lvl9pPr marL="3429000" indent="-228600" algn="l" defTabSz="914400" rtl="0" eaLnBrk="1" latinLnBrk="0" hangingPunct="1">
        <a:lnSpc>
          <a:spcPct val="90000"/>
        </a:lnSpc>
        <a:spcBef>
          <a:spcPct val="30000"/>
        </a:spcBef>
        <a:buFont typeface="Arial" panose="020B0604020202020204" pitchFamily="34" charset="0"/>
        <a:buNone/>
        <a:defRPr sz="12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webp"/><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838200" y="1164324"/>
            <a:ext cx="10515600" cy="2513154"/>
          </a:xfrm>
        </p:spPr>
        <p:txBody>
          <a:bodyPr anchor="t" anchorCtr="0">
            <a:normAutofit/>
          </a:bodyPr>
          <a:lstStyle/>
          <a:p>
            <a:r>
              <a:rPr lang="en-US" sz="4000" b="1" u="sng" dirty="0" err="1">
                <a:solidFill>
                  <a:schemeClr val="bg1"/>
                </a:solidFill>
              </a:rPr>
              <a:t>Quantative</a:t>
            </a:r>
            <a:r>
              <a:rPr lang="en-US" sz="4000" b="1" u="sng" dirty="0">
                <a:solidFill>
                  <a:schemeClr val="bg1"/>
                </a:solidFill>
              </a:rPr>
              <a:t> Simulation (</a:t>
            </a:r>
            <a:r>
              <a:rPr lang="en-US" sz="4000" b="1" u="sng" dirty="0" err="1">
                <a:solidFill>
                  <a:schemeClr val="bg1"/>
                </a:solidFill>
              </a:rPr>
              <a:t>QuantSim</a:t>
            </a:r>
            <a:r>
              <a:rPr lang="en-US" sz="4000" b="1" u="sng" dirty="0">
                <a:solidFill>
                  <a:schemeClr val="bg1"/>
                </a:solidFill>
              </a:rPr>
              <a:t>)</a:t>
            </a:r>
            <a:br>
              <a:rPr lang="en-US" sz="4000" b="1" u="sng" dirty="0">
                <a:solidFill>
                  <a:schemeClr val="bg1"/>
                </a:solidFill>
              </a:rPr>
            </a:br>
            <a:r>
              <a:rPr lang="en-US" sz="2400" b="1" dirty="0">
                <a:solidFill>
                  <a:schemeClr val="bg1"/>
                </a:solidFill>
              </a:rPr>
              <a:t>Stock Market Simulation and Risk Intelligence Platform</a:t>
            </a:r>
            <a:br>
              <a:rPr lang="en-US" sz="4000" b="1" dirty="0">
                <a:solidFill>
                  <a:schemeClr val="bg1"/>
                </a:solidFill>
              </a:rPr>
            </a:br>
            <a:br>
              <a:rPr lang="en-US" sz="4000" b="1" u="sng" dirty="0">
                <a:solidFill>
                  <a:schemeClr val="bg1"/>
                </a:solidFill>
              </a:rPr>
            </a:br>
            <a:endParaRPr lang="en-US" sz="2000" b="1" u="sng" dirty="0">
              <a:solidFill>
                <a:schemeClr val="bg1"/>
              </a:solidFill>
            </a:endParaRPr>
          </a:p>
        </p:txBody>
      </p:sp>
      <p:sp>
        <p:nvSpPr>
          <p:cNvPr id="3" name="Subtitle 2"/>
          <p:cNvSpPr>
            <a:spLocks noGrp="1"/>
          </p:cNvSpPr>
          <p:nvPr>
            <p:ph type="subTitle" idx="4294967295"/>
          </p:nvPr>
        </p:nvSpPr>
        <p:spPr>
          <a:xfrm>
            <a:off x="838200" y="2227427"/>
            <a:ext cx="10611678" cy="2593051"/>
          </a:xfrm>
        </p:spPr>
        <p:txBody>
          <a:bodyPr>
            <a:noAutofit/>
          </a:bodyPr>
          <a:lstStyle/>
          <a:p>
            <a:pPr marL="0" indent="0">
              <a:buNone/>
            </a:pPr>
            <a:r>
              <a:rPr lang="en-US" sz="1600" dirty="0">
                <a:solidFill>
                  <a:schemeClr val="bg1"/>
                </a:solidFill>
                <a:latin typeface="+mj-lt"/>
              </a:rPr>
              <a:t>This project is essentially a Quantitative Research + Simulation Engine for equity markets. </a:t>
            </a:r>
          </a:p>
          <a:p>
            <a:pPr marL="0" indent="0">
              <a:lnSpc>
                <a:spcPct val="100000"/>
              </a:lnSpc>
              <a:spcBef>
                <a:spcPts val="0"/>
              </a:spcBef>
              <a:spcAft>
                <a:spcPts val="0"/>
              </a:spcAft>
              <a:buNone/>
            </a:pPr>
            <a:r>
              <a:rPr lang="en-US" sz="1600" u="sng" dirty="0">
                <a:solidFill>
                  <a:schemeClr val="bg1"/>
                </a:solidFill>
                <a:latin typeface="+mj-lt"/>
              </a:rPr>
              <a:t>It reflects:</a:t>
            </a:r>
          </a:p>
          <a:p>
            <a:pPr marL="285750" indent="-285750">
              <a:lnSpc>
                <a:spcPct val="100000"/>
              </a:lnSpc>
              <a:spcBef>
                <a:spcPts val="0"/>
              </a:spcBef>
              <a:spcAft>
                <a:spcPts val="0"/>
              </a:spcAft>
              <a:buFont typeface="Wingdings" panose="05000000000000000000" pitchFamily="2" charset="2"/>
              <a:buChar char="ü"/>
            </a:pPr>
            <a:r>
              <a:rPr lang="en-US" sz="1600" dirty="0">
                <a:solidFill>
                  <a:schemeClr val="bg1"/>
                </a:solidFill>
                <a:latin typeface="+mj-lt"/>
              </a:rPr>
              <a:t>Quantitative finance</a:t>
            </a:r>
          </a:p>
          <a:p>
            <a:pPr marL="285750" indent="-285750">
              <a:lnSpc>
                <a:spcPct val="100000"/>
              </a:lnSpc>
              <a:spcBef>
                <a:spcPts val="0"/>
              </a:spcBef>
              <a:spcAft>
                <a:spcPts val="0"/>
              </a:spcAft>
              <a:buFont typeface="Wingdings" panose="05000000000000000000" pitchFamily="2" charset="2"/>
              <a:buChar char="ü"/>
            </a:pPr>
            <a:r>
              <a:rPr lang="en-US" sz="1600" dirty="0">
                <a:solidFill>
                  <a:schemeClr val="bg1"/>
                </a:solidFill>
                <a:latin typeface="+mj-lt"/>
              </a:rPr>
              <a:t>Simulation</a:t>
            </a:r>
          </a:p>
          <a:p>
            <a:pPr marL="285750" indent="-285750">
              <a:lnSpc>
                <a:spcPct val="100000"/>
              </a:lnSpc>
              <a:spcBef>
                <a:spcPts val="0"/>
              </a:spcBef>
              <a:spcAft>
                <a:spcPts val="0"/>
              </a:spcAft>
              <a:buFont typeface="Wingdings" panose="05000000000000000000" pitchFamily="2" charset="2"/>
              <a:buChar char="ü"/>
            </a:pPr>
            <a:r>
              <a:rPr lang="en-US" sz="1600" dirty="0">
                <a:solidFill>
                  <a:schemeClr val="bg1"/>
                </a:solidFill>
                <a:latin typeface="+mj-lt"/>
              </a:rPr>
              <a:t>Physics-based modeling</a:t>
            </a:r>
          </a:p>
          <a:p>
            <a:pPr marL="285750" indent="-285750">
              <a:lnSpc>
                <a:spcPct val="100000"/>
              </a:lnSpc>
              <a:spcBef>
                <a:spcPts val="0"/>
              </a:spcBef>
              <a:spcAft>
                <a:spcPts val="0"/>
              </a:spcAft>
              <a:buFont typeface="Wingdings" panose="05000000000000000000" pitchFamily="2" charset="2"/>
              <a:buChar char="ü"/>
            </a:pPr>
            <a:r>
              <a:rPr lang="en-US" sz="1600" dirty="0">
                <a:solidFill>
                  <a:schemeClr val="bg1"/>
                </a:solidFill>
                <a:latin typeface="+mj-lt"/>
              </a:rPr>
              <a:t>Intelligence-driven analytics</a:t>
            </a:r>
          </a:p>
        </p:txBody>
      </p:sp>
    </p:spTree>
    <p:extLst>
      <p:ext uri="{BB962C8B-B14F-4D97-AF65-F5344CB8AC3E}">
        <p14:creationId xmlns:p14="http://schemas.microsoft.com/office/powerpoint/2010/main" val="247180773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p:txBody>
          <a:bodyPr>
            <a:noAutofit/>
          </a:bodyPr>
          <a:lstStyle/>
          <a:p>
            <a:r>
              <a:rPr lang="en-US" sz="3200" b="1" dirty="0">
                <a:latin typeface="Segoe UI Light" panose="020B0502040204020203" pitchFamily="34" charset="0"/>
                <a:cs typeface="Segoe UI Light" panose="020B0502040204020203" pitchFamily="34" charset="0"/>
              </a:rPr>
              <a:t>Project Overview</a:t>
            </a:r>
          </a:p>
        </p:txBody>
      </p:sp>
      <p:sp>
        <p:nvSpPr>
          <p:cNvPr id="38" name="Content Placeholder 17"/>
          <p:cNvSpPr txBox="1">
            <a:spLocks/>
          </p:cNvSpPr>
          <p:nvPr/>
        </p:nvSpPr>
        <p:spPr>
          <a:xfrm>
            <a:off x="541610" y="1445196"/>
            <a:ext cx="11027538" cy="4786640"/>
          </a:xfrm>
          <a:prstGeom prst="rect">
            <a:avLst/>
          </a:prstGeom>
        </p:spPr>
        <p:txBody>
          <a:bodyPr vert="horz" lIns="91440" tIns="45720" rIns="91440" bIns="45720" rtlCol="0">
            <a:noAutofit/>
          </a:bodyPr>
          <a:lstStyle>
            <a:lvl1pPr marL="2286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1pPr>
            <a:lvl2pPr marL="6858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2pPr>
            <a:lvl3pPr marL="11430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3pPr>
            <a:lvl4pPr marL="16002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4pPr>
            <a:lvl5pPr marL="20574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9pPr>
          </a:lstStyle>
          <a:p>
            <a:pPr marL="0" lvl="0" indent="0">
              <a:spcBef>
                <a:spcPts val="0"/>
              </a:spcBef>
              <a:spcAft>
                <a:spcPts val="1200"/>
              </a:spcAft>
              <a:buNone/>
              <a:defRPr/>
            </a:pPr>
            <a:r>
              <a:rPr lang="en-US" sz="1600" b="1" dirty="0"/>
              <a:t>“</a:t>
            </a:r>
            <a:r>
              <a:rPr lang="en-US" sz="1600" b="1" dirty="0" err="1"/>
              <a:t>QuantSim</a:t>
            </a:r>
            <a:r>
              <a:rPr lang="en-US" sz="1600" b="1" dirty="0"/>
              <a:t>”</a:t>
            </a:r>
            <a:r>
              <a:rPr lang="en-US" sz="1600" dirty="0"/>
              <a:t> is a research-driven stock market simulation and analytics platform that combines </a:t>
            </a:r>
            <a:r>
              <a:rPr lang="en-US" sz="1600" b="1" i="1" dirty="0"/>
              <a:t>finance, statistics, and physics-based modeling </a:t>
            </a:r>
            <a:r>
              <a:rPr lang="en-US" sz="1600" dirty="0"/>
              <a:t>to evaluate, simulate, rank, and visualize stocks. </a:t>
            </a:r>
          </a:p>
          <a:p>
            <a:pPr marL="0" indent="0">
              <a:spcBef>
                <a:spcPts val="0"/>
              </a:spcBef>
              <a:spcAft>
                <a:spcPts val="1200"/>
              </a:spcAft>
              <a:buNone/>
              <a:defRPr/>
            </a:pPr>
            <a:r>
              <a:rPr lang="en-US" sz="1600" dirty="0"/>
              <a:t>It combines market microstructure, statistical inference, stochastic processes, and computational finance into one </a:t>
            </a:r>
            <a:r>
              <a:rPr lang="en-US" sz="1600" b="1" dirty="0"/>
              <a:t>extensible framework.</a:t>
            </a:r>
          </a:p>
          <a:p>
            <a:pPr marL="0" lvl="0" indent="0">
              <a:spcBef>
                <a:spcPts val="0"/>
              </a:spcBef>
              <a:spcAft>
                <a:spcPts val="1200"/>
              </a:spcAft>
              <a:buNone/>
              <a:defRPr/>
            </a:pPr>
            <a:r>
              <a:rPr lang="en-US" sz="1600" dirty="0"/>
              <a:t>The goal is to build an extensible </a:t>
            </a:r>
            <a:r>
              <a:rPr lang="en-US" sz="1600" b="1" dirty="0"/>
              <a:t>quantitative framework </a:t>
            </a:r>
            <a:r>
              <a:rPr lang="en-US" sz="1600" dirty="0"/>
              <a:t>capable of analyzing market behavior beyond conventional technical analysis. </a:t>
            </a:r>
          </a:p>
          <a:p>
            <a:pPr marL="0" lvl="0" indent="0">
              <a:spcBef>
                <a:spcPts val="0"/>
              </a:spcBef>
              <a:spcAft>
                <a:spcPts val="1200"/>
              </a:spcAft>
              <a:buNone/>
              <a:defRPr/>
            </a:pPr>
            <a:r>
              <a:rPr lang="en-US" sz="1600" dirty="0"/>
              <a:t>It integrates </a:t>
            </a:r>
            <a:r>
              <a:rPr lang="en-US" sz="1600" b="1" dirty="0"/>
              <a:t>broker APIs</a:t>
            </a:r>
            <a:r>
              <a:rPr lang="en-US" sz="1600" dirty="0"/>
              <a:t> like Zerodha for historical and live market data, enabling both research and potential real-time deployment. </a:t>
            </a:r>
          </a:p>
          <a:p>
            <a:pPr marL="0" lvl="0" indent="0">
              <a:spcBef>
                <a:spcPts val="0"/>
              </a:spcBef>
              <a:spcAft>
                <a:spcPts val="1200"/>
              </a:spcAft>
              <a:buNone/>
              <a:defRPr/>
            </a:pPr>
            <a:r>
              <a:rPr lang="en-US" sz="1600" dirty="0"/>
              <a:t>The system focuses on NIFTY 50 stocks initially but is </a:t>
            </a:r>
            <a:r>
              <a:rPr lang="en-US" sz="1600" b="1" dirty="0"/>
              <a:t>designed to scale </a:t>
            </a:r>
            <a:r>
              <a:rPr lang="en-US" sz="1600" dirty="0"/>
              <a:t>to broader markets, derivatives, and multi-asset classes. </a:t>
            </a:r>
          </a:p>
          <a:p>
            <a:pPr marL="0" lvl="0" indent="0">
              <a:spcBef>
                <a:spcPts val="0"/>
              </a:spcBef>
              <a:spcAft>
                <a:spcPts val="1200"/>
              </a:spcAft>
              <a:buNone/>
              <a:defRPr/>
            </a:pPr>
            <a:r>
              <a:rPr lang="en-US" sz="1600" dirty="0"/>
              <a:t>It applies </a:t>
            </a:r>
            <a:r>
              <a:rPr lang="en-US" sz="1600" b="1" dirty="0"/>
              <a:t>statistical analysis, technical indicators, stochastic processes, and Monte Carlo simulations </a:t>
            </a:r>
            <a:r>
              <a:rPr lang="en-US" sz="1600" dirty="0"/>
              <a:t>to generate probabilistic insights. </a:t>
            </a:r>
          </a:p>
          <a:p>
            <a:pPr marL="0" lvl="0" indent="0">
              <a:spcBef>
                <a:spcPts val="0"/>
              </a:spcBef>
              <a:spcAft>
                <a:spcPts val="1200"/>
              </a:spcAft>
              <a:buNone/>
              <a:defRPr/>
            </a:pPr>
            <a:r>
              <a:rPr lang="en-US" sz="1600" b="1" dirty="0"/>
              <a:t>Risk management </a:t>
            </a:r>
            <a:r>
              <a:rPr lang="en-US" sz="1600" dirty="0"/>
              <a:t>modules such as Value at Risk, CVaR, and stress testing evaluate downside exposure. </a:t>
            </a:r>
          </a:p>
          <a:p>
            <a:pPr marL="0" lvl="0" indent="0">
              <a:spcBef>
                <a:spcPts val="0"/>
              </a:spcBef>
              <a:spcAft>
                <a:spcPts val="1200"/>
              </a:spcAft>
              <a:buNone/>
              <a:defRPr/>
            </a:pPr>
            <a:r>
              <a:rPr lang="en-US" sz="1600" dirty="0"/>
              <a:t>A </a:t>
            </a:r>
            <a:r>
              <a:rPr lang="en-US" sz="1600" b="1" dirty="0"/>
              <a:t>ranking engine</a:t>
            </a:r>
            <a:r>
              <a:rPr lang="en-US" sz="1600" dirty="0"/>
              <a:t> consolidates all analytical outputs into a multi-factor score for stock selection. </a:t>
            </a:r>
          </a:p>
          <a:p>
            <a:pPr marL="0" lvl="0" indent="0">
              <a:spcBef>
                <a:spcPts val="0"/>
              </a:spcBef>
              <a:spcAft>
                <a:spcPts val="1200"/>
              </a:spcAft>
              <a:buNone/>
              <a:defRPr/>
            </a:pPr>
            <a:r>
              <a:rPr lang="en-US" sz="1600" dirty="0"/>
              <a:t>Finally, a </a:t>
            </a:r>
            <a:r>
              <a:rPr lang="en-US" sz="1600" dirty="0" err="1"/>
              <a:t>Streamlit</a:t>
            </a:r>
            <a:r>
              <a:rPr lang="en-US" sz="1600" dirty="0"/>
              <a:t> dashboard provides </a:t>
            </a:r>
            <a:r>
              <a:rPr lang="en-US" sz="1600" b="1" dirty="0"/>
              <a:t>interactive visualizations </a:t>
            </a:r>
            <a:r>
              <a:rPr lang="en-US" sz="1600" dirty="0"/>
              <a:t>for exploration and decision-making.</a:t>
            </a:r>
            <a:endParaRPr lang="en-US" sz="1600" dirty="0">
              <a:latin typeface="Segoe UI" panose="020B0502040204020203" pitchFamily="34" charset="0"/>
              <a:cs typeface="Segoe UI" panose="020B0502040204020203" pitchFamily="34" charset="0"/>
            </a:endParaRPr>
          </a:p>
        </p:txBody>
      </p:sp>
    </p:spTree>
    <p:extLst>
      <p:ext uri="{BB962C8B-B14F-4D97-AF65-F5344CB8AC3E}">
        <p14:creationId xmlns:p14="http://schemas.microsoft.com/office/powerpoint/2010/main" val="345761616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42A0FE-718D-EEE7-63A0-BBCAEAF6D1DB}"/>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450FA139-01AE-A185-4989-E97B4A4955C1}"/>
              </a:ext>
            </a:extLst>
          </p:cNvPr>
          <p:cNvSpPr>
            <a:spLocks noGrp="1"/>
          </p:cNvSpPr>
          <p:nvPr>
            <p:ph type="title"/>
          </p:nvPr>
        </p:nvSpPr>
        <p:spPr/>
        <p:txBody>
          <a:bodyPr>
            <a:noAutofit/>
          </a:bodyPr>
          <a:lstStyle/>
          <a:p>
            <a:r>
              <a:rPr lang="en-US" sz="3200" b="1" dirty="0">
                <a:latin typeface="Segoe UI Light" panose="020B0502040204020203" pitchFamily="34" charset="0"/>
                <a:cs typeface="Segoe UI Light" panose="020B0502040204020203" pitchFamily="34" charset="0"/>
              </a:rPr>
              <a:t>Core Objective</a:t>
            </a:r>
          </a:p>
        </p:txBody>
      </p:sp>
      <p:sp>
        <p:nvSpPr>
          <p:cNvPr id="38" name="Content Placeholder 17">
            <a:extLst>
              <a:ext uri="{FF2B5EF4-FFF2-40B4-BE49-F238E27FC236}">
                <a16:creationId xmlns:a16="http://schemas.microsoft.com/office/drawing/2014/main" id="{AE826D0F-12FB-0676-FC8E-A2C5057566CB}"/>
              </a:ext>
            </a:extLst>
          </p:cNvPr>
          <p:cNvSpPr txBox="1">
            <a:spLocks/>
          </p:cNvSpPr>
          <p:nvPr/>
        </p:nvSpPr>
        <p:spPr>
          <a:xfrm>
            <a:off x="541610" y="1445196"/>
            <a:ext cx="11027538" cy="4786640"/>
          </a:xfrm>
          <a:prstGeom prst="rect">
            <a:avLst/>
          </a:prstGeom>
        </p:spPr>
        <p:txBody>
          <a:bodyPr vert="horz" lIns="91440" tIns="45720" rIns="91440" bIns="45720" rtlCol="0">
            <a:noAutofit/>
          </a:bodyPr>
          <a:lstStyle>
            <a:lvl1pPr marL="2286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1pPr>
            <a:lvl2pPr marL="6858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2pPr>
            <a:lvl3pPr marL="11430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3pPr>
            <a:lvl4pPr marL="16002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4pPr>
            <a:lvl5pPr marL="20574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000" dirty="0"/>
              <a:t>The project aims to create a </a:t>
            </a:r>
            <a:r>
              <a:rPr lang="en-US" sz="2000" b="1" dirty="0"/>
              <a:t>quantitative research framework</a:t>
            </a:r>
            <a:r>
              <a:rPr lang="en-US" sz="2000" dirty="0"/>
              <a:t> where stock behavior can be studied using:</a:t>
            </a:r>
          </a:p>
          <a:p>
            <a:r>
              <a:rPr lang="en-US" sz="2000" dirty="0"/>
              <a:t>Statistical inference </a:t>
            </a:r>
          </a:p>
          <a:p>
            <a:r>
              <a:rPr lang="en-US" sz="2000" dirty="0"/>
              <a:t>Stochastic simulations </a:t>
            </a:r>
          </a:p>
          <a:p>
            <a:r>
              <a:rPr lang="en-US" sz="2000" dirty="0"/>
              <a:t>Risk modeling </a:t>
            </a:r>
          </a:p>
          <a:p>
            <a:r>
              <a:rPr lang="en-US" sz="2000" dirty="0"/>
              <a:t>Technical signals </a:t>
            </a:r>
          </a:p>
          <a:p>
            <a:r>
              <a:rPr lang="en-US" sz="2000" dirty="0"/>
              <a:t>Physics-inspired market dynamics </a:t>
            </a:r>
          </a:p>
          <a:p>
            <a:pPr marL="0" indent="0">
              <a:buNone/>
            </a:pPr>
            <a:r>
              <a:rPr lang="en-US" sz="2000" dirty="0"/>
              <a:t>Rather than relying solely on historical charts, the system forecasts possible future price paths and evaluates stocks based on probability-adjusted performance and risk.</a:t>
            </a:r>
          </a:p>
        </p:txBody>
      </p:sp>
    </p:spTree>
    <p:extLst>
      <p:ext uri="{BB962C8B-B14F-4D97-AF65-F5344CB8AC3E}">
        <p14:creationId xmlns:p14="http://schemas.microsoft.com/office/powerpoint/2010/main" val="221638651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2BEE30-DE54-B1CE-582B-EC7B1FFBAD65}"/>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F0F2F76A-D208-E7B7-92F0-766D1B321BA9}"/>
              </a:ext>
            </a:extLst>
          </p:cNvPr>
          <p:cNvSpPr>
            <a:spLocks noGrp="1"/>
          </p:cNvSpPr>
          <p:nvPr>
            <p:ph type="title"/>
          </p:nvPr>
        </p:nvSpPr>
        <p:spPr/>
        <p:txBody>
          <a:bodyPr>
            <a:noAutofit/>
          </a:bodyPr>
          <a:lstStyle/>
          <a:p>
            <a:r>
              <a:rPr lang="en-US" sz="3200" b="1" dirty="0">
                <a:latin typeface="Segoe UI Light" panose="020B0502040204020203" pitchFamily="34" charset="0"/>
                <a:cs typeface="Segoe UI Light" panose="020B0502040204020203" pitchFamily="34" charset="0"/>
              </a:rPr>
              <a:t>Domain Model</a:t>
            </a:r>
          </a:p>
        </p:txBody>
      </p:sp>
      <p:pic>
        <p:nvPicPr>
          <p:cNvPr id="3" name="Picture 2">
            <a:extLst>
              <a:ext uri="{FF2B5EF4-FFF2-40B4-BE49-F238E27FC236}">
                <a16:creationId xmlns:a16="http://schemas.microsoft.com/office/drawing/2014/main" id="{0E4EF0D6-454C-4834-0ABA-262F4E76230A}"/>
              </a:ext>
            </a:extLst>
          </p:cNvPr>
          <p:cNvPicPr>
            <a:picLocks noChangeAspect="1"/>
          </p:cNvPicPr>
          <p:nvPr/>
        </p:nvPicPr>
        <p:blipFill>
          <a:blip r:embed="rId2"/>
          <a:stretch>
            <a:fillRect/>
          </a:stretch>
        </p:blipFill>
        <p:spPr>
          <a:xfrm>
            <a:off x="626164" y="1356036"/>
            <a:ext cx="6649693" cy="5145811"/>
          </a:xfrm>
          <a:prstGeom prst="rect">
            <a:avLst/>
          </a:prstGeom>
        </p:spPr>
      </p:pic>
      <p:sp>
        <p:nvSpPr>
          <p:cNvPr id="6" name="Content Placeholder 17">
            <a:extLst>
              <a:ext uri="{FF2B5EF4-FFF2-40B4-BE49-F238E27FC236}">
                <a16:creationId xmlns:a16="http://schemas.microsoft.com/office/drawing/2014/main" id="{5DA99B10-88DE-0CB4-7941-7EF4A107B3A4}"/>
              </a:ext>
            </a:extLst>
          </p:cNvPr>
          <p:cNvSpPr txBox="1">
            <a:spLocks/>
          </p:cNvSpPr>
          <p:nvPr/>
        </p:nvSpPr>
        <p:spPr>
          <a:xfrm>
            <a:off x="7494103" y="1356036"/>
            <a:ext cx="4224131" cy="4786640"/>
          </a:xfrm>
          <a:prstGeom prst="rect">
            <a:avLst/>
          </a:prstGeom>
        </p:spPr>
        <p:txBody>
          <a:bodyPr vert="horz" lIns="91440" tIns="45720" rIns="91440" bIns="45720" rtlCol="0">
            <a:noAutofit/>
          </a:bodyPr>
          <a:lstStyle>
            <a:lvl1pPr marL="2286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1pPr>
            <a:lvl2pPr marL="6858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2pPr>
            <a:lvl3pPr marL="11430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3pPr>
            <a:lvl4pPr marL="16002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4pPr>
            <a:lvl5pPr marL="20574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0"/>
              </a:spcBef>
              <a:spcAft>
                <a:spcPts val="0"/>
              </a:spcAft>
              <a:buNone/>
            </a:pPr>
            <a:r>
              <a:rPr lang="en-US" sz="800" dirty="0"/>
              <a:t>Stock market participants are the individuals, institutions, and entities that buy, sell, or facilitate trading. They are categorized into five core groups: </a:t>
            </a:r>
          </a:p>
          <a:p>
            <a:pPr marL="0" indent="0">
              <a:lnSpc>
                <a:spcPct val="100000"/>
              </a:lnSpc>
              <a:spcBef>
                <a:spcPts val="0"/>
              </a:spcBef>
              <a:spcAft>
                <a:spcPts val="0"/>
              </a:spcAft>
              <a:buNone/>
            </a:pPr>
            <a:r>
              <a:rPr lang="en-US" sz="800" dirty="0"/>
              <a:t>investors and traders (the buyers and sellers</a:t>
            </a:r>
            <a:r>
              <a:rPr lang="en-US" sz="800"/>
              <a:t>), listed </a:t>
            </a:r>
            <a:r>
              <a:rPr lang="en-US" sz="800" dirty="0"/>
              <a:t>companies (the </a:t>
            </a:r>
            <a:r>
              <a:rPr lang="en-US" sz="800"/>
              <a:t>issuers), brokers </a:t>
            </a:r>
            <a:r>
              <a:rPr lang="en-US" sz="800" dirty="0"/>
              <a:t>and exchanges (the intermediaries</a:t>
            </a:r>
            <a:r>
              <a:rPr lang="en-US" sz="800"/>
              <a:t>), clearing </a:t>
            </a:r>
            <a:r>
              <a:rPr lang="en-US" sz="800" dirty="0"/>
              <a:t>agencies</a:t>
            </a:r>
            <a:r>
              <a:rPr lang="en-US" sz="800"/>
              <a:t>, and </a:t>
            </a:r>
            <a:r>
              <a:rPr lang="en-US" sz="800" dirty="0"/>
              <a:t>regulatory </a:t>
            </a:r>
            <a:r>
              <a:rPr lang="en-US" sz="800"/>
              <a:t>authorities.</a:t>
            </a:r>
          </a:p>
          <a:p>
            <a:pPr marL="0" indent="0">
              <a:lnSpc>
                <a:spcPct val="100000"/>
              </a:lnSpc>
              <a:spcBef>
                <a:spcPts val="0"/>
              </a:spcBef>
              <a:spcAft>
                <a:spcPts val="0"/>
              </a:spcAft>
              <a:buNone/>
            </a:pPr>
            <a:endParaRPr lang="en-US" sz="800" dirty="0"/>
          </a:p>
          <a:p>
            <a:pPr>
              <a:lnSpc>
                <a:spcPct val="100000"/>
              </a:lnSpc>
              <a:spcBef>
                <a:spcPts val="0"/>
              </a:spcBef>
              <a:spcAft>
                <a:spcPts val="0"/>
              </a:spcAft>
              <a:buAutoNum type="arabicPeriod"/>
            </a:pPr>
            <a:r>
              <a:rPr lang="en-US" sz="800" dirty="0"/>
              <a:t>Investors and </a:t>
            </a:r>
            <a:r>
              <a:rPr lang="en-US" sz="800" dirty="0" err="1"/>
              <a:t>TradersThese</a:t>
            </a:r>
            <a:r>
              <a:rPr lang="en-US" sz="800" dirty="0"/>
              <a:t> are the primary buyers and sellers driving daily trading volumes, capital formation, and market </a:t>
            </a:r>
            <a:r>
              <a:rPr lang="en-US" sz="800" dirty="0" err="1"/>
              <a:t>liquidity.Retail</a:t>
            </a:r>
            <a:r>
              <a:rPr lang="en-US" sz="800" dirty="0"/>
              <a:t> Investors: Individual participants who trade securities using personal capital. They usually trade in smaller volumes based on long-term goals, news, or </a:t>
            </a:r>
            <a:r>
              <a:rPr lang="en-US" sz="800" dirty="0" err="1"/>
              <a:t>trends.High</a:t>
            </a:r>
            <a:r>
              <a:rPr lang="en-US" sz="800" dirty="0"/>
              <a:t>-Net-Worth Individuals (HNIs): Wealthy individuals who manage substantial capital and take sizable positions, which can influence short-term price </a:t>
            </a:r>
            <a:r>
              <a:rPr lang="en-US" sz="800" dirty="0" err="1"/>
              <a:t>movements.Institutional</a:t>
            </a:r>
            <a:r>
              <a:rPr lang="en-US" sz="800" dirty="0"/>
              <a:t> Investors: Professionals who manage large pools of capital on behalf of others. This includes mutual funds, insurance companies, hedge funds, and pension funds. They have the most significant impact on broader market </a:t>
            </a:r>
            <a:r>
              <a:rPr lang="en-US" sz="800" dirty="0" err="1"/>
              <a:t>trends.Foreign</a:t>
            </a:r>
            <a:r>
              <a:rPr lang="en-US" sz="800" dirty="0"/>
              <a:t> Institutional Investors (FIIs): Non-domestic entities (such as foreign funds) that inject global capital, increasing market </a:t>
            </a:r>
            <a:r>
              <a:rPr lang="en-US" sz="800" dirty="0" err="1"/>
              <a:t>depth.Day</a:t>
            </a:r>
            <a:r>
              <a:rPr lang="en-US" sz="800" dirty="0"/>
              <a:t> Traders &amp; Arbitrageurs: Short-term players who capitalize on rapid price fluctuations or price differentials across different exchanges to lock in quick profits</a:t>
            </a:r>
          </a:p>
          <a:p>
            <a:pPr>
              <a:lnSpc>
                <a:spcPct val="100000"/>
              </a:lnSpc>
              <a:spcBef>
                <a:spcPts val="0"/>
              </a:spcBef>
              <a:spcAft>
                <a:spcPts val="0"/>
              </a:spcAft>
              <a:buAutoNum type="arabicPeriod"/>
            </a:pPr>
            <a:r>
              <a:rPr lang="en-US" sz="800" dirty="0"/>
              <a:t>Listed Companies (Issuers) - These are the corporate or governmental entities that issue financial instruments. They participate in the primary market to raise capital for business expansion, research, or infrastructure by offering stocks, bonds, or IPOs.</a:t>
            </a:r>
          </a:p>
          <a:p>
            <a:pPr>
              <a:lnSpc>
                <a:spcPct val="100000"/>
              </a:lnSpc>
              <a:spcBef>
                <a:spcPts val="0"/>
              </a:spcBef>
              <a:spcAft>
                <a:spcPts val="0"/>
              </a:spcAft>
              <a:buAutoNum type="arabicPeriod"/>
            </a:pPr>
            <a:r>
              <a:rPr lang="en-US" sz="800" dirty="0"/>
              <a:t>Intermediaries - Intermediaries connect buyers and sellers, ensuring trades are executed smoothly and </a:t>
            </a:r>
            <a:r>
              <a:rPr lang="en-US" sz="800" dirty="0" err="1"/>
              <a:t>efficiently.Stock</a:t>
            </a:r>
            <a:r>
              <a:rPr lang="en-US" sz="800" dirty="0"/>
              <a:t> Exchanges: Platforms like the ⁠National Stock Exchange or the BSE Limited in India that provide the digital infrastructure for secure and transparent trading. Stockbrokers: Registered members or broker-dealers who facilitate the buying and selling of securities on behalf of the investors.</a:t>
            </a:r>
          </a:p>
          <a:p>
            <a:pPr>
              <a:lnSpc>
                <a:spcPct val="100000"/>
              </a:lnSpc>
              <a:spcBef>
                <a:spcPts val="0"/>
              </a:spcBef>
              <a:spcAft>
                <a:spcPts val="0"/>
              </a:spcAft>
              <a:buAutoNum type="arabicPeriod"/>
            </a:pPr>
            <a:r>
              <a:rPr lang="en-US" sz="800" dirty="0"/>
              <a:t>Clearing Agencies - These are financial intermediaries that act as a bridge between buyers and sellers. Entities like clearing corporations manage the risk of default and ensure the secure transfer of securities and funds upon trade completion.</a:t>
            </a:r>
          </a:p>
          <a:p>
            <a:pPr>
              <a:lnSpc>
                <a:spcPct val="100000"/>
              </a:lnSpc>
              <a:spcBef>
                <a:spcPts val="0"/>
              </a:spcBef>
              <a:spcAft>
                <a:spcPts val="0"/>
              </a:spcAft>
              <a:buAutoNum type="arabicPeriod"/>
            </a:pPr>
            <a:r>
              <a:rPr lang="en-US" sz="800" dirty="0" err="1"/>
              <a:t>RegulatorsRegulators</a:t>
            </a:r>
            <a:r>
              <a:rPr lang="en-US" sz="800" dirty="0"/>
              <a:t> oversee the entire market ecosystem to enforce fair practices, prevent fraud, and protect investors. In India, the governing body is the ⁠Securities and Exchange Board of India (SEBI).</a:t>
            </a:r>
          </a:p>
        </p:txBody>
      </p:sp>
    </p:spTree>
    <p:extLst>
      <p:ext uri="{BB962C8B-B14F-4D97-AF65-F5344CB8AC3E}">
        <p14:creationId xmlns:p14="http://schemas.microsoft.com/office/powerpoint/2010/main" val="424166797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0CF08B-04DA-5324-A932-E6E3D8901F92}"/>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8996E785-121C-1B23-1AB8-3407864DDB1B}"/>
              </a:ext>
            </a:extLst>
          </p:cNvPr>
          <p:cNvSpPr>
            <a:spLocks noGrp="1"/>
          </p:cNvSpPr>
          <p:nvPr>
            <p:ph type="title"/>
          </p:nvPr>
        </p:nvSpPr>
        <p:spPr/>
        <p:txBody>
          <a:bodyPr>
            <a:noAutofit/>
          </a:bodyPr>
          <a:lstStyle/>
          <a:p>
            <a:r>
              <a:rPr lang="en-US" sz="3200" b="1" dirty="0">
                <a:latin typeface="Segoe UI Light" panose="020B0502040204020203" pitchFamily="34" charset="0"/>
                <a:cs typeface="Segoe UI Light" panose="020B0502040204020203" pitchFamily="34" charset="0"/>
              </a:rPr>
              <a:t>Journey</a:t>
            </a:r>
          </a:p>
        </p:txBody>
      </p:sp>
      <p:pic>
        <p:nvPicPr>
          <p:cNvPr id="4" name="Picture 3">
            <a:extLst>
              <a:ext uri="{FF2B5EF4-FFF2-40B4-BE49-F238E27FC236}">
                <a16:creationId xmlns:a16="http://schemas.microsoft.com/office/drawing/2014/main" id="{7D3D63F6-A717-06AE-B8C4-E53110E41934}"/>
              </a:ext>
            </a:extLst>
          </p:cNvPr>
          <p:cNvPicPr>
            <a:picLocks noChangeAspect="1"/>
          </p:cNvPicPr>
          <p:nvPr/>
        </p:nvPicPr>
        <p:blipFill>
          <a:blip r:embed="rId2"/>
          <a:stretch>
            <a:fillRect/>
          </a:stretch>
        </p:blipFill>
        <p:spPr>
          <a:xfrm>
            <a:off x="521207" y="1265581"/>
            <a:ext cx="5314122" cy="5314122"/>
          </a:xfrm>
          <a:prstGeom prst="rect">
            <a:avLst/>
          </a:prstGeom>
        </p:spPr>
      </p:pic>
    </p:spTree>
    <p:extLst>
      <p:ext uri="{BB962C8B-B14F-4D97-AF65-F5344CB8AC3E}">
        <p14:creationId xmlns:p14="http://schemas.microsoft.com/office/powerpoint/2010/main" val="53398068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b="1" dirty="0">
                <a:latin typeface="Segoe UI Light" panose="020B0502040204020203" pitchFamily="34" charset="0"/>
                <a:cs typeface="Segoe UI Light" panose="020B0502040204020203" pitchFamily="34" charset="0"/>
              </a:rPr>
              <a:t>E2E Architecture</a:t>
            </a:r>
          </a:p>
        </p:txBody>
      </p:sp>
      <p:pic>
        <p:nvPicPr>
          <p:cNvPr id="14" name="Picture 13">
            <a:extLst>
              <a:ext uri="{FF2B5EF4-FFF2-40B4-BE49-F238E27FC236}">
                <a16:creationId xmlns:a16="http://schemas.microsoft.com/office/drawing/2014/main" id="{FB2360FA-576F-8AF4-0498-E7342604BF22}"/>
              </a:ext>
            </a:extLst>
          </p:cNvPr>
          <p:cNvPicPr>
            <a:picLocks noChangeAspect="1"/>
          </p:cNvPicPr>
          <p:nvPr/>
        </p:nvPicPr>
        <p:blipFill>
          <a:blip r:embed="rId2"/>
          <a:stretch>
            <a:fillRect/>
          </a:stretch>
        </p:blipFill>
        <p:spPr>
          <a:xfrm>
            <a:off x="521206" y="1240608"/>
            <a:ext cx="3685033" cy="5284914"/>
          </a:xfrm>
          <a:prstGeom prst="rect">
            <a:avLst/>
          </a:prstGeom>
        </p:spPr>
      </p:pic>
      <p:pic>
        <p:nvPicPr>
          <p:cNvPr id="16" name="Picture 15">
            <a:extLst>
              <a:ext uri="{FF2B5EF4-FFF2-40B4-BE49-F238E27FC236}">
                <a16:creationId xmlns:a16="http://schemas.microsoft.com/office/drawing/2014/main" id="{5FDC4ACC-3017-503E-B813-93036DED42D8}"/>
              </a:ext>
            </a:extLst>
          </p:cNvPr>
          <p:cNvPicPr>
            <a:picLocks noChangeAspect="1"/>
          </p:cNvPicPr>
          <p:nvPr/>
        </p:nvPicPr>
        <p:blipFill>
          <a:blip r:embed="rId3"/>
          <a:stretch>
            <a:fillRect/>
          </a:stretch>
        </p:blipFill>
        <p:spPr>
          <a:xfrm>
            <a:off x="7557425" y="1240608"/>
            <a:ext cx="3809008" cy="5124569"/>
          </a:xfrm>
          <a:prstGeom prst="rect">
            <a:avLst/>
          </a:prstGeom>
        </p:spPr>
      </p:pic>
      <p:cxnSp>
        <p:nvCxnSpPr>
          <p:cNvPr id="26" name="Straight Connector 25">
            <a:extLst>
              <a:ext uri="{FF2B5EF4-FFF2-40B4-BE49-F238E27FC236}">
                <a16:creationId xmlns:a16="http://schemas.microsoft.com/office/drawing/2014/main" id="{3F46A224-8DF2-F673-A65A-BE05E1DE034F}"/>
              </a:ext>
            </a:extLst>
          </p:cNvPr>
          <p:cNvCxnSpPr>
            <a:cxnSpLocks/>
          </p:cNvCxnSpPr>
          <p:nvPr/>
        </p:nvCxnSpPr>
        <p:spPr>
          <a:xfrm>
            <a:off x="5988518" y="1310443"/>
            <a:ext cx="0" cy="5124569"/>
          </a:xfrm>
          <a:prstGeom prst="line">
            <a:avLst/>
          </a:prstGeom>
          <a:ln w="9525"/>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4044531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8B5AE4-3E24-43E0-1F99-C6B5AA378344}"/>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C17A7C14-FD6D-0284-BEA1-90F77974E5EE}"/>
              </a:ext>
            </a:extLst>
          </p:cNvPr>
          <p:cNvSpPr>
            <a:spLocks noGrp="1"/>
          </p:cNvSpPr>
          <p:nvPr>
            <p:ph type="title"/>
          </p:nvPr>
        </p:nvSpPr>
        <p:spPr/>
        <p:txBody>
          <a:bodyPr>
            <a:noAutofit/>
          </a:bodyPr>
          <a:lstStyle/>
          <a:p>
            <a:r>
              <a:rPr lang="en-US" sz="3200" b="1" dirty="0"/>
              <a:t>Main System Components</a:t>
            </a:r>
            <a:endParaRPr lang="en-US" sz="3200" b="1" dirty="0">
              <a:latin typeface="Segoe UI Light" panose="020B0502040204020203" pitchFamily="34" charset="0"/>
              <a:cs typeface="Segoe UI Light" panose="020B0502040204020203" pitchFamily="34" charset="0"/>
            </a:endParaRPr>
          </a:p>
        </p:txBody>
      </p:sp>
      <p:sp>
        <p:nvSpPr>
          <p:cNvPr id="38" name="Content Placeholder 17">
            <a:extLst>
              <a:ext uri="{FF2B5EF4-FFF2-40B4-BE49-F238E27FC236}">
                <a16:creationId xmlns:a16="http://schemas.microsoft.com/office/drawing/2014/main" id="{583CF5EB-4EC6-5ECA-1B59-A0CB243BED49}"/>
              </a:ext>
            </a:extLst>
          </p:cNvPr>
          <p:cNvSpPr txBox="1">
            <a:spLocks/>
          </p:cNvSpPr>
          <p:nvPr/>
        </p:nvSpPr>
        <p:spPr>
          <a:xfrm>
            <a:off x="541610" y="1445195"/>
            <a:ext cx="5416428" cy="5124569"/>
          </a:xfrm>
          <a:prstGeom prst="rect">
            <a:avLst/>
          </a:prstGeom>
        </p:spPr>
        <p:txBody>
          <a:bodyPr vert="horz" wrap="square" lIns="91440" tIns="45720" rIns="91440" bIns="45720" rtlCol="0">
            <a:noAutofit/>
          </a:bodyPr>
          <a:lstStyle>
            <a:lvl1pPr marL="2286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1pPr>
            <a:lvl2pPr marL="6858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2pPr>
            <a:lvl3pPr marL="11430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3pPr>
            <a:lvl4pPr marL="16002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4pPr>
            <a:lvl5pPr marL="20574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9pPr>
          </a:lstStyle>
          <a:p>
            <a:pPr marL="0" indent="0">
              <a:spcBef>
                <a:spcPts val="0"/>
              </a:spcBef>
              <a:spcAft>
                <a:spcPts val="600"/>
              </a:spcAft>
              <a:buNone/>
            </a:pPr>
            <a:r>
              <a:rPr lang="en-US" sz="1800" b="1" dirty="0"/>
              <a:t>1. Broker Integration Layer</a:t>
            </a:r>
          </a:p>
          <a:p>
            <a:pPr marL="457200" lvl="1">
              <a:spcBef>
                <a:spcPts val="0"/>
              </a:spcBef>
              <a:spcAft>
                <a:spcPts val="600"/>
              </a:spcAft>
            </a:pPr>
            <a:r>
              <a:rPr lang="en-US" sz="1800" dirty="0"/>
              <a:t>Connects to Zerodha for authentication, historical data retrieval, and future trading support. It abstracts broker-specific logic so additional brokers can be integrated later.</a:t>
            </a:r>
          </a:p>
          <a:p>
            <a:pPr marL="228600" lvl="1" indent="0">
              <a:spcBef>
                <a:spcPts val="0"/>
              </a:spcBef>
              <a:spcAft>
                <a:spcPts val="600"/>
              </a:spcAft>
              <a:buNone/>
            </a:pPr>
            <a:endParaRPr lang="en-US" sz="1800" dirty="0"/>
          </a:p>
          <a:p>
            <a:pPr marL="0" indent="0">
              <a:spcBef>
                <a:spcPts val="0"/>
              </a:spcBef>
              <a:spcAft>
                <a:spcPts val="600"/>
              </a:spcAft>
              <a:buNone/>
            </a:pPr>
            <a:r>
              <a:rPr lang="en-US" sz="1800" b="1" dirty="0"/>
              <a:t>2. Data Layer</a:t>
            </a:r>
          </a:p>
          <a:p>
            <a:pPr marL="457200" lvl="1">
              <a:spcBef>
                <a:spcPts val="0"/>
              </a:spcBef>
              <a:spcAft>
                <a:spcPts val="600"/>
              </a:spcAft>
            </a:pPr>
            <a:r>
              <a:rPr lang="en-US" sz="1800" dirty="0"/>
              <a:t>Downloads and manages instrument master files and historical OHLCV datasets. It forms the raw market data foundation for all analytics.</a:t>
            </a:r>
          </a:p>
          <a:p>
            <a:pPr marL="228600" lvl="1" indent="0">
              <a:spcBef>
                <a:spcPts val="0"/>
              </a:spcBef>
              <a:spcAft>
                <a:spcPts val="600"/>
              </a:spcAft>
              <a:buNone/>
            </a:pPr>
            <a:endParaRPr lang="en-US" sz="1800" dirty="0"/>
          </a:p>
          <a:p>
            <a:pPr marL="0" indent="0">
              <a:spcBef>
                <a:spcPts val="0"/>
              </a:spcBef>
              <a:spcAft>
                <a:spcPts val="600"/>
              </a:spcAft>
              <a:buNone/>
            </a:pPr>
            <a:r>
              <a:rPr lang="en-US" sz="1800" b="1" dirty="0"/>
              <a:t>3. Feature Engineering Layer</a:t>
            </a:r>
          </a:p>
          <a:p>
            <a:pPr marL="457200" lvl="1">
              <a:spcBef>
                <a:spcPts val="0"/>
              </a:spcBef>
              <a:spcAft>
                <a:spcPts val="600"/>
              </a:spcAft>
            </a:pPr>
            <a:r>
              <a:rPr lang="en-US" sz="1800" dirty="0"/>
              <a:t>Generates derived market signals such as returns, volatility, momentum, and technical indicators like Relative Strength Index and Moving Average Convergence Divergence.</a:t>
            </a:r>
          </a:p>
        </p:txBody>
      </p:sp>
      <p:cxnSp>
        <p:nvCxnSpPr>
          <p:cNvPr id="2" name="Straight Connector 1">
            <a:extLst>
              <a:ext uri="{FF2B5EF4-FFF2-40B4-BE49-F238E27FC236}">
                <a16:creationId xmlns:a16="http://schemas.microsoft.com/office/drawing/2014/main" id="{E0DBC623-B7A9-6371-C50B-081D24FB18E2}"/>
              </a:ext>
            </a:extLst>
          </p:cNvPr>
          <p:cNvCxnSpPr>
            <a:cxnSpLocks/>
          </p:cNvCxnSpPr>
          <p:nvPr/>
        </p:nvCxnSpPr>
        <p:spPr>
          <a:xfrm>
            <a:off x="6096000" y="1377819"/>
            <a:ext cx="0" cy="5124569"/>
          </a:xfrm>
          <a:prstGeom prst="line">
            <a:avLst/>
          </a:prstGeom>
          <a:ln w="9525"/>
        </p:spPr>
        <p:style>
          <a:lnRef idx="1">
            <a:schemeClr val="accent1"/>
          </a:lnRef>
          <a:fillRef idx="0">
            <a:schemeClr val="accent1"/>
          </a:fillRef>
          <a:effectRef idx="0">
            <a:schemeClr val="accent1"/>
          </a:effectRef>
          <a:fontRef idx="minor">
            <a:schemeClr val="tx1"/>
          </a:fontRef>
        </p:style>
      </p:cxnSp>
      <p:sp>
        <p:nvSpPr>
          <p:cNvPr id="3" name="Content Placeholder 17">
            <a:extLst>
              <a:ext uri="{FF2B5EF4-FFF2-40B4-BE49-F238E27FC236}">
                <a16:creationId xmlns:a16="http://schemas.microsoft.com/office/drawing/2014/main" id="{77196526-BE02-C22B-9865-2569863495BC}"/>
              </a:ext>
            </a:extLst>
          </p:cNvPr>
          <p:cNvSpPr txBox="1">
            <a:spLocks/>
          </p:cNvSpPr>
          <p:nvPr/>
        </p:nvSpPr>
        <p:spPr>
          <a:xfrm>
            <a:off x="6199668" y="1433965"/>
            <a:ext cx="5416428" cy="5124569"/>
          </a:xfrm>
          <a:prstGeom prst="rect">
            <a:avLst/>
          </a:prstGeom>
        </p:spPr>
        <p:txBody>
          <a:bodyPr vert="horz" wrap="square" lIns="91440" tIns="45720" rIns="91440" bIns="45720" rtlCol="0">
            <a:noAutofit/>
          </a:bodyPr>
          <a:lstStyle>
            <a:lvl1pPr marL="2286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1pPr>
            <a:lvl2pPr marL="6858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2pPr>
            <a:lvl3pPr marL="11430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3pPr>
            <a:lvl4pPr marL="16002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4pPr>
            <a:lvl5pPr marL="20574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9pPr>
          </a:lstStyle>
          <a:p>
            <a:pPr marL="0" indent="0">
              <a:spcBef>
                <a:spcPts val="0"/>
              </a:spcBef>
              <a:spcAft>
                <a:spcPts val="600"/>
              </a:spcAft>
              <a:buNone/>
            </a:pPr>
            <a:r>
              <a:rPr lang="en-US" sz="1800" b="1" dirty="0"/>
              <a:t>4. Statistical Engine</a:t>
            </a:r>
          </a:p>
          <a:p>
            <a:pPr marL="457200" lvl="1">
              <a:spcBef>
                <a:spcPts val="0"/>
              </a:spcBef>
              <a:spcAft>
                <a:spcPts val="600"/>
              </a:spcAft>
            </a:pPr>
            <a:r>
              <a:rPr lang="en-US" sz="1800" dirty="0"/>
              <a:t>Performs quantitative analysis including return distribution profiling, skewness, kurtosis, and volatility measurement.</a:t>
            </a:r>
          </a:p>
          <a:p>
            <a:pPr marL="228600" lvl="1" indent="0">
              <a:spcBef>
                <a:spcPts val="0"/>
              </a:spcBef>
              <a:spcAft>
                <a:spcPts val="600"/>
              </a:spcAft>
              <a:buNone/>
            </a:pPr>
            <a:endParaRPr lang="en-US" sz="1800" dirty="0"/>
          </a:p>
          <a:p>
            <a:pPr marL="0" indent="0">
              <a:spcBef>
                <a:spcPts val="0"/>
              </a:spcBef>
              <a:spcAft>
                <a:spcPts val="600"/>
              </a:spcAft>
              <a:buNone/>
            </a:pPr>
            <a:r>
              <a:rPr lang="en-US" sz="1800" b="1" dirty="0"/>
              <a:t>5. Physics-Based Modeling Layer</a:t>
            </a:r>
          </a:p>
          <a:p>
            <a:pPr marL="457200" lvl="1">
              <a:spcBef>
                <a:spcPts val="0"/>
              </a:spcBef>
              <a:spcAft>
                <a:spcPts val="600"/>
              </a:spcAft>
            </a:pPr>
            <a:r>
              <a:rPr lang="en-US" sz="1800" dirty="0"/>
              <a:t>Uses stochastic processes like:</a:t>
            </a:r>
          </a:p>
          <a:p>
            <a:pPr marL="457200" lvl="1">
              <a:spcBef>
                <a:spcPts val="0"/>
              </a:spcBef>
              <a:spcAft>
                <a:spcPts val="600"/>
              </a:spcAft>
            </a:pPr>
            <a:r>
              <a:rPr lang="en-US" sz="1800" dirty="0"/>
              <a:t>Brownian Motion </a:t>
            </a:r>
          </a:p>
          <a:p>
            <a:pPr marL="457200" lvl="1">
              <a:spcBef>
                <a:spcPts val="0"/>
              </a:spcBef>
              <a:spcAft>
                <a:spcPts val="600"/>
              </a:spcAft>
            </a:pPr>
            <a:r>
              <a:rPr lang="en-US" sz="1800" dirty="0"/>
              <a:t>Random Walk </a:t>
            </a:r>
          </a:p>
          <a:p>
            <a:pPr marL="457200" lvl="1">
              <a:spcBef>
                <a:spcPts val="0"/>
              </a:spcBef>
              <a:spcAft>
                <a:spcPts val="600"/>
              </a:spcAft>
            </a:pPr>
            <a:r>
              <a:rPr lang="en-US" sz="1800" dirty="0"/>
              <a:t>Geometric Brownian Motion </a:t>
            </a:r>
          </a:p>
          <a:p>
            <a:pPr marL="228600" lvl="1" indent="0">
              <a:spcBef>
                <a:spcPts val="0"/>
              </a:spcBef>
              <a:spcAft>
                <a:spcPts val="600"/>
              </a:spcAft>
              <a:buNone/>
            </a:pPr>
            <a:r>
              <a:rPr lang="en-US" sz="1800" dirty="0"/>
              <a:t>to model future market behavior.</a:t>
            </a:r>
          </a:p>
          <a:p>
            <a:pPr>
              <a:spcBef>
                <a:spcPts val="0"/>
              </a:spcBef>
              <a:spcAft>
                <a:spcPts val="600"/>
              </a:spcAft>
            </a:pPr>
            <a:endParaRPr lang="en-US" sz="1800" dirty="0"/>
          </a:p>
        </p:txBody>
      </p:sp>
    </p:spTree>
    <p:extLst>
      <p:ext uri="{BB962C8B-B14F-4D97-AF65-F5344CB8AC3E}">
        <p14:creationId xmlns:p14="http://schemas.microsoft.com/office/powerpoint/2010/main" val="342601981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72A647-6B76-F40A-6F42-D20FE030557A}"/>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BE8847E6-628D-1D84-FA54-68DA1526A441}"/>
              </a:ext>
            </a:extLst>
          </p:cNvPr>
          <p:cNvSpPr>
            <a:spLocks noGrp="1"/>
          </p:cNvSpPr>
          <p:nvPr>
            <p:ph type="title"/>
          </p:nvPr>
        </p:nvSpPr>
        <p:spPr/>
        <p:txBody>
          <a:bodyPr>
            <a:noAutofit/>
          </a:bodyPr>
          <a:lstStyle/>
          <a:p>
            <a:r>
              <a:rPr lang="en-US" sz="3200" b="1" dirty="0"/>
              <a:t>Main System Components</a:t>
            </a:r>
            <a:endParaRPr lang="en-US" sz="3200" b="1" dirty="0">
              <a:latin typeface="Segoe UI Light" panose="020B0502040204020203" pitchFamily="34" charset="0"/>
              <a:cs typeface="Segoe UI Light" panose="020B0502040204020203" pitchFamily="34" charset="0"/>
            </a:endParaRPr>
          </a:p>
        </p:txBody>
      </p:sp>
      <p:sp>
        <p:nvSpPr>
          <p:cNvPr id="38" name="Content Placeholder 17">
            <a:extLst>
              <a:ext uri="{FF2B5EF4-FFF2-40B4-BE49-F238E27FC236}">
                <a16:creationId xmlns:a16="http://schemas.microsoft.com/office/drawing/2014/main" id="{7C4D9D03-DDC5-3FDC-B1B1-AE1FB1E18A7F}"/>
              </a:ext>
            </a:extLst>
          </p:cNvPr>
          <p:cNvSpPr txBox="1">
            <a:spLocks/>
          </p:cNvSpPr>
          <p:nvPr/>
        </p:nvSpPr>
        <p:spPr>
          <a:xfrm>
            <a:off x="541610" y="1445195"/>
            <a:ext cx="5431807" cy="5124569"/>
          </a:xfrm>
          <a:prstGeom prst="rect">
            <a:avLst/>
          </a:prstGeom>
        </p:spPr>
        <p:txBody>
          <a:bodyPr vert="horz" wrap="square" lIns="91440" tIns="45720" rIns="91440" bIns="45720" rtlCol="0">
            <a:noAutofit/>
          </a:bodyPr>
          <a:lstStyle>
            <a:lvl1pPr marL="2286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1pPr>
            <a:lvl2pPr marL="6858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2pPr>
            <a:lvl3pPr marL="11430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3pPr>
            <a:lvl4pPr marL="16002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4pPr>
            <a:lvl5pPr marL="20574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9pPr>
          </a:lstStyle>
          <a:p>
            <a:pPr marL="0" indent="0">
              <a:spcBef>
                <a:spcPts val="0"/>
              </a:spcBef>
              <a:spcAft>
                <a:spcPts val="600"/>
              </a:spcAft>
              <a:buNone/>
            </a:pPr>
            <a:r>
              <a:rPr lang="en-US" sz="1800" b="1" dirty="0"/>
              <a:t>6. Monte Carlo Simulation Engine</a:t>
            </a:r>
          </a:p>
          <a:p>
            <a:pPr>
              <a:spcBef>
                <a:spcPts val="0"/>
              </a:spcBef>
              <a:spcAft>
                <a:spcPts val="600"/>
              </a:spcAft>
            </a:pPr>
            <a:r>
              <a:rPr lang="en-US" sz="1800" dirty="0"/>
              <a:t>Runs thousands of simulated price paths to estimate future price distributions, probability bands, and expected outcomes.</a:t>
            </a:r>
          </a:p>
          <a:p>
            <a:pPr marL="0" indent="0">
              <a:spcBef>
                <a:spcPts val="0"/>
              </a:spcBef>
              <a:spcAft>
                <a:spcPts val="600"/>
              </a:spcAft>
              <a:buNone/>
            </a:pPr>
            <a:endParaRPr lang="en-US" sz="1800" dirty="0"/>
          </a:p>
          <a:p>
            <a:pPr marL="0" indent="0">
              <a:spcBef>
                <a:spcPts val="0"/>
              </a:spcBef>
              <a:spcAft>
                <a:spcPts val="600"/>
              </a:spcAft>
              <a:buNone/>
            </a:pPr>
            <a:r>
              <a:rPr lang="en-US" sz="1800" b="1" dirty="0"/>
              <a:t>7. Risk Engine</a:t>
            </a:r>
          </a:p>
          <a:p>
            <a:pPr>
              <a:spcBef>
                <a:spcPts val="0"/>
              </a:spcBef>
              <a:spcAft>
                <a:spcPts val="600"/>
              </a:spcAft>
            </a:pPr>
            <a:r>
              <a:rPr lang="en-US" sz="1800" dirty="0"/>
              <a:t>Measures downside risk through:</a:t>
            </a:r>
          </a:p>
          <a:p>
            <a:pPr>
              <a:spcBef>
                <a:spcPts val="0"/>
              </a:spcBef>
              <a:spcAft>
                <a:spcPts val="600"/>
              </a:spcAft>
            </a:pPr>
            <a:r>
              <a:rPr lang="en-US" sz="1800" dirty="0" err="1"/>
              <a:t>VaR</a:t>
            </a:r>
            <a:r>
              <a:rPr lang="en-US" sz="1800" dirty="0"/>
              <a:t> </a:t>
            </a:r>
          </a:p>
          <a:p>
            <a:pPr>
              <a:spcBef>
                <a:spcPts val="0"/>
              </a:spcBef>
              <a:spcAft>
                <a:spcPts val="600"/>
              </a:spcAft>
            </a:pPr>
            <a:r>
              <a:rPr lang="en-US" sz="1800" dirty="0"/>
              <a:t>CVaR </a:t>
            </a:r>
          </a:p>
          <a:p>
            <a:pPr>
              <a:spcBef>
                <a:spcPts val="0"/>
              </a:spcBef>
              <a:spcAft>
                <a:spcPts val="600"/>
              </a:spcAft>
            </a:pPr>
            <a:r>
              <a:rPr lang="en-US" sz="1800" dirty="0"/>
              <a:t>Drawdowns </a:t>
            </a:r>
          </a:p>
          <a:p>
            <a:pPr>
              <a:spcBef>
                <a:spcPts val="0"/>
              </a:spcBef>
              <a:spcAft>
                <a:spcPts val="600"/>
              </a:spcAft>
            </a:pPr>
            <a:r>
              <a:rPr lang="en-US" sz="1800" dirty="0"/>
              <a:t>Stress testing </a:t>
            </a:r>
          </a:p>
          <a:p>
            <a:pPr marL="0" indent="0">
              <a:spcBef>
                <a:spcPts val="0"/>
              </a:spcBef>
              <a:spcAft>
                <a:spcPts val="600"/>
              </a:spcAft>
              <a:buNone/>
            </a:pPr>
            <a:r>
              <a:rPr lang="en-US" sz="1800" dirty="0"/>
              <a:t>to ensure robust stock evaluation.</a:t>
            </a:r>
          </a:p>
          <a:p>
            <a:pPr marL="0" indent="0">
              <a:spcBef>
                <a:spcPts val="0"/>
              </a:spcBef>
              <a:spcAft>
                <a:spcPts val="600"/>
              </a:spcAft>
              <a:buNone/>
            </a:pPr>
            <a:endParaRPr lang="en-US" sz="1800" dirty="0"/>
          </a:p>
          <a:p>
            <a:pPr marL="0" indent="0">
              <a:spcBef>
                <a:spcPts val="0"/>
              </a:spcBef>
              <a:spcAft>
                <a:spcPts val="600"/>
              </a:spcAft>
              <a:buNone/>
            </a:pPr>
            <a:r>
              <a:rPr lang="en-US" sz="1800" b="1" dirty="0"/>
              <a:t>8. Stock Ranking Engine</a:t>
            </a:r>
          </a:p>
          <a:p>
            <a:pPr>
              <a:spcBef>
                <a:spcPts val="0"/>
              </a:spcBef>
              <a:spcAft>
                <a:spcPts val="600"/>
              </a:spcAft>
            </a:pPr>
            <a:r>
              <a:rPr lang="en-US" sz="1800" dirty="0"/>
              <a:t>Combines statistical strength, technical momentum, simulation confidence, and risk-adjusted returns into a unified score.</a:t>
            </a:r>
          </a:p>
          <a:p>
            <a:pPr>
              <a:spcBef>
                <a:spcPts val="0"/>
              </a:spcBef>
              <a:spcAft>
                <a:spcPts val="600"/>
              </a:spcAft>
            </a:pPr>
            <a:endParaRPr lang="en-US" sz="1800" dirty="0"/>
          </a:p>
        </p:txBody>
      </p:sp>
      <p:sp>
        <p:nvSpPr>
          <p:cNvPr id="2" name="Content Placeholder 17">
            <a:extLst>
              <a:ext uri="{FF2B5EF4-FFF2-40B4-BE49-F238E27FC236}">
                <a16:creationId xmlns:a16="http://schemas.microsoft.com/office/drawing/2014/main" id="{7ED58BAB-D6ED-B31E-1371-DA8BDC03077C}"/>
              </a:ext>
            </a:extLst>
          </p:cNvPr>
          <p:cNvSpPr txBox="1">
            <a:spLocks/>
          </p:cNvSpPr>
          <p:nvPr/>
        </p:nvSpPr>
        <p:spPr>
          <a:xfrm>
            <a:off x="6389132" y="1445194"/>
            <a:ext cx="5431807" cy="5124569"/>
          </a:xfrm>
          <a:prstGeom prst="rect">
            <a:avLst/>
          </a:prstGeom>
        </p:spPr>
        <p:txBody>
          <a:bodyPr vert="horz" wrap="square" lIns="91440" tIns="45720" rIns="91440" bIns="45720" rtlCol="0">
            <a:noAutofit/>
          </a:bodyPr>
          <a:lstStyle>
            <a:lvl1pPr marL="2286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1pPr>
            <a:lvl2pPr marL="6858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2pPr>
            <a:lvl3pPr marL="11430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3pPr>
            <a:lvl4pPr marL="16002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4pPr>
            <a:lvl5pPr marL="20574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9pPr>
          </a:lstStyle>
          <a:p>
            <a:pPr marL="0" indent="0">
              <a:spcBef>
                <a:spcPts val="0"/>
              </a:spcBef>
              <a:spcAft>
                <a:spcPts val="600"/>
              </a:spcAft>
              <a:buNone/>
            </a:pPr>
            <a:r>
              <a:rPr lang="en-US" sz="1800" b="1" dirty="0"/>
              <a:t>9. Visualization Layer</a:t>
            </a:r>
          </a:p>
          <a:p>
            <a:pPr>
              <a:spcBef>
                <a:spcPts val="0"/>
              </a:spcBef>
              <a:spcAft>
                <a:spcPts val="600"/>
              </a:spcAft>
            </a:pPr>
            <a:r>
              <a:rPr lang="en-US" sz="1800" dirty="0"/>
              <a:t>Provides dashboards for:</a:t>
            </a:r>
          </a:p>
          <a:p>
            <a:pPr>
              <a:spcBef>
                <a:spcPts val="0"/>
              </a:spcBef>
              <a:spcAft>
                <a:spcPts val="600"/>
              </a:spcAft>
            </a:pPr>
            <a:r>
              <a:rPr lang="en-US" sz="1800" dirty="0"/>
              <a:t>Price trends </a:t>
            </a:r>
          </a:p>
          <a:p>
            <a:pPr>
              <a:spcBef>
                <a:spcPts val="0"/>
              </a:spcBef>
              <a:spcAft>
                <a:spcPts val="600"/>
              </a:spcAft>
            </a:pPr>
            <a:r>
              <a:rPr lang="en-US" sz="1800" dirty="0"/>
              <a:t>Indicator charts </a:t>
            </a:r>
          </a:p>
          <a:p>
            <a:pPr>
              <a:spcBef>
                <a:spcPts val="0"/>
              </a:spcBef>
              <a:spcAft>
                <a:spcPts val="600"/>
              </a:spcAft>
            </a:pPr>
            <a:r>
              <a:rPr lang="en-US" sz="1800" dirty="0"/>
              <a:t>Return distributions </a:t>
            </a:r>
          </a:p>
          <a:p>
            <a:pPr>
              <a:spcBef>
                <a:spcPts val="0"/>
              </a:spcBef>
              <a:spcAft>
                <a:spcPts val="600"/>
              </a:spcAft>
            </a:pPr>
            <a:r>
              <a:rPr lang="en-US" sz="1800" dirty="0"/>
              <a:t>Simulation paths </a:t>
            </a:r>
          </a:p>
          <a:p>
            <a:pPr>
              <a:spcBef>
                <a:spcPts val="0"/>
              </a:spcBef>
              <a:spcAft>
                <a:spcPts val="600"/>
              </a:spcAft>
            </a:pPr>
            <a:r>
              <a:rPr lang="en-US" sz="1800" dirty="0"/>
              <a:t>Risk dashboards </a:t>
            </a:r>
          </a:p>
          <a:p>
            <a:pPr marL="0" indent="0">
              <a:spcBef>
                <a:spcPts val="0"/>
              </a:spcBef>
              <a:spcAft>
                <a:spcPts val="600"/>
              </a:spcAft>
              <a:buNone/>
            </a:pPr>
            <a:r>
              <a:rPr lang="en-US" sz="1800"/>
              <a:t>through </a:t>
            </a:r>
            <a:r>
              <a:rPr lang="en-US" sz="1800" dirty="0" err="1"/>
              <a:t>Streamlit</a:t>
            </a:r>
            <a:r>
              <a:rPr lang="en-US" sz="1800" dirty="0"/>
              <a:t> and Excel.</a:t>
            </a:r>
          </a:p>
        </p:txBody>
      </p:sp>
      <p:cxnSp>
        <p:nvCxnSpPr>
          <p:cNvPr id="4" name="Straight Connector 3">
            <a:extLst>
              <a:ext uri="{FF2B5EF4-FFF2-40B4-BE49-F238E27FC236}">
                <a16:creationId xmlns:a16="http://schemas.microsoft.com/office/drawing/2014/main" id="{EC8B7FEF-D566-89BF-3E87-8BB960231C91}"/>
              </a:ext>
            </a:extLst>
          </p:cNvPr>
          <p:cNvCxnSpPr>
            <a:cxnSpLocks/>
          </p:cNvCxnSpPr>
          <p:nvPr/>
        </p:nvCxnSpPr>
        <p:spPr>
          <a:xfrm>
            <a:off x="6096000" y="1377819"/>
            <a:ext cx="0" cy="5124569"/>
          </a:xfrm>
          <a:prstGeom prst="line">
            <a:avLst/>
          </a:prstGeom>
          <a:ln w="9525"/>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4016718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306367-E6FF-77A0-3C94-4E7AB4965199}"/>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798DEE91-74E1-6CB6-76C5-D7B5C4DB8F0E}"/>
              </a:ext>
            </a:extLst>
          </p:cNvPr>
          <p:cNvSpPr>
            <a:spLocks noGrp="1"/>
          </p:cNvSpPr>
          <p:nvPr>
            <p:ph type="title"/>
          </p:nvPr>
        </p:nvSpPr>
        <p:spPr/>
        <p:txBody>
          <a:bodyPr>
            <a:noAutofit/>
          </a:bodyPr>
          <a:lstStyle/>
          <a:p>
            <a:r>
              <a:rPr lang="en-US" sz="3200" b="1" dirty="0"/>
              <a:t>Technology &amp; Architecture Principles</a:t>
            </a:r>
            <a:endParaRPr lang="en-US" sz="3200" b="1" dirty="0">
              <a:latin typeface="Segoe UI Light" panose="020B0502040204020203" pitchFamily="34" charset="0"/>
              <a:cs typeface="Segoe UI Light" panose="020B0502040204020203" pitchFamily="34" charset="0"/>
            </a:endParaRPr>
          </a:p>
        </p:txBody>
      </p:sp>
      <p:sp>
        <p:nvSpPr>
          <p:cNvPr id="38" name="Content Placeholder 17">
            <a:extLst>
              <a:ext uri="{FF2B5EF4-FFF2-40B4-BE49-F238E27FC236}">
                <a16:creationId xmlns:a16="http://schemas.microsoft.com/office/drawing/2014/main" id="{F2303017-F0EB-F6A9-B0BA-06505F15E238}"/>
              </a:ext>
            </a:extLst>
          </p:cNvPr>
          <p:cNvSpPr txBox="1">
            <a:spLocks/>
          </p:cNvSpPr>
          <p:nvPr/>
        </p:nvSpPr>
        <p:spPr>
          <a:xfrm>
            <a:off x="541610" y="1445195"/>
            <a:ext cx="5431807" cy="5124569"/>
          </a:xfrm>
          <a:prstGeom prst="rect">
            <a:avLst/>
          </a:prstGeom>
        </p:spPr>
        <p:txBody>
          <a:bodyPr vert="horz" wrap="square" lIns="91440" tIns="45720" rIns="91440" bIns="45720" rtlCol="0">
            <a:noAutofit/>
          </a:bodyPr>
          <a:lstStyle>
            <a:lvl1pPr marL="2286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1pPr>
            <a:lvl2pPr marL="6858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2pPr>
            <a:lvl3pPr marL="11430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3pPr>
            <a:lvl4pPr marL="16002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4pPr>
            <a:lvl5pPr marL="20574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9pPr>
          </a:lstStyle>
          <a:p>
            <a:pPr marL="0" indent="0">
              <a:spcBef>
                <a:spcPts val="0"/>
              </a:spcBef>
              <a:spcAft>
                <a:spcPts val="1200"/>
              </a:spcAft>
              <a:buNone/>
            </a:pPr>
            <a:r>
              <a:rPr lang="en-US" sz="1800" b="1" u="sng" dirty="0"/>
              <a:t>Technology Stack</a:t>
            </a:r>
          </a:p>
          <a:p>
            <a:pPr>
              <a:spcBef>
                <a:spcPts val="0"/>
              </a:spcBef>
              <a:spcAft>
                <a:spcPts val="1200"/>
              </a:spcAft>
              <a:buFont typeface="Wingdings" panose="05000000000000000000" pitchFamily="2" charset="2"/>
              <a:buChar char="§"/>
            </a:pPr>
            <a:r>
              <a:rPr lang="en-US" sz="1800" b="1" dirty="0"/>
              <a:t>Python</a:t>
            </a:r>
            <a:r>
              <a:rPr lang="en-US" sz="1800" dirty="0"/>
              <a:t> - Core development language</a:t>
            </a:r>
          </a:p>
          <a:p>
            <a:pPr>
              <a:spcBef>
                <a:spcPts val="0"/>
              </a:spcBef>
              <a:spcAft>
                <a:spcPts val="1200"/>
              </a:spcAft>
              <a:buFont typeface="Wingdings" panose="05000000000000000000" pitchFamily="2" charset="2"/>
              <a:buChar char="§"/>
            </a:pPr>
            <a:r>
              <a:rPr lang="en-US" sz="1800" b="1" dirty="0"/>
              <a:t>Zerodha Kite API </a:t>
            </a:r>
            <a:r>
              <a:rPr lang="en-US" sz="1800" dirty="0"/>
              <a:t>– Broker &amp; Market data integration</a:t>
            </a:r>
          </a:p>
          <a:p>
            <a:pPr>
              <a:spcBef>
                <a:spcPts val="0"/>
              </a:spcBef>
              <a:spcAft>
                <a:spcPts val="1200"/>
              </a:spcAft>
              <a:buFont typeface="Wingdings" panose="05000000000000000000" pitchFamily="2" charset="2"/>
              <a:buChar char="§"/>
            </a:pPr>
            <a:r>
              <a:rPr lang="en-US" sz="1800" b="1" dirty="0"/>
              <a:t>NumPy</a:t>
            </a:r>
            <a:r>
              <a:rPr lang="en-US" sz="1800" dirty="0"/>
              <a:t> - Numerical computing</a:t>
            </a:r>
          </a:p>
          <a:p>
            <a:pPr>
              <a:spcBef>
                <a:spcPts val="0"/>
              </a:spcBef>
              <a:spcAft>
                <a:spcPts val="1200"/>
              </a:spcAft>
              <a:buFont typeface="Wingdings" panose="05000000000000000000" pitchFamily="2" charset="2"/>
              <a:buChar char="§"/>
            </a:pPr>
            <a:r>
              <a:rPr lang="en-US" sz="1800" b="1" dirty="0"/>
              <a:t>Pandas</a:t>
            </a:r>
            <a:r>
              <a:rPr lang="en-US" sz="1800" dirty="0"/>
              <a:t> - Data handling</a:t>
            </a:r>
          </a:p>
          <a:p>
            <a:pPr>
              <a:spcBef>
                <a:spcPts val="0"/>
              </a:spcBef>
              <a:spcAft>
                <a:spcPts val="1200"/>
              </a:spcAft>
              <a:buFont typeface="Wingdings" panose="05000000000000000000" pitchFamily="2" charset="2"/>
              <a:buChar char="§"/>
            </a:pPr>
            <a:r>
              <a:rPr lang="en-US" sz="1800" b="1" dirty="0"/>
              <a:t>SciPy</a:t>
            </a:r>
            <a:r>
              <a:rPr lang="en-US" sz="1800" dirty="0"/>
              <a:t> - Statistical functions</a:t>
            </a:r>
          </a:p>
          <a:p>
            <a:pPr>
              <a:spcBef>
                <a:spcPts val="0"/>
              </a:spcBef>
              <a:spcAft>
                <a:spcPts val="1200"/>
              </a:spcAft>
              <a:buFont typeface="Wingdings" panose="05000000000000000000" pitchFamily="2" charset="2"/>
              <a:buChar char="§"/>
            </a:pPr>
            <a:r>
              <a:rPr lang="en-US" sz="1800" b="1" dirty="0" err="1"/>
              <a:t>StatsModels</a:t>
            </a:r>
            <a:r>
              <a:rPr lang="en-US" sz="1800" dirty="0"/>
              <a:t> - Advanced time-series models</a:t>
            </a:r>
          </a:p>
          <a:p>
            <a:pPr>
              <a:spcBef>
                <a:spcPts val="0"/>
              </a:spcBef>
              <a:spcAft>
                <a:spcPts val="1200"/>
              </a:spcAft>
              <a:buFont typeface="Wingdings" panose="05000000000000000000" pitchFamily="2" charset="2"/>
              <a:buChar char="§"/>
            </a:pPr>
            <a:r>
              <a:rPr lang="en-US" sz="1800" b="1" dirty="0"/>
              <a:t>TA-Lib / ta </a:t>
            </a:r>
            <a:r>
              <a:rPr lang="en-US" sz="1800" dirty="0"/>
              <a:t>- Technical indicators</a:t>
            </a:r>
          </a:p>
          <a:p>
            <a:pPr>
              <a:spcBef>
                <a:spcPts val="0"/>
              </a:spcBef>
              <a:spcAft>
                <a:spcPts val="1200"/>
              </a:spcAft>
              <a:buFont typeface="Wingdings" panose="05000000000000000000" pitchFamily="2" charset="2"/>
              <a:buChar char="§"/>
            </a:pPr>
            <a:r>
              <a:rPr lang="en-US" sz="1800" b="1" dirty="0"/>
              <a:t>Matplotlib / </a:t>
            </a:r>
            <a:r>
              <a:rPr lang="en-US" sz="1800" b="1" dirty="0" err="1"/>
              <a:t>Plotly</a:t>
            </a:r>
            <a:r>
              <a:rPr lang="en-US" sz="1800" b="1" dirty="0"/>
              <a:t> </a:t>
            </a:r>
            <a:r>
              <a:rPr lang="en-US" sz="1800" dirty="0"/>
              <a:t>– Visualization, Graphs</a:t>
            </a:r>
          </a:p>
          <a:p>
            <a:pPr>
              <a:spcBef>
                <a:spcPts val="0"/>
              </a:spcBef>
              <a:spcAft>
                <a:spcPts val="1200"/>
              </a:spcAft>
              <a:buFont typeface="Wingdings" panose="05000000000000000000" pitchFamily="2" charset="2"/>
              <a:buChar char="§"/>
            </a:pPr>
            <a:r>
              <a:rPr lang="en-US" sz="1800" b="1" dirty="0" err="1"/>
              <a:t>Streamlit</a:t>
            </a:r>
            <a:r>
              <a:rPr lang="en-US" sz="1800" dirty="0"/>
              <a:t> - Dashboard Web Frontend</a:t>
            </a:r>
          </a:p>
          <a:p>
            <a:pPr>
              <a:spcBef>
                <a:spcPts val="0"/>
              </a:spcBef>
              <a:spcAft>
                <a:spcPts val="1200"/>
              </a:spcAft>
              <a:buFont typeface="Wingdings" panose="05000000000000000000" pitchFamily="2" charset="2"/>
              <a:buChar char="§"/>
            </a:pPr>
            <a:r>
              <a:rPr lang="en-US" sz="1800" b="1" dirty="0"/>
              <a:t>MS Excel, </a:t>
            </a:r>
            <a:r>
              <a:rPr lang="en-US" sz="1800" b="1" dirty="0" err="1"/>
              <a:t>XLWings</a:t>
            </a:r>
            <a:r>
              <a:rPr lang="en-US" sz="1800" b="1" dirty="0"/>
              <a:t> </a:t>
            </a:r>
            <a:r>
              <a:rPr lang="en-US" sz="1800" dirty="0"/>
              <a:t>- Visualization</a:t>
            </a:r>
          </a:p>
          <a:p>
            <a:pPr>
              <a:spcBef>
                <a:spcPts val="0"/>
              </a:spcBef>
              <a:spcAft>
                <a:spcPts val="1200"/>
              </a:spcAft>
              <a:buFont typeface="Wingdings" panose="05000000000000000000" pitchFamily="2" charset="2"/>
              <a:buChar char="§"/>
            </a:pPr>
            <a:r>
              <a:rPr lang="en-US" sz="1800" b="1" dirty="0" err="1"/>
              <a:t>pytest</a:t>
            </a:r>
            <a:r>
              <a:rPr lang="en-US" sz="1800" dirty="0"/>
              <a:t> – Testing framework</a:t>
            </a:r>
          </a:p>
        </p:txBody>
      </p:sp>
      <p:sp>
        <p:nvSpPr>
          <p:cNvPr id="2" name="Content Placeholder 17">
            <a:extLst>
              <a:ext uri="{FF2B5EF4-FFF2-40B4-BE49-F238E27FC236}">
                <a16:creationId xmlns:a16="http://schemas.microsoft.com/office/drawing/2014/main" id="{D5305CA3-D81A-F808-EC02-16CACBD62643}"/>
              </a:ext>
            </a:extLst>
          </p:cNvPr>
          <p:cNvSpPr txBox="1">
            <a:spLocks/>
          </p:cNvSpPr>
          <p:nvPr/>
        </p:nvSpPr>
        <p:spPr>
          <a:xfrm>
            <a:off x="6389132" y="1445194"/>
            <a:ext cx="5431807" cy="5124569"/>
          </a:xfrm>
          <a:prstGeom prst="rect">
            <a:avLst/>
          </a:prstGeom>
        </p:spPr>
        <p:txBody>
          <a:bodyPr vert="horz" wrap="square" lIns="91440" tIns="45720" rIns="91440" bIns="45720" rtlCol="0">
            <a:noAutofit/>
          </a:bodyPr>
          <a:lstStyle>
            <a:lvl1pPr marL="2286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1pPr>
            <a:lvl2pPr marL="6858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2pPr>
            <a:lvl3pPr marL="11430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3pPr>
            <a:lvl4pPr marL="16002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4pPr>
            <a:lvl5pPr marL="20574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800" b="1" u="sng" dirty="0"/>
              <a:t>Architecture Design Principles</a:t>
            </a:r>
          </a:p>
          <a:p>
            <a:pPr marL="0" indent="0">
              <a:buNone/>
            </a:pPr>
            <a:r>
              <a:rPr lang="en-US" sz="1800" dirty="0"/>
              <a:t>This architecture will follow:</a:t>
            </a:r>
          </a:p>
          <a:p>
            <a:pPr>
              <a:buFont typeface="Wingdings" panose="05000000000000000000" pitchFamily="2" charset="2"/>
              <a:buChar char="§"/>
            </a:pPr>
            <a:r>
              <a:rPr lang="en-US" sz="1800" dirty="0"/>
              <a:t>SOLID principles </a:t>
            </a:r>
          </a:p>
          <a:p>
            <a:pPr>
              <a:buFont typeface="Wingdings" panose="05000000000000000000" pitchFamily="2" charset="2"/>
              <a:buChar char="§"/>
            </a:pPr>
            <a:r>
              <a:rPr lang="en-US" sz="1800" dirty="0"/>
              <a:t>Plug-and-play model architecture </a:t>
            </a:r>
          </a:p>
          <a:p>
            <a:pPr>
              <a:buFont typeface="Wingdings" panose="05000000000000000000" pitchFamily="2" charset="2"/>
              <a:buChar char="§"/>
            </a:pPr>
            <a:r>
              <a:rPr lang="en-US" sz="1800" dirty="0"/>
              <a:t>Broker abstraction </a:t>
            </a:r>
          </a:p>
          <a:p>
            <a:pPr>
              <a:buFont typeface="Wingdings" panose="05000000000000000000" pitchFamily="2" charset="2"/>
              <a:buChar char="§"/>
            </a:pPr>
            <a:r>
              <a:rPr lang="en-US" sz="1800" dirty="0"/>
              <a:t>Expandable stock universe </a:t>
            </a:r>
          </a:p>
          <a:p>
            <a:pPr>
              <a:buFont typeface="Wingdings" panose="05000000000000000000" pitchFamily="2" charset="2"/>
              <a:buChar char="§"/>
            </a:pPr>
            <a:r>
              <a:rPr lang="en-US" sz="1800" dirty="0"/>
              <a:t>Testability </a:t>
            </a:r>
          </a:p>
          <a:p>
            <a:pPr>
              <a:buFont typeface="Wingdings" panose="05000000000000000000" pitchFamily="2" charset="2"/>
              <a:buChar char="§"/>
            </a:pPr>
            <a:r>
              <a:rPr lang="en-US" sz="1800" dirty="0"/>
              <a:t>Scalability &amp; Performance</a:t>
            </a:r>
          </a:p>
          <a:p>
            <a:pPr>
              <a:buFont typeface="Wingdings" panose="05000000000000000000" pitchFamily="2" charset="2"/>
              <a:buChar char="§"/>
            </a:pPr>
            <a:r>
              <a:rPr lang="en-US" sz="1800" dirty="0"/>
              <a:t>Security</a:t>
            </a:r>
          </a:p>
        </p:txBody>
      </p:sp>
      <p:cxnSp>
        <p:nvCxnSpPr>
          <p:cNvPr id="4" name="Straight Connector 3">
            <a:extLst>
              <a:ext uri="{FF2B5EF4-FFF2-40B4-BE49-F238E27FC236}">
                <a16:creationId xmlns:a16="http://schemas.microsoft.com/office/drawing/2014/main" id="{BAD20BE2-7EBF-46BF-B03A-D7A12814D960}"/>
              </a:ext>
            </a:extLst>
          </p:cNvPr>
          <p:cNvCxnSpPr>
            <a:cxnSpLocks/>
          </p:cNvCxnSpPr>
          <p:nvPr/>
        </p:nvCxnSpPr>
        <p:spPr>
          <a:xfrm>
            <a:off x="6096000" y="1377819"/>
            <a:ext cx="0" cy="5124569"/>
          </a:xfrm>
          <a:prstGeom prst="line">
            <a:avLst/>
          </a:prstGeom>
          <a:ln w="9525"/>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0342533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47B7F3-5495-4C2A-7D74-3E37CD7AED21}"/>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9DDBAF7D-624C-E353-51A8-0662462A4C46}"/>
              </a:ext>
            </a:extLst>
          </p:cNvPr>
          <p:cNvSpPr>
            <a:spLocks noGrp="1"/>
          </p:cNvSpPr>
          <p:nvPr>
            <p:ph type="title"/>
          </p:nvPr>
        </p:nvSpPr>
        <p:spPr/>
        <p:txBody>
          <a:bodyPr>
            <a:noAutofit/>
          </a:bodyPr>
          <a:lstStyle/>
          <a:p>
            <a:r>
              <a:rPr lang="en-US" sz="3200" b="1" dirty="0"/>
              <a:t>Key Strengths of the Project</a:t>
            </a:r>
            <a:endParaRPr lang="en-US" sz="3200" b="1" dirty="0">
              <a:latin typeface="Segoe UI Light" panose="020B0502040204020203" pitchFamily="34" charset="0"/>
              <a:cs typeface="Segoe UI Light" panose="020B0502040204020203" pitchFamily="34" charset="0"/>
            </a:endParaRPr>
          </a:p>
        </p:txBody>
      </p:sp>
      <p:sp>
        <p:nvSpPr>
          <p:cNvPr id="38" name="Content Placeholder 17">
            <a:extLst>
              <a:ext uri="{FF2B5EF4-FFF2-40B4-BE49-F238E27FC236}">
                <a16:creationId xmlns:a16="http://schemas.microsoft.com/office/drawing/2014/main" id="{FA618C61-2DC2-2A5D-5276-76EF02A1ECCE}"/>
              </a:ext>
            </a:extLst>
          </p:cNvPr>
          <p:cNvSpPr txBox="1">
            <a:spLocks/>
          </p:cNvSpPr>
          <p:nvPr/>
        </p:nvSpPr>
        <p:spPr>
          <a:xfrm>
            <a:off x="541610" y="1445195"/>
            <a:ext cx="11027538" cy="5124569"/>
          </a:xfrm>
          <a:prstGeom prst="rect">
            <a:avLst/>
          </a:prstGeom>
        </p:spPr>
        <p:txBody>
          <a:bodyPr vert="horz" wrap="square" lIns="91440" tIns="45720" rIns="91440" bIns="45720" rtlCol="0">
            <a:noAutofit/>
          </a:bodyPr>
          <a:lstStyle>
            <a:lvl1pPr marL="2286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1pPr>
            <a:lvl2pPr marL="6858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2pPr>
            <a:lvl3pPr marL="11430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3pPr>
            <a:lvl4pPr marL="16002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4pPr>
            <a:lvl5pPr marL="20574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9pPr>
          </a:lstStyle>
          <a:p>
            <a:pPr>
              <a:spcBef>
                <a:spcPts val="0"/>
              </a:spcBef>
              <a:spcAft>
                <a:spcPts val="1800"/>
              </a:spcAft>
            </a:pPr>
            <a:r>
              <a:rPr lang="en-US" sz="2400" dirty="0"/>
              <a:t>Modular and production-ready architecture</a:t>
            </a:r>
          </a:p>
          <a:p>
            <a:pPr>
              <a:spcBef>
                <a:spcPts val="0"/>
              </a:spcBef>
              <a:spcAft>
                <a:spcPts val="1800"/>
              </a:spcAft>
            </a:pPr>
            <a:r>
              <a:rPr lang="en-US" sz="2400" dirty="0"/>
              <a:t>Easy addition of new stocks, brokers, and models</a:t>
            </a:r>
          </a:p>
          <a:p>
            <a:pPr>
              <a:spcBef>
                <a:spcPts val="0"/>
              </a:spcBef>
              <a:spcAft>
                <a:spcPts val="1800"/>
              </a:spcAft>
            </a:pPr>
            <a:r>
              <a:rPr lang="en-US" sz="2400" dirty="0"/>
              <a:t>Strong focus on mathematical and statistical rigor</a:t>
            </a:r>
          </a:p>
          <a:p>
            <a:pPr>
              <a:spcBef>
                <a:spcPts val="0"/>
              </a:spcBef>
              <a:spcAft>
                <a:spcPts val="1800"/>
              </a:spcAft>
            </a:pPr>
            <a:r>
              <a:rPr lang="en-US" sz="2400" dirty="0"/>
              <a:t>Physics-based experimentation framework</a:t>
            </a:r>
          </a:p>
          <a:p>
            <a:pPr>
              <a:spcBef>
                <a:spcPts val="0"/>
              </a:spcBef>
              <a:spcAft>
                <a:spcPts val="1800"/>
              </a:spcAft>
            </a:pPr>
            <a:r>
              <a:rPr lang="en-US" sz="2400" dirty="0"/>
              <a:t>Simulation-driven stock forecasting</a:t>
            </a:r>
          </a:p>
          <a:p>
            <a:pPr>
              <a:spcBef>
                <a:spcPts val="0"/>
              </a:spcBef>
              <a:spcAft>
                <a:spcPts val="1800"/>
              </a:spcAft>
            </a:pPr>
            <a:r>
              <a:rPr lang="en-US" sz="2400" dirty="0"/>
              <a:t>Research-grade extensibility</a:t>
            </a:r>
          </a:p>
          <a:p>
            <a:pPr marL="0" indent="0">
              <a:spcBef>
                <a:spcPts val="0"/>
              </a:spcBef>
              <a:spcAft>
                <a:spcPts val="1800"/>
              </a:spcAft>
              <a:buNone/>
            </a:pPr>
            <a:endParaRPr lang="en-US" sz="2000" dirty="0"/>
          </a:p>
        </p:txBody>
      </p:sp>
    </p:spTree>
    <p:extLst>
      <p:ext uri="{BB962C8B-B14F-4D97-AF65-F5344CB8AC3E}">
        <p14:creationId xmlns:p14="http://schemas.microsoft.com/office/powerpoint/2010/main" val="194329766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92BAF1-FA03-6182-7066-32EDA2AEB496}"/>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0107D71E-C828-CC3F-BFE5-150A180F097A}"/>
              </a:ext>
            </a:extLst>
          </p:cNvPr>
          <p:cNvSpPr>
            <a:spLocks noGrp="1"/>
          </p:cNvSpPr>
          <p:nvPr>
            <p:ph type="title"/>
          </p:nvPr>
        </p:nvSpPr>
        <p:spPr/>
        <p:txBody>
          <a:bodyPr>
            <a:noAutofit/>
          </a:bodyPr>
          <a:lstStyle/>
          <a:p>
            <a:r>
              <a:rPr lang="en-US" sz="3200" b="1" dirty="0"/>
              <a:t>Expected Outcome</a:t>
            </a:r>
            <a:endParaRPr lang="en-US" sz="3200" b="1" dirty="0">
              <a:latin typeface="Segoe UI Light" panose="020B0502040204020203" pitchFamily="34" charset="0"/>
              <a:cs typeface="Segoe UI Light" panose="020B0502040204020203" pitchFamily="34" charset="0"/>
            </a:endParaRPr>
          </a:p>
        </p:txBody>
      </p:sp>
      <p:sp>
        <p:nvSpPr>
          <p:cNvPr id="38" name="Content Placeholder 17">
            <a:extLst>
              <a:ext uri="{FF2B5EF4-FFF2-40B4-BE49-F238E27FC236}">
                <a16:creationId xmlns:a16="http://schemas.microsoft.com/office/drawing/2014/main" id="{D176F28E-4792-43DB-D976-0164A6D3D2CD}"/>
              </a:ext>
            </a:extLst>
          </p:cNvPr>
          <p:cNvSpPr txBox="1">
            <a:spLocks/>
          </p:cNvSpPr>
          <p:nvPr/>
        </p:nvSpPr>
        <p:spPr>
          <a:xfrm>
            <a:off x="541610" y="1445195"/>
            <a:ext cx="11027538" cy="5124569"/>
          </a:xfrm>
          <a:prstGeom prst="rect">
            <a:avLst/>
          </a:prstGeom>
        </p:spPr>
        <p:txBody>
          <a:bodyPr vert="horz" wrap="square" lIns="91440" tIns="45720" rIns="91440" bIns="45720" rtlCol="0">
            <a:noAutofit/>
          </a:bodyPr>
          <a:lstStyle>
            <a:lvl1pPr marL="2286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1pPr>
            <a:lvl2pPr marL="6858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2pPr>
            <a:lvl3pPr marL="11430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3pPr>
            <a:lvl4pPr marL="16002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4pPr>
            <a:lvl5pPr marL="20574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000" dirty="0"/>
              <a:t>By the end of development, </a:t>
            </a:r>
            <a:r>
              <a:rPr lang="en-US" sz="2000" dirty="0" err="1"/>
              <a:t>QuantSim</a:t>
            </a:r>
            <a:r>
              <a:rPr lang="en-US" sz="2000" dirty="0"/>
              <a:t> system will function as:</a:t>
            </a:r>
          </a:p>
          <a:p>
            <a:r>
              <a:rPr lang="en-US" sz="2000" dirty="0"/>
              <a:t>A </a:t>
            </a:r>
            <a:r>
              <a:rPr lang="en-US" sz="2000" b="1" dirty="0"/>
              <a:t>stock screening engine</a:t>
            </a:r>
            <a:r>
              <a:rPr lang="en-US" sz="2000" dirty="0"/>
              <a:t> </a:t>
            </a:r>
          </a:p>
          <a:p>
            <a:r>
              <a:rPr lang="en-US" sz="2000" dirty="0"/>
              <a:t>A </a:t>
            </a:r>
            <a:r>
              <a:rPr lang="en-US" sz="2000" b="1" dirty="0"/>
              <a:t>probabilistic forecasting engine</a:t>
            </a:r>
            <a:r>
              <a:rPr lang="en-US" sz="2000" dirty="0"/>
              <a:t> </a:t>
            </a:r>
          </a:p>
          <a:p>
            <a:r>
              <a:rPr lang="en-US" sz="2000" dirty="0"/>
              <a:t>A </a:t>
            </a:r>
            <a:r>
              <a:rPr lang="en-US" sz="2000" b="1" dirty="0"/>
              <a:t>risk intelligence system</a:t>
            </a:r>
            <a:r>
              <a:rPr lang="en-US" sz="2000" dirty="0"/>
              <a:t> </a:t>
            </a:r>
          </a:p>
          <a:p>
            <a:r>
              <a:rPr lang="en-US" sz="2000" dirty="0"/>
              <a:t>A </a:t>
            </a:r>
            <a:r>
              <a:rPr lang="en-US" sz="2000" b="1" dirty="0"/>
              <a:t>quantitative research platform</a:t>
            </a:r>
            <a:r>
              <a:rPr lang="en-US" sz="2000" dirty="0"/>
              <a:t> </a:t>
            </a:r>
          </a:p>
          <a:p>
            <a:r>
              <a:rPr lang="en-US" sz="2000" dirty="0"/>
              <a:t>A </a:t>
            </a:r>
            <a:r>
              <a:rPr lang="en-US" sz="2000" b="1" dirty="0"/>
              <a:t>simulation laboratory for financial experimentation</a:t>
            </a:r>
            <a:r>
              <a:rPr lang="en-US" sz="2000" dirty="0"/>
              <a:t> </a:t>
            </a:r>
          </a:p>
          <a:p>
            <a:pPr marL="0" indent="0">
              <a:buNone/>
            </a:pPr>
            <a:r>
              <a:rPr lang="en-US" sz="2000" dirty="0"/>
              <a:t>In short, it is designed to bridge the gap between </a:t>
            </a:r>
            <a:r>
              <a:rPr lang="en-US" sz="2000" b="1" dirty="0"/>
              <a:t>traditional stock analysis</a:t>
            </a:r>
            <a:r>
              <a:rPr lang="en-US" sz="2000" dirty="0"/>
              <a:t> and </a:t>
            </a:r>
            <a:r>
              <a:rPr lang="en-US" sz="2000" b="1" dirty="0"/>
              <a:t>institutional quantitative research systems</a:t>
            </a:r>
            <a:r>
              <a:rPr lang="en-US" sz="2000" dirty="0"/>
              <a:t>, making it a strong platform for research, and advanced trading strategy development.</a:t>
            </a:r>
          </a:p>
        </p:txBody>
      </p:sp>
    </p:spTree>
    <p:extLst>
      <p:ext uri="{BB962C8B-B14F-4D97-AF65-F5344CB8AC3E}">
        <p14:creationId xmlns:p14="http://schemas.microsoft.com/office/powerpoint/2010/main" val="426978628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25AB47-D6BC-A5F2-289D-E4E8524A5A4C}"/>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A07B2F20-E239-605E-44DD-E7A3B29D760A}"/>
              </a:ext>
            </a:extLst>
          </p:cNvPr>
          <p:cNvSpPr>
            <a:spLocks noGrp="1"/>
          </p:cNvSpPr>
          <p:nvPr>
            <p:ph type="title"/>
          </p:nvPr>
        </p:nvSpPr>
        <p:spPr/>
        <p:txBody>
          <a:bodyPr>
            <a:noAutofit/>
          </a:bodyPr>
          <a:lstStyle/>
          <a:p>
            <a:r>
              <a:rPr lang="en-US" sz="3200" b="1" dirty="0"/>
              <a:t>Future Expansion Possibilities</a:t>
            </a:r>
            <a:endParaRPr lang="en-US" sz="3200" b="1" dirty="0">
              <a:latin typeface="Segoe UI Light" panose="020B0502040204020203" pitchFamily="34" charset="0"/>
              <a:cs typeface="Segoe UI Light" panose="020B0502040204020203" pitchFamily="34" charset="0"/>
            </a:endParaRPr>
          </a:p>
        </p:txBody>
      </p:sp>
      <p:sp>
        <p:nvSpPr>
          <p:cNvPr id="38" name="Content Placeholder 17">
            <a:extLst>
              <a:ext uri="{FF2B5EF4-FFF2-40B4-BE49-F238E27FC236}">
                <a16:creationId xmlns:a16="http://schemas.microsoft.com/office/drawing/2014/main" id="{FC06D7E6-B1C2-E492-6F68-09027558C84C}"/>
              </a:ext>
            </a:extLst>
          </p:cNvPr>
          <p:cNvSpPr txBox="1">
            <a:spLocks/>
          </p:cNvSpPr>
          <p:nvPr/>
        </p:nvSpPr>
        <p:spPr>
          <a:xfrm>
            <a:off x="541610" y="1445195"/>
            <a:ext cx="5431807" cy="5124569"/>
          </a:xfrm>
          <a:prstGeom prst="rect">
            <a:avLst/>
          </a:prstGeom>
        </p:spPr>
        <p:txBody>
          <a:bodyPr vert="horz" wrap="square" lIns="91440" tIns="45720" rIns="91440" bIns="45720" rtlCol="0">
            <a:noAutofit/>
          </a:bodyPr>
          <a:lstStyle>
            <a:lvl1pPr marL="2286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1pPr>
            <a:lvl2pPr marL="6858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2pPr>
            <a:lvl3pPr marL="11430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3pPr>
            <a:lvl4pPr marL="16002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4pPr>
            <a:lvl5pPr marL="20574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9pPr>
          </a:lstStyle>
          <a:p>
            <a:pPr>
              <a:spcBef>
                <a:spcPts val="0"/>
              </a:spcBef>
              <a:spcAft>
                <a:spcPts val="600"/>
              </a:spcAft>
              <a:buFont typeface="Arial" panose="020B0604020202020204" pitchFamily="34" charset="0"/>
              <a:buNone/>
            </a:pPr>
            <a:r>
              <a:rPr lang="en-US" sz="2000" dirty="0"/>
              <a:t>Our current system covers:</a:t>
            </a:r>
          </a:p>
          <a:p>
            <a:pPr>
              <a:spcBef>
                <a:spcPts val="0"/>
              </a:spcBef>
              <a:spcAft>
                <a:spcPts val="600"/>
              </a:spcAft>
              <a:buFont typeface="Wingdings" panose="05000000000000000000" pitchFamily="2" charset="2"/>
              <a:buChar char="§"/>
            </a:pPr>
            <a:r>
              <a:rPr lang="en-US" sz="2000" dirty="0"/>
              <a:t>statistical analysis </a:t>
            </a:r>
          </a:p>
          <a:p>
            <a:pPr>
              <a:spcBef>
                <a:spcPts val="0"/>
              </a:spcBef>
              <a:spcAft>
                <a:spcPts val="600"/>
              </a:spcAft>
              <a:buFont typeface="Wingdings" panose="05000000000000000000" pitchFamily="2" charset="2"/>
              <a:buChar char="§"/>
            </a:pPr>
            <a:r>
              <a:rPr lang="en-US" sz="2000" dirty="0"/>
              <a:t>stochastic simulations </a:t>
            </a:r>
          </a:p>
          <a:p>
            <a:pPr>
              <a:spcBef>
                <a:spcPts val="0"/>
              </a:spcBef>
              <a:spcAft>
                <a:spcPts val="600"/>
              </a:spcAft>
              <a:buFont typeface="Wingdings" panose="05000000000000000000" pitchFamily="2" charset="2"/>
              <a:buChar char="§"/>
            </a:pPr>
            <a:r>
              <a:rPr lang="en-US" sz="2000" dirty="0"/>
              <a:t>technical indicators </a:t>
            </a:r>
          </a:p>
          <a:p>
            <a:pPr>
              <a:spcBef>
                <a:spcPts val="0"/>
              </a:spcBef>
              <a:spcAft>
                <a:spcPts val="600"/>
              </a:spcAft>
              <a:buFont typeface="Wingdings" panose="05000000000000000000" pitchFamily="2" charset="2"/>
              <a:buChar char="§"/>
            </a:pPr>
            <a:r>
              <a:rPr lang="en-US" sz="2000" dirty="0"/>
              <a:t>Monte-Carlo </a:t>
            </a:r>
          </a:p>
          <a:p>
            <a:pPr>
              <a:spcBef>
                <a:spcPts val="0"/>
              </a:spcBef>
              <a:spcAft>
                <a:spcPts val="600"/>
              </a:spcAft>
              <a:buFont typeface="Wingdings" panose="05000000000000000000" pitchFamily="2" charset="2"/>
              <a:buChar char="§"/>
            </a:pPr>
            <a:r>
              <a:rPr lang="en-US" sz="2000" dirty="0"/>
              <a:t>risk engines</a:t>
            </a:r>
          </a:p>
          <a:p>
            <a:pPr>
              <a:spcBef>
                <a:spcPts val="0"/>
              </a:spcBef>
              <a:spcAft>
                <a:spcPts val="600"/>
              </a:spcAft>
              <a:buFont typeface="Arial" panose="020B0604020202020204" pitchFamily="34" charset="0"/>
              <a:buChar char="•"/>
            </a:pPr>
            <a:endParaRPr lang="en-US" sz="2000" dirty="0"/>
          </a:p>
          <a:p>
            <a:pPr marL="0" indent="0">
              <a:spcBef>
                <a:spcPts val="0"/>
              </a:spcBef>
              <a:spcAft>
                <a:spcPts val="600"/>
              </a:spcAft>
              <a:buFont typeface="Arial" panose="020B0604020202020204" pitchFamily="34" charset="0"/>
              <a:buNone/>
            </a:pPr>
            <a:r>
              <a:rPr lang="en-US" sz="2000" dirty="0" err="1"/>
              <a:t>QuantSim</a:t>
            </a:r>
            <a:r>
              <a:rPr lang="en-US" sz="2000" dirty="0"/>
              <a:t> In the next stage, it can transition into institutional-grade quantitative research platform, where finance intersects with:</a:t>
            </a:r>
          </a:p>
          <a:p>
            <a:pPr>
              <a:spcBef>
                <a:spcPts val="0"/>
              </a:spcBef>
              <a:spcAft>
                <a:spcPts val="600"/>
              </a:spcAft>
              <a:buFont typeface="Wingdings" panose="05000000000000000000" pitchFamily="2" charset="2"/>
              <a:buChar char="§"/>
            </a:pPr>
            <a:r>
              <a:rPr lang="en-US" sz="2000" dirty="0"/>
              <a:t>nonlinear physics </a:t>
            </a:r>
          </a:p>
          <a:p>
            <a:pPr>
              <a:spcBef>
                <a:spcPts val="0"/>
              </a:spcBef>
              <a:spcAft>
                <a:spcPts val="600"/>
              </a:spcAft>
              <a:buFont typeface="Wingdings" panose="05000000000000000000" pitchFamily="2" charset="2"/>
              <a:buChar char="§"/>
            </a:pPr>
            <a:r>
              <a:rPr lang="en-US" sz="2000" dirty="0"/>
              <a:t>information theory </a:t>
            </a:r>
          </a:p>
          <a:p>
            <a:pPr>
              <a:spcBef>
                <a:spcPts val="0"/>
              </a:spcBef>
              <a:spcAft>
                <a:spcPts val="600"/>
              </a:spcAft>
              <a:buFont typeface="Wingdings" panose="05000000000000000000" pitchFamily="2" charset="2"/>
              <a:buChar char="§"/>
            </a:pPr>
            <a:r>
              <a:rPr lang="en-US" sz="2000" dirty="0"/>
              <a:t>complexity science </a:t>
            </a:r>
          </a:p>
          <a:p>
            <a:pPr>
              <a:spcBef>
                <a:spcPts val="0"/>
              </a:spcBef>
              <a:spcAft>
                <a:spcPts val="600"/>
              </a:spcAft>
              <a:buFont typeface="Wingdings" panose="05000000000000000000" pitchFamily="2" charset="2"/>
              <a:buChar char="§"/>
            </a:pPr>
            <a:r>
              <a:rPr lang="en-US" sz="2000" dirty="0"/>
              <a:t>machine learning </a:t>
            </a:r>
          </a:p>
          <a:p>
            <a:pPr>
              <a:spcBef>
                <a:spcPts val="0"/>
              </a:spcBef>
              <a:spcAft>
                <a:spcPts val="600"/>
              </a:spcAft>
              <a:buFont typeface="Wingdings" panose="05000000000000000000" pitchFamily="2" charset="2"/>
              <a:buChar char="§"/>
            </a:pPr>
            <a:r>
              <a:rPr lang="en-US" sz="2000" dirty="0"/>
              <a:t>probabilistic modeling </a:t>
            </a:r>
          </a:p>
          <a:p>
            <a:pPr>
              <a:spcBef>
                <a:spcPts val="0"/>
              </a:spcBef>
              <a:spcAft>
                <a:spcPts val="600"/>
              </a:spcAft>
              <a:buFont typeface="Wingdings" panose="05000000000000000000" pitchFamily="2" charset="2"/>
              <a:buChar char="§"/>
            </a:pPr>
            <a:r>
              <a:rPr lang="en-US" sz="2000" dirty="0"/>
              <a:t>market microstructure</a:t>
            </a:r>
          </a:p>
          <a:p>
            <a:pPr>
              <a:spcBef>
                <a:spcPts val="0"/>
              </a:spcBef>
              <a:spcAft>
                <a:spcPts val="600"/>
              </a:spcAft>
              <a:buFont typeface="Arial" panose="020B0604020202020204" pitchFamily="34" charset="0"/>
              <a:buChar char="•"/>
            </a:pPr>
            <a:endParaRPr lang="en-US" sz="2000" dirty="0"/>
          </a:p>
          <a:p>
            <a:pPr marL="0" indent="0">
              <a:spcBef>
                <a:spcPts val="0"/>
              </a:spcBef>
              <a:spcAft>
                <a:spcPts val="600"/>
              </a:spcAft>
              <a:buFont typeface="Arial" panose="020B0604020202020204" pitchFamily="34" charset="0"/>
              <a:buNone/>
            </a:pPr>
            <a:endParaRPr lang="en-US" sz="2000" dirty="0"/>
          </a:p>
          <a:p>
            <a:pPr>
              <a:spcBef>
                <a:spcPts val="0"/>
              </a:spcBef>
              <a:spcAft>
                <a:spcPts val="600"/>
              </a:spcAft>
            </a:pPr>
            <a:endParaRPr lang="en-US" sz="2000" dirty="0"/>
          </a:p>
        </p:txBody>
      </p:sp>
      <p:sp>
        <p:nvSpPr>
          <p:cNvPr id="2" name="Content Placeholder 17">
            <a:extLst>
              <a:ext uri="{FF2B5EF4-FFF2-40B4-BE49-F238E27FC236}">
                <a16:creationId xmlns:a16="http://schemas.microsoft.com/office/drawing/2014/main" id="{1D12FC8E-D989-1F46-6A2B-40B77305E47D}"/>
              </a:ext>
            </a:extLst>
          </p:cNvPr>
          <p:cNvSpPr txBox="1">
            <a:spLocks/>
          </p:cNvSpPr>
          <p:nvPr/>
        </p:nvSpPr>
        <p:spPr>
          <a:xfrm>
            <a:off x="6389132" y="1445194"/>
            <a:ext cx="5431807" cy="5124569"/>
          </a:xfrm>
          <a:prstGeom prst="rect">
            <a:avLst/>
          </a:prstGeom>
        </p:spPr>
        <p:txBody>
          <a:bodyPr vert="horz" wrap="square" lIns="91440" tIns="45720" rIns="91440" bIns="45720" rtlCol="0">
            <a:noAutofit/>
          </a:bodyPr>
          <a:lstStyle>
            <a:lvl1pPr marL="2286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1pPr>
            <a:lvl2pPr marL="6858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2pPr>
            <a:lvl3pPr marL="11430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3pPr>
            <a:lvl4pPr marL="16002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4pPr>
            <a:lvl5pPr marL="20574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9pPr>
          </a:lstStyle>
          <a:p>
            <a:pPr marL="0" indent="0">
              <a:spcBef>
                <a:spcPts val="0"/>
              </a:spcBef>
              <a:spcAft>
                <a:spcPts val="1200"/>
              </a:spcAft>
              <a:buNone/>
            </a:pPr>
            <a:r>
              <a:rPr lang="en-US" sz="1800" dirty="0" err="1"/>
              <a:t>QuantSim</a:t>
            </a:r>
            <a:r>
              <a:rPr lang="en-US" sz="1800" dirty="0"/>
              <a:t> can further evolve into more complex capabilities:</a:t>
            </a:r>
          </a:p>
          <a:p>
            <a:pPr>
              <a:spcBef>
                <a:spcPts val="0"/>
              </a:spcBef>
              <a:spcAft>
                <a:spcPts val="1200"/>
              </a:spcAft>
              <a:buFont typeface="Wingdings" panose="05000000000000000000" pitchFamily="2" charset="2"/>
              <a:buChar char="§"/>
            </a:pPr>
            <a:r>
              <a:rPr lang="en-US" sz="1800" dirty="0"/>
              <a:t>Options analytics (Greeks, IV surface) </a:t>
            </a:r>
          </a:p>
          <a:p>
            <a:pPr>
              <a:spcBef>
                <a:spcPts val="0"/>
              </a:spcBef>
              <a:spcAft>
                <a:spcPts val="1200"/>
              </a:spcAft>
              <a:buFont typeface="Wingdings" panose="05000000000000000000" pitchFamily="2" charset="2"/>
              <a:buChar char="§"/>
            </a:pPr>
            <a:r>
              <a:rPr lang="en-US" sz="1800" dirty="0"/>
              <a:t>Ornstein-</a:t>
            </a:r>
            <a:r>
              <a:rPr lang="en-US" sz="1800" dirty="0" err="1"/>
              <a:t>Uhlenbeck</a:t>
            </a:r>
            <a:r>
              <a:rPr lang="en-US" sz="1800" dirty="0"/>
              <a:t> Process</a:t>
            </a:r>
          </a:p>
          <a:p>
            <a:pPr>
              <a:spcBef>
                <a:spcPts val="0"/>
              </a:spcBef>
              <a:spcAft>
                <a:spcPts val="1200"/>
              </a:spcAft>
              <a:buFont typeface="Wingdings" panose="05000000000000000000" pitchFamily="2" charset="2"/>
              <a:buChar char="§"/>
            </a:pPr>
            <a:r>
              <a:rPr lang="en-US" sz="1800" dirty="0"/>
              <a:t>GARCH models </a:t>
            </a:r>
          </a:p>
          <a:p>
            <a:pPr>
              <a:spcBef>
                <a:spcPts val="0"/>
              </a:spcBef>
              <a:spcAft>
                <a:spcPts val="1200"/>
              </a:spcAft>
              <a:buFont typeface="Wingdings" panose="05000000000000000000" pitchFamily="2" charset="2"/>
              <a:buChar char="§"/>
            </a:pPr>
            <a:r>
              <a:rPr lang="en-US" sz="1800" dirty="0"/>
              <a:t>Hidden Markov Model regime switching </a:t>
            </a:r>
          </a:p>
          <a:p>
            <a:pPr>
              <a:spcBef>
                <a:spcPts val="0"/>
              </a:spcBef>
              <a:spcAft>
                <a:spcPts val="1200"/>
              </a:spcAft>
              <a:buFont typeface="Wingdings" panose="05000000000000000000" pitchFamily="2" charset="2"/>
              <a:buChar char="§"/>
            </a:pPr>
            <a:r>
              <a:rPr lang="en-US" sz="1800" dirty="0"/>
              <a:t>Kalman Filter trend filtering </a:t>
            </a:r>
          </a:p>
          <a:p>
            <a:pPr>
              <a:spcBef>
                <a:spcPts val="0"/>
              </a:spcBef>
              <a:spcAft>
                <a:spcPts val="1200"/>
              </a:spcAft>
              <a:buFont typeface="Wingdings" panose="05000000000000000000" pitchFamily="2" charset="2"/>
              <a:buChar char="§"/>
            </a:pPr>
            <a:r>
              <a:rPr lang="en-US" sz="1800" dirty="0"/>
              <a:t>AI forecasting with Long Short-Term Memory and Transformers </a:t>
            </a:r>
          </a:p>
          <a:p>
            <a:pPr>
              <a:spcBef>
                <a:spcPts val="0"/>
              </a:spcBef>
              <a:spcAft>
                <a:spcPts val="1200"/>
              </a:spcAft>
              <a:buFont typeface="Wingdings" panose="05000000000000000000" pitchFamily="2" charset="2"/>
              <a:buChar char="§"/>
            </a:pPr>
            <a:r>
              <a:rPr lang="en-US" sz="1800" dirty="0"/>
              <a:t>Agent-based market simulations </a:t>
            </a:r>
          </a:p>
          <a:p>
            <a:pPr>
              <a:spcBef>
                <a:spcPts val="0"/>
              </a:spcBef>
              <a:spcAft>
                <a:spcPts val="1200"/>
              </a:spcAft>
              <a:buFont typeface="Wingdings" panose="05000000000000000000" pitchFamily="2" charset="2"/>
              <a:buChar char="§"/>
            </a:pPr>
            <a:r>
              <a:rPr lang="en-US" sz="1800" dirty="0"/>
              <a:t>Portfolio optimization, Strategy Optimizer </a:t>
            </a:r>
          </a:p>
          <a:p>
            <a:pPr>
              <a:spcBef>
                <a:spcPts val="0"/>
              </a:spcBef>
              <a:spcAft>
                <a:spcPts val="1200"/>
              </a:spcAft>
              <a:buFont typeface="Wingdings" panose="05000000000000000000" pitchFamily="2" charset="2"/>
              <a:buChar char="§"/>
            </a:pPr>
            <a:r>
              <a:rPr lang="en-US" sz="1800" dirty="0"/>
              <a:t>Live trading automation, </a:t>
            </a:r>
            <a:r>
              <a:rPr lang="en-US" sz="1800" dirty="0" err="1"/>
              <a:t>Websocket</a:t>
            </a:r>
            <a:endParaRPr lang="en-US" sz="1800" dirty="0"/>
          </a:p>
          <a:p>
            <a:pPr>
              <a:spcBef>
                <a:spcPts val="0"/>
              </a:spcBef>
              <a:spcAft>
                <a:spcPts val="1200"/>
              </a:spcAft>
              <a:buFont typeface="Wingdings" panose="05000000000000000000" pitchFamily="2" charset="2"/>
              <a:buChar char="§"/>
            </a:pPr>
            <a:r>
              <a:rPr lang="en-US" sz="1800" dirty="0"/>
              <a:t>Reinforcement Learning</a:t>
            </a:r>
          </a:p>
          <a:p>
            <a:pPr marL="0" indent="0">
              <a:spcBef>
                <a:spcPts val="0"/>
              </a:spcBef>
              <a:spcAft>
                <a:spcPts val="1200"/>
              </a:spcAft>
              <a:buNone/>
            </a:pPr>
            <a:endParaRPr lang="en-US" sz="1800" dirty="0"/>
          </a:p>
        </p:txBody>
      </p:sp>
      <p:cxnSp>
        <p:nvCxnSpPr>
          <p:cNvPr id="4" name="Straight Connector 3">
            <a:extLst>
              <a:ext uri="{FF2B5EF4-FFF2-40B4-BE49-F238E27FC236}">
                <a16:creationId xmlns:a16="http://schemas.microsoft.com/office/drawing/2014/main" id="{72379C33-260C-3464-D136-ABE8375B646F}"/>
              </a:ext>
            </a:extLst>
          </p:cNvPr>
          <p:cNvCxnSpPr>
            <a:cxnSpLocks/>
          </p:cNvCxnSpPr>
          <p:nvPr/>
        </p:nvCxnSpPr>
        <p:spPr>
          <a:xfrm>
            <a:off x="6096000" y="1377819"/>
            <a:ext cx="0" cy="5124569"/>
          </a:xfrm>
          <a:prstGeom prst="line">
            <a:avLst/>
          </a:prstGeom>
          <a:ln w="9525"/>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6098906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76B014-B478-4D97-EA71-9D3AB8B391B6}"/>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FDC156C8-CAA2-B052-C8EA-B815DFD7E998}"/>
              </a:ext>
            </a:extLst>
          </p:cNvPr>
          <p:cNvSpPr>
            <a:spLocks noGrp="1"/>
          </p:cNvSpPr>
          <p:nvPr>
            <p:ph type="title"/>
          </p:nvPr>
        </p:nvSpPr>
        <p:spPr/>
        <p:txBody>
          <a:bodyPr>
            <a:noAutofit/>
          </a:bodyPr>
          <a:lstStyle/>
          <a:p>
            <a:r>
              <a:rPr lang="en-US" sz="3200" b="1" dirty="0"/>
              <a:t>Architecture Walk-thru</a:t>
            </a:r>
            <a:endParaRPr lang="en-US" sz="3200" b="1" dirty="0">
              <a:latin typeface="Segoe UI Light" panose="020B0502040204020203" pitchFamily="34" charset="0"/>
              <a:cs typeface="Segoe UI Light" panose="020B0502040204020203" pitchFamily="34" charset="0"/>
            </a:endParaRPr>
          </a:p>
        </p:txBody>
      </p:sp>
      <p:sp>
        <p:nvSpPr>
          <p:cNvPr id="38" name="Content Placeholder 17">
            <a:extLst>
              <a:ext uri="{FF2B5EF4-FFF2-40B4-BE49-F238E27FC236}">
                <a16:creationId xmlns:a16="http://schemas.microsoft.com/office/drawing/2014/main" id="{BD08BB2C-9D2F-76A8-F014-91B43CC59CBA}"/>
              </a:ext>
            </a:extLst>
          </p:cNvPr>
          <p:cNvSpPr txBox="1">
            <a:spLocks/>
          </p:cNvSpPr>
          <p:nvPr/>
        </p:nvSpPr>
        <p:spPr>
          <a:xfrm>
            <a:off x="541610" y="1445195"/>
            <a:ext cx="11027538" cy="5124569"/>
          </a:xfrm>
          <a:prstGeom prst="rect">
            <a:avLst/>
          </a:prstGeom>
        </p:spPr>
        <p:txBody>
          <a:bodyPr vert="horz" wrap="square" lIns="91440" tIns="45720" rIns="91440" bIns="45720" rtlCol="0">
            <a:noAutofit/>
          </a:bodyPr>
          <a:lstStyle>
            <a:lvl1pPr marL="2286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1pPr>
            <a:lvl2pPr marL="6858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2pPr>
            <a:lvl3pPr marL="11430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3pPr>
            <a:lvl4pPr marL="16002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4pPr>
            <a:lvl5pPr marL="20574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400" dirty="0"/>
              <a:t>Each architecture layer is detailed in terms of:</a:t>
            </a:r>
          </a:p>
          <a:p>
            <a:r>
              <a:rPr lang="en-US" sz="2400" dirty="0"/>
              <a:t>Purpose </a:t>
            </a:r>
          </a:p>
          <a:p>
            <a:r>
              <a:rPr lang="en-US" sz="2400" dirty="0"/>
              <a:t>Flow </a:t>
            </a:r>
          </a:p>
          <a:p>
            <a:r>
              <a:rPr lang="en-US" sz="2400" dirty="0"/>
              <a:t>Internal logic </a:t>
            </a:r>
          </a:p>
          <a:p>
            <a:r>
              <a:rPr lang="en-US" sz="2400" dirty="0"/>
              <a:t>Data movement </a:t>
            </a:r>
          </a:p>
          <a:p>
            <a:r>
              <a:rPr lang="en-US" sz="2400" dirty="0"/>
              <a:t>Code responsibilities </a:t>
            </a:r>
          </a:p>
          <a:p>
            <a:r>
              <a:rPr lang="en-US" sz="2400" dirty="0"/>
              <a:t>Outputs </a:t>
            </a:r>
          </a:p>
          <a:p>
            <a:r>
              <a:rPr lang="en-US" sz="2400" dirty="0"/>
              <a:t>Extensibility </a:t>
            </a:r>
          </a:p>
          <a:p>
            <a:r>
              <a:rPr lang="en-US" sz="2400" dirty="0"/>
              <a:t>Why it matters</a:t>
            </a:r>
          </a:p>
          <a:p>
            <a:pPr marL="0" indent="0">
              <a:spcBef>
                <a:spcPts val="0"/>
              </a:spcBef>
              <a:spcAft>
                <a:spcPts val="1800"/>
              </a:spcAft>
              <a:buNone/>
            </a:pPr>
            <a:endParaRPr lang="en-US" sz="2000" dirty="0"/>
          </a:p>
        </p:txBody>
      </p:sp>
    </p:spTree>
    <p:extLst>
      <p:ext uri="{BB962C8B-B14F-4D97-AF65-F5344CB8AC3E}">
        <p14:creationId xmlns:p14="http://schemas.microsoft.com/office/powerpoint/2010/main" val="274619312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2DE0D9-76DE-AEE5-9859-EB44920238AD}"/>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9208B184-B007-A6FA-5A59-B833F839A84B}"/>
              </a:ext>
            </a:extLst>
          </p:cNvPr>
          <p:cNvSpPr>
            <a:spLocks noGrp="1"/>
          </p:cNvSpPr>
          <p:nvPr>
            <p:ph type="title"/>
          </p:nvPr>
        </p:nvSpPr>
        <p:spPr/>
        <p:txBody>
          <a:bodyPr>
            <a:noAutofit/>
          </a:bodyPr>
          <a:lstStyle/>
          <a:p>
            <a:r>
              <a:rPr lang="en-US" sz="3200" b="1" dirty="0"/>
              <a:t>1. Broker Layer</a:t>
            </a:r>
            <a:endParaRPr lang="en-US" sz="3200" b="1" dirty="0">
              <a:latin typeface="Segoe UI Light" panose="020B0502040204020203" pitchFamily="34" charset="0"/>
              <a:cs typeface="Segoe UI Light" panose="020B0502040204020203" pitchFamily="34" charset="0"/>
            </a:endParaRPr>
          </a:p>
        </p:txBody>
      </p:sp>
      <p:sp>
        <p:nvSpPr>
          <p:cNvPr id="38" name="Content Placeholder 17">
            <a:extLst>
              <a:ext uri="{FF2B5EF4-FFF2-40B4-BE49-F238E27FC236}">
                <a16:creationId xmlns:a16="http://schemas.microsoft.com/office/drawing/2014/main" id="{783E3980-97F3-6FB4-98BB-C66BCA0276D2}"/>
              </a:ext>
            </a:extLst>
          </p:cNvPr>
          <p:cNvSpPr txBox="1">
            <a:spLocks/>
          </p:cNvSpPr>
          <p:nvPr/>
        </p:nvSpPr>
        <p:spPr>
          <a:xfrm>
            <a:off x="541610" y="1445195"/>
            <a:ext cx="11027538" cy="5124569"/>
          </a:xfrm>
          <a:prstGeom prst="rect">
            <a:avLst/>
          </a:prstGeom>
        </p:spPr>
        <p:txBody>
          <a:bodyPr vert="horz" wrap="square" lIns="91440" tIns="45720" rIns="91440" bIns="45720" rtlCol="0">
            <a:noAutofit/>
          </a:bodyPr>
          <a:lstStyle>
            <a:lvl1pPr marL="2286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1pPr>
            <a:lvl2pPr marL="6858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2pPr>
            <a:lvl3pPr marL="11430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3pPr>
            <a:lvl4pPr marL="16002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4pPr>
            <a:lvl5pPr marL="20574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9pPr>
          </a:lstStyle>
          <a:p>
            <a:pPr marL="0" indent="0">
              <a:spcBef>
                <a:spcPts val="0"/>
              </a:spcBef>
              <a:spcAft>
                <a:spcPts val="1200"/>
              </a:spcAft>
              <a:buNone/>
            </a:pPr>
            <a:r>
              <a:rPr lang="en-US" sz="1600" b="1" dirty="0"/>
              <a:t>Flow</a:t>
            </a:r>
          </a:p>
          <a:p>
            <a:pPr marL="0" indent="0">
              <a:spcBef>
                <a:spcPts val="0"/>
              </a:spcBef>
              <a:spcAft>
                <a:spcPts val="1200"/>
              </a:spcAft>
              <a:buNone/>
            </a:pPr>
            <a:r>
              <a:rPr lang="en-US" sz="1600" dirty="0"/>
              <a:t>User Credentials → Authentication → Session Creation → API Access</a:t>
            </a:r>
          </a:p>
          <a:p>
            <a:pPr marL="0" indent="0">
              <a:spcBef>
                <a:spcPts val="0"/>
              </a:spcBef>
              <a:spcAft>
                <a:spcPts val="1200"/>
              </a:spcAft>
              <a:buNone/>
            </a:pPr>
            <a:endParaRPr lang="en-US" sz="1600" b="1" dirty="0"/>
          </a:p>
          <a:p>
            <a:pPr marL="0" indent="0">
              <a:spcBef>
                <a:spcPts val="0"/>
              </a:spcBef>
              <a:spcAft>
                <a:spcPts val="1200"/>
              </a:spcAft>
              <a:buNone/>
            </a:pPr>
            <a:r>
              <a:rPr lang="en-US" sz="1600" b="1" dirty="0"/>
              <a:t>Description</a:t>
            </a:r>
          </a:p>
          <a:p>
            <a:pPr>
              <a:spcBef>
                <a:spcPts val="0"/>
              </a:spcBef>
              <a:spcAft>
                <a:spcPts val="1200"/>
              </a:spcAft>
            </a:pPr>
            <a:r>
              <a:rPr lang="en-US" sz="1600" dirty="0"/>
              <a:t>This layer is the gateway to the financial market. </a:t>
            </a:r>
          </a:p>
          <a:p>
            <a:pPr>
              <a:spcBef>
                <a:spcPts val="0"/>
              </a:spcBef>
              <a:spcAft>
                <a:spcPts val="1200"/>
              </a:spcAft>
            </a:pPr>
            <a:r>
              <a:rPr lang="en-US" sz="1600" dirty="0"/>
              <a:t>It handles secure communication with the Zerodha ecosystem and ensures all downstream modules can fetch reliable market data. </a:t>
            </a:r>
          </a:p>
          <a:p>
            <a:pPr>
              <a:spcBef>
                <a:spcPts val="0"/>
              </a:spcBef>
              <a:spcAft>
                <a:spcPts val="1200"/>
              </a:spcAft>
            </a:pPr>
            <a:r>
              <a:rPr lang="en-US" sz="1600" dirty="0"/>
              <a:t>The authentication module creates and validates sessions, while the client module abstracts API calls like historical data fetch, quote retrieval, and order placement. </a:t>
            </a:r>
          </a:p>
          <a:p>
            <a:pPr>
              <a:spcBef>
                <a:spcPts val="0"/>
              </a:spcBef>
              <a:spcAft>
                <a:spcPts val="1200"/>
              </a:spcAft>
            </a:pPr>
            <a:r>
              <a:rPr lang="en-US" sz="1600" dirty="0"/>
              <a:t>By separating broker logic, the rest of the system remains broker-independent. </a:t>
            </a:r>
          </a:p>
          <a:p>
            <a:pPr>
              <a:spcBef>
                <a:spcPts val="0"/>
              </a:spcBef>
              <a:spcAft>
                <a:spcPts val="1200"/>
              </a:spcAft>
            </a:pPr>
            <a:r>
              <a:rPr lang="en-US" sz="1600" dirty="0"/>
              <a:t>If you later integrate Interactive Brokers or </a:t>
            </a:r>
            <a:r>
              <a:rPr lang="en-US" sz="1600" dirty="0" err="1"/>
              <a:t>Upstox</a:t>
            </a:r>
            <a:r>
              <a:rPr lang="en-US" sz="1600" dirty="0"/>
              <a:t>, only this layer changes. </a:t>
            </a:r>
          </a:p>
          <a:p>
            <a:pPr>
              <a:spcBef>
                <a:spcPts val="0"/>
              </a:spcBef>
              <a:spcAft>
                <a:spcPts val="1200"/>
              </a:spcAft>
            </a:pPr>
            <a:r>
              <a:rPr lang="en-US" sz="1600" dirty="0"/>
              <a:t>It acts as the foundation for both research and live deployment. </a:t>
            </a:r>
          </a:p>
          <a:p>
            <a:pPr>
              <a:spcBef>
                <a:spcPts val="0"/>
              </a:spcBef>
              <a:spcAft>
                <a:spcPts val="1200"/>
              </a:spcAft>
            </a:pPr>
            <a:r>
              <a:rPr lang="en-US" sz="1600" dirty="0"/>
              <a:t>This design keeps credentials isolated and minimizes system-wide API dependency. </a:t>
            </a:r>
          </a:p>
          <a:p>
            <a:pPr>
              <a:spcBef>
                <a:spcPts val="0"/>
              </a:spcBef>
              <a:spcAft>
                <a:spcPts val="1200"/>
              </a:spcAft>
            </a:pPr>
            <a:r>
              <a:rPr lang="en-US" sz="1600" dirty="0"/>
              <a:t>It is the root of the full execution pipeline.</a:t>
            </a:r>
          </a:p>
          <a:p>
            <a:pPr marL="0" indent="0">
              <a:spcBef>
                <a:spcPts val="0"/>
              </a:spcBef>
              <a:spcAft>
                <a:spcPts val="1200"/>
              </a:spcAft>
              <a:buNone/>
            </a:pPr>
            <a:endParaRPr lang="en-US" sz="1600" dirty="0"/>
          </a:p>
        </p:txBody>
      </p:sp>
    </p:spTree>
    <p:extLst>
      <p:ext uri="{BB962C8B-B14F-4D97-AF65-F5344CB8AC3E}">
        <p14:creationId xmlns:p14="http://schemas.microsoft.com/office/powerpoint/2010/main" val="385299630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BE3655-C00A-88ED-756B-274F6CF1A786}"/>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E72EDDC8-C162-80C2-C3D1-A840386E947A}"/>
              </a:ext>
            </a:extLst>
          </p:cNvPr>
          <p:cNvSpPr>
            <a:spLocks noGrp="1"/>
          </p:cNvSpPr>
          <p:nvPr>
            <p:ph type="title"/>
          </p:nvPr>
        </p:nvSpPr>
        <p:spPr/>
        <p:txBody>
          <a:bodyPr>
            <a:noAutofit/>
          </a:bodyPr>
          <a:lstStyle/>
          <a:p>
            <a:r>
              <a:rPr lang="en-US" sz="3200" b="1" dirty="0"/>
              <a:t>1.1 Authentication Flow</a:t>
            </a:r>
            <a:endParaRPr lang="en-US" sz="3200" b="1" dirty="0">
              <a:latin typeface="Segoe UI Light" panose="020B0502040204020203" pitchFamily="34" charset="0"/>
              <a:cs typeface="Segoe UI Light" panose="020B0502040204020203" pitchFamily="34" charset="0"/>
            </a:endParaRPr>
          </a:p>
        </p:txBody>
      </p:sp>
      <p:pic>
        <p:nvPicPr>
          <p:cNvPr id="1026" name="Picture 2" descr="Using Firebase Cloud Functions for Auth Token Exchange">
            <a:extLst>
              <a:ext uri="{FF2B5EF4-FFF2-40B4-BE49-F238E27FC236}">
                <a16:creationId xmlns:a16="http://schemas.microsoft.com/office/drawing/2014/main" id="{20372128-344D-B473-4391-2492337C238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97952" y="1390444"/>
            <a:ext cx="5498048" cy="2555017"/>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Kite Connect handshake flow">
            <a:extLst>
              <a:ext uri="{FF2B5EF4-FFF2-40B4-BE49-F238E27FC236}">
                <a16:creationId xmlns:a16="http://schemas.microsoft.com/office/drawing/2014/main" id="{459C2D8C-B9C7-495F-9343-BC36DD6F047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288623" y="1420261"/>
            <a:ext cx="5305425" cy="37909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23533859"/>
      </p:ext>
    </p:extLst>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890F63-9BAC-E6C3-94F9-28CBDBCCA191}"/>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4B2747F4-7FE5-7285-934F-5B723FE5B20A}"/>
              </a:ext>
            </a:extLst>
          </p:cNvPr>
          <p:cNvSpPr>
            <a:spLocks noGrp="1"/>
          </p:cNvSpPr>
          <p:nvPr>
            <p:ph type="title"/>
          </p:nvPr>
        </p:nvSpPr>
        <p:spPr/>
        <p:txBody>
          <a:bodyPr>
            <a:noAutofit/>
          </a:bodyPr>
          <a:lstStyle/>
          <a:p>
            <a:r>
              <a:rPr lang="en-US" sz="3200" b="1" dirty="0"/>
              <a:t>1.2 Zerodha Ecosystem</a:t>
            </a:r>
            <a:endParaRPr lang="en-US" sz="3200" b="1" dirty="0">
              <a:latin typeface="Segoe UI Light" panose="020B0502040204020203" pitchFamily="34" charset="0"/>
              <a:cs typeface="Segoe UI Light" panose="020B0502040204020203" pitchFamily="34" charset="0"/>
            </a:endParaRPr>
          </a:p>
        </p:txBody>
      </p:sp>
      <p:pic>
        <p:nvPicPr>
          <p:cNvPr id="2050" name="Picture 2">
            <a:extLst>
              <a:ext uri="{FF2B5EF4-FFF2-40B4-BE49-F238E27FC236}">
                <a16:creationId xmlns:a16="http://schemas.microsoft.com/office/drawing/2014/main" id="{BFC86306-F040-90BF-2E2B-0CECB45E65A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11357" y="1268857"/>
            <a:ext cx="9604267" cy="527109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13036665"/>
      </p:ext>
    </p:extLst>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A41F70-96C5-6A68-069F-C84DC55FD130}"/>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C053F66B-1CA1-1741-E09C-9CEDCD689F71}"/>
              </a:ext>
            </a:extLst>
          </p:cNvPr>
          <p:cNvSpPr>
            <a:spLocks noGrp="1"/>
          </p:cNvSpPr>
          <p:nvPr>
            <p:ph type="title"/>
          </p:nvPr>
        </p:nvSpPr>
        <p:spPr/>
        <p:txBody>
          <a:bodyPr>
            <a:noAutofit/>
          </a:bodyPr>
          <a:lstStyle/>
          <a:p>
            <a:r>
              <a:rPr lang="en-US" sz="3200" b="1" dirty="0"/>
              <a:t>2. Instrument Master Layer</a:t>
            </a:r>
            <a:endParaRPr lang="en-US" sz="3200" b="1" dirty="0">
              <a:latin typeface="Segoe UI Light" panose="020B0502040204020203" pitchFamily="34" charset="0"/>
              <a:cs typeface="Segoe UI Light" panose="020B0502040204020203" pitchFamily="34" charset="0"/>
            </a:endParaRPr>
          </a:p>
        </p:txBody>
      </p:sp>
      <p:sp>
        <p:nvSpPr>
          <p:cNvPr id="38" name="Content Placeholder 17">
            <a:extLst>
              <a:ext uri="{FF2B5EF4-FFF2-40B4-BE49-F238E27FC236}">
                <a16:creationId xmlns:a16="http://schemas.microsoft.com/office/drawing/2014/main" id="{CF4DBBB0-4B61-0DD3-D9E9-F29DA19062E5}"/>
              </a:ext>
            </a:extLst>
          </p:cNvPr>
          <p:cNvSpPr txBox="1">
            <a:spLocks/>
          </p:cNvSpPr>
          <p:nvPr/>
        </p:nvSpPr>
        <p:spPr>
          <a:xfrm>
            <a:off x="541610" y="1445195"/>
            <a:ext cx="11027538" cy="5124569"/>
          </a:xfrm>
          <a:prstGeom prst="rect">
            <a:avLst/>
          </a:prstGeom>
        </p:spPr>
        <p:txBody>
          <a:bodyPr vert="horz" wrap="square" lIns="91440" tIns="45720" rIns="91440" bIns="45720" rtlCol="0">
            <a:noAutofit/>
          </a:bodyPr>
          <a:lstStyle>
            <a:lvl1pPr marL="2286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1pPr>
            <a:lvl2pPr marL="6858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2pPr>
            <a:lvl3pPr marL="11430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3pPr>
            <a:lvl4pPr marL="16002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4pPr>
            <a:lvl5pPr marL="20574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9pPr>
          </a:lstStyle>
          <a:p>
            <a:pPr marL="0" indent="0">
              <a:spcBef>
                <a:spcPts val="0"/>
              </a:spcBef>
              <a:spcAft>
                <a:spcPts val="1200"/>
              </a:spcAft>
              <a:buNone/>
            </a:pPr>
            <a:r>
              <a:rPr lang="en-US" sz="1600" b="1" dirty="0"/>
              <a:t>Flow</a:t>
            </a:r>
          </a:p>
          <a:p>
            <a:pPr marL="0" indent="0">
              <a:spcBef>
                <a:spcPts val="0"/>
              </a:spcBef>
              <a:spcAft>
                <a:spcPts val="1200"/>
              </a:spcAft>
              <a:buNone/>
            </a:pPr>
            <a:r>
              <a:rPr lang="en-US" sz="1600" dirty="0"/>
              <a:t>Broker API → Instruments Dump → Token Mapping → Local Dictionary</a:t>
            </a:r>
          </a:p>
          <a:p>
            <a:pPr marL="0" indent="0">
              <a:spcBef>
                <a:spcPts val="0"/>
              </a:spcBef>
              <a:spcAft>
                <a:spcPts val="1200"/>
              </a:spcAft>
              <a:buNone/>
            </a:pPr>
            <a:endParaRPr lang="en-US" sz="1600" dirty="0"/>
          </a:p>
          <a:p>
            <a:pPr marL="0" indent="0">
              <a:spcBef>
                <a:spcPts val="0"/>
              </a:spcBef>
              <a:spcAft>
                <a:spcPts val="1200"/>
              </a:spcAft>
              <a:buNone/>
            </a:pPr>
            <a:r>
              <a:rPr lang="en-US" sz="1600" b="1" dirty="0"/>
              <a:t>Description</a:t>
            </a:r>
          </a:p>
          <a:p>
            <a:pPr>
              <a:spcBef>
                <a:spcPts val="0"/>
              </a:spcBef>
              <a:spcAft>
                <a:spcPts val="1200"/>
              </a:spcAft>
            </a:pPr>
            <a:r>
              <a:rPr lang="en-US" sz="1600" dirty="0"/>
              <a:t>Every stock in Zerodha has a unique instrument token. </a:t>
            </a:r>
          </a:p>
          <a:p>
            <a:pPr>
              <a:spcBef>
                <a:spcPts val="0"/>
              </a:spcBef>
              <a:spcAft>
                <a:spcPts val="1200"/>
              </a:spcAft>
            </a:pPr>
            <a:r>
              <a:rPr lang="en-US" sz="1600" dirty="0"/>
              <a:t>This layer downloads the master instrument list and creates symbol-to-token mappings. </a:t>
            </a:r>
          </a:p>
          <a:p>
            <a:pPr>
              <a:spcBef>
                <a:spcPts val="0"/>
              </a:spcBef>
              <a:spcAft>
                <a:spcPts val="1200"/>
              </a:spcAft>
            </a:pPr>
            <a:r>
              <a:rPr lang="en-US" sz="1600" dirty="0"/>
              <a:t>It serves as the market index registry for the system. </a:t>
            </a:r>
          </a:p>
          <a:p>
            <a:pPr>
              <a:spcBef>
                <a:spcPts val="0"/>
              </a:spcBef>
              <a:spcAft>
                <a:spcPts val="1200"/>
              </a:spcAft>
            </a:pPr>
            <a:r>
              <a:rPr lang="en-US" sz="1600" dirty="0"/>
              <a:t>Without it, historical or live fetches cannot be performed. </a:t>
            </a:r>
          </a:p>
          <a:p>
            <a:pPr>
              <a:spcBef>
                <a:spcPts val="0"/>
              </a:spcBef>
              <a:spcAft>
                <a:spcPts val="1200"/>
              </a:spcAft>
            </a:pPr>
            <a:r>
              <a:rPr lang="en-US" sz="1600" dirty="0"/>
              <a:t>This design makes the system scalable because adding new stocks is as simple as appending symbols. </a:t>
            </a:r>
          </a:p>
          <a:p>
            <a:pPr>
              <a:spcBef>
                <a:spcPts val="0"/>
              </a:spcBef>
              <a:spcAft>
                <a:spcPts val="1200"/>
              </a:spcAft>
            </a:pPr>
            <a:r>
              <a:rPr lang="en-US" sz="1600" dirty="0"/>
              <a:t>It supports future expansion into F&amp;O, ETFs, commodities, and currency markets. </a:t>
            </a:r>
          </a:p>
          <a:p>
            <a:pPr>
              <a:spcBef>
                <a:spcPts val="0"/>
              </a:spcBef>
              <a:spcAft>
                <a:spcPts val="1200"/>
              </a:spcAft>
            </a:pPr>
            <a:r>
              <a:rPr lang="en-US" sz="1600" dirty="0"/>
              <a:t>The mapping structure acts as a lookup cache for ultra-fast access. </a:t>
            </a:r>
          </a:p>
          <a:p>
            <a:pPr>
              <a:spcBef>
                <a:spcPts val="0"/>
              </a:spcBef>
              <a:spcAft>
                <a:spcPts val="1200"/>
              </a:spcAft>
            </a:pPr>
            <a:r>
              <a:rPr lang="en-US" sz="1600" dirty="0"/>
              <a:t>This layer removes hardcoding from downstream modules.</a:t>
            </a:r>
          </a:p>
          <a:p>
            <a:pPr marL="0" indent="0">
              <a:spcBef>
                <a:spcPts val="0"/>
              </a:spcBef>
              <a:spcAft>
                <a:spcPts val="1200"/>
              </a:spcAft>
              <a:buNone/>
            </a:pPr>
            <a:endParaRPr lang="en-US" sz="1600" dirty="0"/>
          </a:p>
        </p:txBody>
      </p:sp>
    </p:spTree>
    <p:extLst>
      <p:ext uri="{BB962C8B-B14F-4D97-AF65-F5344CB8AC3E}">
        <p14:creationId xmlns:p14="http://schemas.microsoft.com/office/powerpoint/2010/main" val="21626114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C15E10-D111-52B5-FAD1-1E32ACF4E663}"/>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8B7F1FDC-BBC2-8BFE-7FB0-262CF2812AAD}"/>
              </a:ext>
            </a:extLst>
          </p:cNvPr>
          <p:cNvSpPr>
            <a:spLocks noGrp="1"/>
          </p:cNvSpPr>
          <p:nvPr>
            <p:ph type="title"/>
          </p:nvPr>
        </p:nvSpPr>
        <p:spPr/>
        <p:txBody>
          <a:bodyPr>
            <a:noAutofit/>
          </a:bodyPr>
          <a:lstStyle/>
          <a:p>
            <a:r>
              <a:rPr lang="en-US" sz="3200" b="1" dirty="0"/>
              <a:t>3. Historical Data Engine</a:t>
            </a:r>
            <a:endParaRPr lang="en-US" sz="3200" b="1" dirty="0">
              <a:latin typeface="Segoe UI Light" panose="020B0502040204020203" pitchFamily="34" charset="0"/>
              <a:cs typeface="Segoe UI Light" panose="020B0502040204020203" pitchFamily="34" charset="0"/>
            </a:endParaRPr>
          </a:p>
        </p:txBody>
      </p:sp>
      <p:sp>
        <p:nvSpPr>
          <p:cNvPr id="38" name="Content Placeholder 17">
            <a:extLst>
              <a:ext uri="{FF2B5EF4-FFF2-40B4-BE49-F238E27FC236}">
                <a16:creationId xmlns:a16="http://schemas.microsoft.com/office/drawing/2014/main" id="{6AD4C290-1F1D-4DEB-17C5-07C1F6700943}"/>
              </a:ext>
            </a:extLst>
          </p:cNvPr>
          <p:cNvSpPr txBox="1">
            <a:spLocks/>
          </p:cNvSpPr>
          <p:nvPr/>
        </p:nvSpPr>
        <p:spPr>
          <a:xfrm>
            <a:off x="541610" y="1445195"/>
            <a:ext cx="11027538" cy="5124569"/>
          </a:xfrm>
          <a:prstGeom prst="rect">
            <a:avLst/>
          </a:prstGeom>
        </p:spPr>
        <p:txBody>
          <a:bodyPr vert="horz" wrap="square" lIns="91440" tIns="45720" rIns="91440" bIns="45720" rtlCol="0">
            <a:noAutofit/>
          </a:bodyPr>
          <a:lstStyle>
            <a:lvl1pPr marL="2286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1pPr>
            <a:lvl2pPr marL="6858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2pPr>
            <a:lvl3pPr marL="11430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3pPr>
            <a:lvl4pPr marL="16002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4pPr>
            <a:lvl5pPr marL="20574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9pPr>
          </a:lstStyle>
          <a:p>
            <a:pPr marL="0" indent="0">
              <a:spcBef>
                <a:spcPts val="0"/>
              </a:spcBef>
              <a:spcAft>
                <a:spcPts val="600"/>
              </a:spcAft>
              <a:buNone/>
            </a:pPr>
            <a:r>
              <a:rPr lang="en-US" sz="1600" b="1" dirty="0"/>
              <a:t>Flow</a:t>
            </a:r>
          </a:p>
          <a:p>
            <a:pPr marL="0" indent="0">
              <a:spcBef>
                <a:spcPts val="0"/>
              </a:spcBef>
              <a:spcAft>
                <a:spcPts val="600"/>
              </a:spcAft>
              <a:buNone/>
            </a:pPr>
            <a:r>
              <a:rPr lang="en-US" sz="1600" dirty="0"/>
              <a:t>Token → API Fetch → OHLCV </a:t>
            </a:r>
            <a:r>
              <a:rPr lang="en-US" sz="1600" dirty="0" err="1"/>
              <a:t>DataFrame</a:t>
            </a:r>
            <a:r>
              <a:rPr lang="en-US" sz="1600" dirty="0"/>
              <a:t> → Local Processing</a:t>
            </a:r>
          </a:p>
          <a:p>
            <a:pPr marL="0" indent="0">
              <a:spcBef>
                <a:spcPts val="0"/>
              </a:spcBef>
              <a:spcAft>
                <a:spcPts val="600"/>
              </a:spcAft>
              <a:buNone/>
            </a:pPr>
            <a:endParaRPr lang="en-US" sz="1600" dirty="0"/>
          </a:p>
          <a:p>
            <a:pPr marL="0" indent="0">
              <a:spcBef>
                <a:spcPts val="0"/>
              </a:spcBef>
              <a:spcAft>
                <a:spcPts val="600"/>
              </a:spcAft>
              <a:buNone/>
            </a:pPr>
            <a:r>
              <a:rPr lang="en-US" sz="1600" b="1" dirty="0"/>
              <a:t>Description</a:t>
            </a:r>
          </a:p>
          <a:p>
            <a:pPr>
              <a:spcBef>
                <a:spcPts val="0"/>
              </a:spcBef>
              <a:spcAft>
                <a:spcPts val="600"/>
              </a:spcAft>
            </a:pPr>
            <a:r>
              <a:rPr lang="en-US" sz="1600" dirty="0"/>
              <a:t>This engine downloads 1 year of historical OHLCV data for each stock. </a:t>
            </a:r>
          </a:p>
          <a:p>
            <a:pPr>
              <a:spcBef>
                <a:spcPts val="0"/>
              </a:spcBef>
              <a:spcAft>
                <a:spcPts val="600"/>
              </a:spcAft>
            </a:pPr>
            <a:r>
              <a:rPr lang="en-US" sz="1600" dirty="0"/>
              <a:t>It is the raw material for the analytics pipeline. </a:t>
            </a:r>
          </a:p>
          <a:p>
            <a:pPr>
              <a:spcBef>
                <a:spcPts val="0"/>
              </a:spcBef>
              <a:spcAft>
                <a:spcPts val="600"/>
              </a:spcAft>
            </a:pPr>
            <a:r>
              <a:rPr lang="en-US" sz="1600" dirty="0"/>
              <a:t>Every model downstream depends on this standardized structure. </a:t>
            </a:r>
          </a:p>
          <a:p>
            <a:pPr>
              <a:spcBef>
                <a:spcPts val="0"/>
              </a:spcBef>
              <a:spcAft>
                <a:spcPts val="600"/>
              </a:spcAft>
            </a:pPr>
            <a:r>
              <a:rPr lang="en-US" sz="1600" dirty="0"/>
              <a:t>It normalizes time series into a pandas </a:t>
            </a:r>
            <a:r>
              <a:rPr lang="en-US" sz="1600" dirty="0" err="1"/>
              <a:t>DataFrame</a:t>
            </a:r>
            <a:r>
              <a:rPr lang="en-US" sz="1600" dirty="0"/>
              <a:t> for consistent access. </a:t>
            </a:r>
          </a:p>
          <a:p>
            <a:pPr>
              <a:spcBef>
                <a:spcPts val="0"/>
              </a:spcBef>
              <a:spcAft>
                <a:spcPts val="600"/>
              </a:spcAft>
            </a:pPr>
            <a:r>
              <a:rPr lang="en-US" sz="1600" dirty="0"/>
              <a:t>Missing data handling and return calculations begin here. </a:t>
            </a:r>
          </a:p>
          <a:p>
            <a:pPr>
              <a:spcBef>
                <a:spcPts val="0"/>
              </a:spcBef>
              <a:spcAft>
                <a:spcPts val="600"/>
              </a:spcAft>
            </a:pPr>
            <a:r>
              <a:rPr lang="en-US" sz="1600" dirty="0"/>
              <a:t>This layer can later be extended for intraday candles. </a:t>
            </a:r>
          </a:p>
          <a:p>
            <a:pPr>
              <a:spcBef>
                <a:spcPts val="0"/>
              </a:spcBef>
              <a:spcAft>
                <a:spcPts val="600"/>
              </a:spcAft>
            </a:pPr>
            <a:r>
              <a:rPr lang="en-US" sz="1600" dirty="0"/>
              <a:t>It creates reproducible datasets for research and simulation. </a:t>
            </a:r>
          </a:p>
          <a:p>
            <a:pPr>
              <a:spcBef>
                <a:spcPts val="0"/>
              </a:spcBef>
              <a:spcAft>
                <a:spcPts val="600"/>
              </a:spcAft>
            </a:pPr>
            <a:r>
              <a:rPr lang="en-US" sz="1600" dirty="0"/>
              <a:t>It is the first transformation point from external data into internal analytics.</a:t>
            </a:r>
          </a:p>
          <a:p>
            <a:pPr marL="0" indent="0">
              <a:spcBef>
                <a:spcPts val="0"/>
              </a:spcBef>
              <a:spcAft>
                <a:spcPts val="600"/>
              </a:spcAft>
              <a:buNone/>
            </a:pPr>
            <a:endParaRPr lang="en-US" sz="1600" dirty="0"/>
          </a:p>
        </p:txBody>
      </p:sp>
    </p:spTree>
    <p:extLst>
      <p:ext uri="{BB962C8B-B14F-4D97-AF65-F5344CB8AC3E}">
        <p14:creationId xmlns:p14="http://schemas.microsoft.com/office/powerpoint/2010/main" val="316609086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8F1CBF-2295-278F-2AE0-8875AA64CE55}"/>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7BE78153-2A02-000D-DA6C-B6A2C87F5A39}"/>
              </a:ext>
            </a:extLst>
          </p:cNvPr>
          <p:cNvSpPr>
            <a:spLocks noGrp="1"/>
          </p:cNvSpPr>
          <p:nvPr>
            <p:ph type="title"/>
          </p:nvPr>
        </p:nvSpPr>
        <p:spPr/>
        <p:txBody>
          <a:bodyPr>
            <a:noAutofit/>
          </a:bodyPr>
          <a:lstStyle/>
          <a:p>
            <a:r>
              <a:rPr lang="en-US" sz="3200" b="1" dirty="0"/>
              <a:t>4. Feature Engineering Layer</a:t>
            </a:r>
            <a:endParaRPr lang="en-US" sz="3200" b="1" dirty="0">
              <a:latin typeface="Segoe UI Light" panose="020B0502040204020203" pitchFamily="34" charset="0"/>
              <a:cs typeface="Segoe UI Light" panose="020B0502040204020203" pitchFamily="34" charset="0"/>
            </a:endParaRPr>
          </a:p>
        </p:txBody>
      </p:sp>
      <p:sp>
        <p:nvSpPr>
          <p:cNvPr id="38" name="Content Placeholder 17">
            <a:extLst>
              <a:ext uri="{FF2B5EF4-FFF2-40B4-BE49-F238E27FC236}">
                <a16:creationId xmlns:a16="http://schemas.microsoft.com/office/drawing/2014/main" id="{AA171D94-2D8B-401C-CC2A-995105CA9DD8}"/>
              </a:ext>
            </a:extLst>
          </p:cNvPr>
          <p:cNvSpPr txBox="1">
            <a:spLocks/>
          </p:cNvSpPr>
          <p:nvPr/>
        </p:nvSpPr>
        <p:spPr>
          <a:xfrm>
            <a:off x="541610" y="1445195"/>
            <a:ext cx="11027538" cy="5124569"/>
          </a:xfrm>
          <a:prstGeom prst="rect">
            <a:avLst/>
          </a:prstGeom>
        </p:spPr>
        <p:txBody>
          <a:bodyPr vert="horz" wrap="square" lIns="91440" tIns="45720" rIns="91440" bIns="45720" rtlCol="0">
            <a:noAutofit/>
          </a:bodyPr>
          <a:lstStyle>
            <a:lvl1pPr marL="2286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1pPr>
            <a:lvl2pPr marL="6858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2pPr>
            <a:lvl3pPr marL="11430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3pPr>
            <a:lvl4pPr marL="16002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4pPr>
            <a:lvl5pPr marL="20574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9pPr>
          </a:lstStyle>
          <a:p>
            <a:pPr marL="0" indent="0">
              <a:spcBef>
                <a:spcPts val="0"/>
              </a:spcBef>
              <a:spcAft>
                <a:spcPts val="600"/>
              </a:spcAft>
              <a:buFont typeface="Arial" panose="020B0604020202020204" pitchFamily="34" charset="0"/>
              <a:buNone/>
            </a:pPr>
            <a:r>
              <a:rPr lang="en-US" sz="1600" b="1" dirty="0"/>
              <a:t>Flow</a:t>
            </a:r>
          </a:p>
          <a:p>
            <a:pPr marL="0" indent="0">
              <a:spcBef>
                <a:spcPts val="0"/>
              </a:spcBef>
              <a:spcAft>
                <a:spcPts val="600"/>
              </a:spcAft>
              <a:buFont typeface="Arial" panose="020B0604020202020204" pitchFamily="34" charset="0"/>
              <a:buNone/>
            </a:pPr>
            <a:r>
              <a:rPr lang="en-US" sz="1600" dirty="0"/>
              <a:t>OHLCV → Derived Features → Analytical Signals</a:t>
            </a:r>
          </a:p>
          <a:p>
            <a:pPr marL="0" indent="0">
              <a:spcBef>
                <a:spcPts val="0"/>
              </a:spcBef>
              <a:spcAft>
                <a:spcPts val="600"/>
              </a:spcAft>
              <a:buFont typeface="Arial" panose="020B0604020202020204" pitchFamily="34" charset="0"/>
              <a:buNone/>
            </a:pPr>
            <a:endParaRPr lang="en-US" sz="1600" dirty="0"/>
          </a:p>
          <a:p>
            <a:pPr marL="0" indent="0">
              <a:spcBef>
                <a:spcPts val="0"/>
              </a:spcBef>
              <a:spcAft>
                <a:spcPts val="600"/>
              </a:spcAft>
              <a:buFont typeface="Arial" panose="020B0604020202020204" pitchFamily="34" charset="0"/>
              <a:buNone/>
            </a:pPr>
            <a:r>
              <a:rPr lang="en-US" sz="1600" b="1" dirty="0"/>
              <a:t>Description</a:t>
            </a:r>
          </a:p>
          <a:p>
            <a:pPr>
              <a:spcBef>
                <a:spcPts val="0"/>
              </a:spcBef>
              <a:spcAft>
                <a:spcPts val="600"/>
              </a:spcAft>
            </a:pPr>
            <a:r>
              <a:rPr lang="en-US" sz="1600" dirty="0"/>
              <a:t>This layer converts raw market data into meaningful quantitative signals. </a:t>
            </a:r>
          </a:p>
          <a:p>
            <a:pPr>
              <a:spcBef>
                <a:spcPts val="0"/>
              </a:spcBef>
              <a:spcAft>
                <a:spcPts val="600"/>
              </a:spcAft>
            </a:pPr>
            <a:r>
              <a:rPr lang="en-US" sz="1600" dirty="0"/>
              <a:t>It creates statistical descriptors and technical indicators. </a:t>
            </a:r>
          </a:p>
          <a:p>
            <a:pPr>
              <a:spcBef>
                <a:spcPts val="0"/>
              </a:spcBef>
              <a:spcAft>
                <a:spcPts val="600"/>
              </a:spcAft>
            </a:pPr>
            <a:r>
              <a:rPr lang="en-US" sz="1600" dirty="0"/>
              <a:t>This is where market behavior becomes measurable. </a:t>
            </a:r>
          </a:p>
          <a:p>
            <a:pPr>
              <a:spcBef>
                <a:spcPts val="0"/>
              </a:spcBef>
              <a:spcAft>
                <a:spcPts val="600"/>
              </a:spcAft>
            </a:pPr>
            <a:r>
              <a:rPr lang="en-US" sz="1600" dirty="0"/>
              <a:t>Returns measure profitability, volatility measures uncertainty, RSI measures momentum, and MACD measures trend persistence. </a:t>
            </a:r>
          </a:p>
          <a:p>
            <a:pPr>
              <a:spcBef>
                <a:spcPts val="0"/>
              </a:spcBef>
              <a:spcAft>
                <a:spcPts val="600"/>
              </a:spcAft>
            </a:pPr>
            <a:r>
              <a:rPr lang="en-US" sz="1600" dirty="0"/>
              <a:t>These features become the inputs for ranking and simulation. </a:t>
            </a:r>
          </a:p>
          <a:p>
            <a:pPr>
              <a:spcBef>
                <a:spcPts val="0"/>
              </a:spcBef>
              <a:spcAft>
                <a:spcPts val="600"/>
              </a:spcAft>
            </a:pPr>
            <a:r>
              <a:rPr lang="en-US" sz="1600" dirty="0"/>
              <a:t>It acts as the feature factory of the entire platform. </a:t>
            </a:r>
          </a:p>
          <a:p>
            <a:pPr>
              <a:spcBef>
                <a:spcPts val="0"/>
              </a:spcBef>
              <a:spcAft>
                <a:spcPts val="600"/>
              </a:spcAft>
            </a:pPr>
            <a:r>
              <a:rPr lang="en-US" sz="1600" dirty="0"/>
              <a:t>A strong feature layer directly improves model quality. </a:t>
            </a:r>
          </a:p>
          <a:p>
            <a:pPr>
              <a:spcBef>
                <a:spcPts val="0"/>
              </a:spcBef>
              <a:spcAft>
                <a:spcPts val="600"/>
              </a:spcAft>
            </a:pPr>
            <a:r>
              <a:rPr lang="en-US" sz="1600" dirty="0"/>
              <a:t>It is one of the most critical research layers.</a:t>
            </a:r>
          </a:p>
          <a:p>
            <a:pPr>
              <a:spcBef>
                <a:spcPts val="0"/>
              </a:spcBef>
              <a:spcAft>
                <a:spcPts val="600"/>
              </a:spcAft>
            </a:pPr>
            <a:endParaRPr lang="en-US" sz="1600" dirty="0"/>
          </a:p>
          <a:p>
            <a:pPr marL="0" indent="0">
              <a:spcBef>
                <a:spcPts val="0"/>
              </a:spcBef>
              <a:spcAft>
                <a:spcPts val="1800"/>
              </a:spcAft>
              <a:buNone/>
            </a:pPr>
            <a:endParaRPr lang="en-US" sz="2000" dirty="0"/>
          </a:p>
        </p:txBody>
      </p:sp>
    </p:spTree>
    <p:extLst>
      <p:ext uri="{BB962C8B-B14F-4D97-AF65-F5344CB8AC3E}">
        <p14:creationId xmlns:p14="http://schemas.microsoft.com/office/powerpoint/2010/main" val="188130036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5D9D66-5981-4FEC-FCBE-2CD9EA7F87BC}"/>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64E3D68B-247C-763F-8297-A183259E892E}"/>
              </a:ext>
            </a:extLst>
          </p:cNvPr>
          <p:cNvSpPr>
            <a:spLocks noGrp="1"/>
          </p:cNvSpPr>
          <p:nvPr>
            <p:ph type="title"/>
          </p:nvPr>
        </p:nvSpPr>
        <p:spPr/>
        <p:txBody>
          <a:bodyPr>
            <a:noAutofit/>
          </a:bodyPr>
          <a:lstStyle/>
          <a:p>
            <a:r>
              <a:rPr lang="en-US" sz="3200" b="1" dirty="0"/>
              <a:t>5. Statistics Engine</a:t>
            </a:r>
            <a:endParaRPr lang="en-US" sz="3200" b="1" dirty="0">
              <a:latin typeface="Segoe UI Light" panose="020B0502040204020203" pitchFamily="34" charset="0"/>
              <a:cs typeface="Segoe UI Light" panose="020B0502040204020203" pitchFamily="34" charset="0"/>
            </a:endParaRPr>
          </a:p>
        </p:txBody>
      </p:sp>
      <p:sp>
        <p:nvSpPr>
          <p:cNvPr id="38" name="Content Placeholder 17">
            <a:extLst>
              <a:ext uri="{FF2B5EF4-FFF2-40B4-BE49-F238E27FC236}">
                <a16:creationId xmlns:a16="http://schemas.microsoft.com/office/drawing/2014/main" id="{FE594C2B-6DEB-04C3-A06A-BD0C45257714}"/>
              </a:ext>
            </a:extLst>
          </p:cNvPr>
          <p:cNvSpPr txBox="1">
            <a:spLocks/>
          </p:cNvSpPr>
          <p:nvPr/>
        </p:nvSpPr>
        <p:spPr>
          <a:xfrm>
            <a:off x="541610" y="1445195"/>
            <a:ext cx="11027538" cy="5124569"/>
          </a:xfrm>
          <a:prstGeom prst="rect">
            <a:avLst/>
          </a:prstGeom>
        </p:spPr>
        <p:txBody>
          <a:bodyPr vert="horz" wrap="square" lIns="91440" tIns="45720" rIns="91440" bIns="45720" rtlCol="0">
            <a:noAutofit/>
          </a:bodyPr>
          <a:lstStyle>
            <a:defPPr>
              <a:defRPr lang="en-US"/>
            </a:defPPr>
            <a:lvl1pPr indent="0">
              <a:lnSpc>
                <a:spcPts val="1800"/>
              </a:lnSpc>
              <a:spcBef>
                <a:spcPts val="0"/>
              </a:spcBef>
              <a:spcAft>
                <a:spcPts val="600"/>
              </a:spcAft>
              <a:buFont typeface="Arial" panose="020B0604020202020204" pitchFamily="34" charset="0"/>
              <a:buNone/>
              <a:defRPr sz="1600" b="1">
                <a:solidFill>
                  <a:schemeClr val="tx1">
                    <a:lumMod val="75000"/>
                    <a:lumOff val="25000"/>
                  </a:schemeClr>
                </a:solidFill>
              </a:defRPr>
            </a:lvl1pPr>
            <a:lvl2pPr marL="685800" indent="-228600">
              <a:lnSpc>
                <a:spcPts val="1800"/>
              </a:lnSpc>
              <a:spcBef>
                <a:spcPts val="1000"/>
              </a:spcBef>
              <a:spcAft>
                <a:spcPts val="1000"/>
              </a:spcAft>
              <a:buFont typeface="Arial" panose="020B0604020202020204" pitchFamily="34" charset="0"/>
              <a:buChar char="•"/>
              <a:defRPr sz="1200">
                <a:solidFill>
                  <a:schemeClr val="tx1">
                    <a:lumMod val="75000"/>
                    <a:lumOff val="25000"/>
                  </a:schemeClr>
                </a:solidFill>
              </a:defRPr>
            </a:lvl2pPr>
            <a:lvl3pPr marL="1143000" indent="-228600">
              <a:lnSpc>
                <a:spcPts val="1800"/>
              </a:lnSpc>
              <a:spcBef>
                <a:spcPts val="1000"/>
              </a:spcBef>
              <a:spcAft>
                <a:spcPts val="1000"/>
              </a:spcAft>
              <a:buFont typeface="Arial" panose="020B0604020202020204" pitchFamily="34" charset="0"/>
              <a:buChar char="•"/>
              <a:defRPr sz="1200">
                <a:solidFill>
                  <a:schemeClr val="tx1">
                    <a:lumMod val="75000"/>
                    <a:lumOff val="25000"/>
                  </a:schemeClr>
                </a:solidFill>
              </a:defRPr>
            </a:lvl3pPr>
            <a:lvl4pPr marL="1600200" indent="-228600">
              <a:lnSpc>
                <a:spcPts val="1800"/>
              </a:lnSpc>
              <a:spcBef>
                <a:spcPts val="1000"/>
              </a:spcBef>
              <a:spcAft>
                <a:spcPts val="1000"/>
              </a:spcAft>
              <a:buFont typeface="Arial" panose="020B0604020202020204" pitchFamily="34" charset="0"/>
              <a:buChar char="•"/>
              <a:defRPr sz="1200">
                <a:solidFill>
                  <a:schemeClr val="tx1">
                    <a:lumMod val="75000"/>
                    <a:lumOff val="25000"/>
                  </a:schemeClr>
                </a:solidFill>
              </a:defRPr>
            </a:lvl4pPr>
            <a:lvl5pPr marL="2057400" indent="-228600">
              <a:lnSpc>
                <a:spcPts val="1800"/>
              </a:lnSpc>
              <a:spcBef>
                <a:spcPts val="1000"/>
              </a:spcBef>
              <a:spcAft>
                <a:spcPts val="1000"/>
              </a:spcAft>
              <a:buFont typeface="Arial" panose="020B0604020202020204" pitchFamily="34" charset="0"/>
              <a:buChar char="•"/>
              <a:defRPr sz="1200">
                <a:solidFill>
                  <a:schemeClr val="tx1">
                    <a:lumMod val="75000"/>
                    <a:lumOff val="25000"/>
                  </a:schemeClr>
                </a:solidFill>
              </a:defRPr>
            </a:lvl5pPr>
            <a:lvl6pPr marL="2514600" indent="-228600">
              <a:lnSpc>
                <a:spcPct val="90000"/>
              </a:lnSpc>
              <a:spcBef>
                <a:spcPct val="30000"/>
              </a:spcBef>
              <a:buFont typeface="Arial" panose="020B0604020202020204" pitchFamily="34" charset="0"/>
              <a:buChar char="•"/>
            </a:lvl6pPr>
            <a:lvl7pPr marL="2971800" indent="-228600">
              <a:lnSpc>
                <a:spcPct val="90000"/>
              </a:lnSpc>
              <a:spcBef>
                <a:spcPct val="30000"/>
              </a:spcBef>
              <a:buFont typeface="Arial" panose="020B0604020202020204" pitchFamily="34" charset="0"/>
              <a:buChar char="•"/>
            </a:lvl7pPr>
            <a:lvl8pPr marL="3429000" indent="-228600">
              <a:lnSpc>
                <a:spcPct val="90000"/>
              </a:lnSpc>
              <a:spcBef>
                <a:spcPct val="30000"/>
              </a:spcBef>
              <a:buFont typeface="Arial" panose="020B0604020202020204" pitchFamily="34" charset="0"/>
              <a:buChar char="•"/>
            </a:lvl8pPr>
            <a:lvl9pPr marL="3886200" indent="-228600">
              <a:lnSpc>
                <a:spcPct val="90000"/>
              </a:lnSpc>
              <a:spcBef>
                <a:spcPct val="30000"/>
              </a:spcBef>
              <a:buFont typeface="Arial" panose="020B0604020202020204" pitchFamily="34" charset="0"/>
              <a:buChar char="•"/>
            </a:lvl9pPr>
          </a:lstStyle>
          <a:p>
            <a:r>
              <a:rPr lang="en-US" dirty="0"/>
              <a:t>Flow</a:t>
            </a:r>
          </a:p>
          <a:p>
            <a:r>
              <a:rPr lang="en-US" b="0" dirty="0"/>
              <a:t>Returns → Statistical Functions → Distribution Profile</a:t>
            </a:r>
          </a:p>
          <a:p>
            <a:endParaRPr lang="en-US" b="0" dirty="0"/>
          </a:p>
          <a:p>
            <a:r>
              <a:rPr lang="en-US" dirty="0"/>
              <a:t>Description</a:t>
            </a:r>
          </a:p>
          <a:p>
            <a:pPr marL="285750" indent="-285750">
              <a:buFont typeface="Arial" panose="020B0604020202020204" pitchFamily="34" charset="0"/>
              <a:buChar char="•"/>
            </a:pPr>
            <a:r>
              <a:rPr lang="en-US" b="0" dirty="0"/>
              <a:t>This engine analyzes return distributions mathematically. </a:t>
            </a:r>
          </a:p>
          <a:p>
            <a:pPr marL="285750" indent="-285750">
              <a:buFont typeface="Arial" panose="020B0604020202020204" pitchFamily="34" charset="0"/>
              <a:buChar char="•"/>
            </a:pPr>
            <a:r>
              <a:rPr lang="en-US" b="0" dirty="0"/>
              <a:t>It calculates mean returns, volatility, skewness, and kurtosis. </a:t>
            </a:r>
          </a:p>
          <a:p>
            <a:pPr marL="285750" indent="-285750">
              <a:buFont typeface="Arial" panose="020B0604020202020204" pitchFamily="34" charset="0"/>
              <a:buChar char="•"/>
            </a:pPr>
            <a:r>
              <a:rPr lang="en-US" b="0" dirty="0"/>
              <a:t>These describe the shape and risk profile of each stock. </a:t>
            </a:r>
          </a:p>
          <a:p>
            <a:pPr marL="285750" indent="-285750">
              <a:buFont typeface="Arial" panose="020B0604020202020204" pitchFamily="34" charset="0"/>
              <a:buChar char="•"/>
            </a:pPr>
            <a:r>
              <a:rPr lang="en-US" b="0" dirty="0"/>
              <a:t>Skewness helps identify asymmetry in returns, while kurtosis identifies fat-tail risk. </a:t>
            </a:r>
          </a:p>
          <a:p>
            <a:pPr marL="285750" indent="-285750">
              <a:buFont typeface="Arial" panose="020B0604020202020204" pitchFamily="34" charset="0"/>
              <a:buChar char="•"/>
            </a:pPr>
            <a:r>
              <a:rPr lang="en-US" b="0" dirty="0"/>
              <a:t>These metrics determine if a stock behaves normally or exhibits extreme event tendencies. </a:t>
            </a:r>
          </a:p>
          <a:p>
            <a:pPr marL="285750" indent="-285750">
              <a:buFont typeface="Arial" panose="020B0604020202020204" pitchFamily="34" charset="0"/>
              <a:buChar char="•"/>
            </a:pPr>
            <a:r>
              <a:rPr lang="en-US" b="0" dirty="0"/>
              <a:t>This is essential because financial data rarely follows perfect Gaussian behavior. </a:t>
            </a:r>
          </a:p>
          <a:p>
            <a:pPr marL="285750" indent="-285750">
              <a:buFont typeface="Arial" panose="020B0604020202020204" pitchFamily="34" charset="0"/>
              <a:buChar char="•"/>
            </a:pPr>
            <a:r>
              <a:rPr lang="en-US" b="0" dirty="0"/>
              <a:t>The output is a statistical fingerprint for every stock. </a:t>
            </a:r>
          </a:p>
          <a:p>
            <a:pPr marL="285750" indent="-285750">
              <a:buFont typeface="Arial" panose="020B0604020202020204" pitchFamily="34" charset="0"/>
              <a:buChar char="•"/>
            </a:pPr>
            <a:r>
              <a:rPr lang="en-US" b="0" dirty="0"/>
              <a:t>It provides the basis for simulation parameterization.</a:t>
            </a:r>
          </a:p>
        </p:txBody>
      </p:sp>
    </p:spTree>
    <p:extLst>
      <p:ext uri="{BB962C8B-B14F-4D97-AF65-F5344CB8AC3E}">
        <p14:creationId xmlns:p14="http://schemas.microsoft.com/office/powerpoint/2010/main" val="356265285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F9E010-78CD-2890-B905-18BBDD899E8F}"/>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31D9A534-2FA8-D85B-4D11-124AD4405D0F}"/>
              </a:ext>
            </a:extLst>
          </p:cNvPr>
          <p:cNvSpPr>
            <a:spLocks noGrp="1"/>
          </p:cNvSpPr>
          <p:nvPr>
            <p:ph type="title"/>
          </p:nvPr>
        </p:nvSpPr>
        <p:spPr/>
        <p:txBody>
          <a:bodyPr>
            <a:noAutofit/>
          </a:bodyPr>
          <a:lstStyle/>
          <a:p>
            <a:r>
              <a:rPr lang="en-US" sz="3200" b="1" dirty="0"/>
              <a:t>6. Technical Indicator Engine</a:t>
            </a:r>
            <a:endParaRPr lang="en-US" sz="3200" b="1" dirty="0">
              <a:latin typeface="Segoe UI Light" panose="020B0502040204020203" pitchFamily="34" charset="0"/>
              <a:cs typeface="Segoe UI Light" panose="020B0502040204020203" pitchFamily="34" charset="0"/>
            </a:endParaRPr>
          </a:p>
        </p:txBody>
      </p:sp>
      <p:sp>
        <p:nvSpPr>
          <p:cNvPr id="38" name="Content Placeholder 17">
            <a:extLst>
              <a:ext uri="{FF2B5EF4-FFF2-40B4-BE49-F238E27FC236}">
                <a16:creationId xmlns:a16="http://schemas.microsoft.com/office/drawing/2014/main" id="{479278FD-4B25-B3F1-172C-B2E40468B3A3}"/>
              </a:ext>
            </a:extLst>
          </p:cNvPr>
          <p:cNvSpPr txBox="1">
            <a:spLocks/>
          </p:cNvSpPr>
          <p:nvPr/>
        </p:nvSpPr>
        <p:spPr>
          <a:xfrm>
            <a:off x="541610" y="1445195"/>
            <a:ext cx="11027538" cy="5124569"/>
          </a:xfrm>
          <a:prstGeom prst="rect">
            <a:avLst/>
          </a:prstGeom>
        </p:spPr>
        <p:txBody>
          <a:bodyPr vert="horz" wrap="square" lIns="91440" tIns="45720" rIns="91440" bIns="45720" rtlCol="0">
            <a:noAutofit/>
          </a:bodyPr>
          <a:lstStyle>
            <a:defPPr>
              <a:defRPr lang="en-US"/>
            </a:defPPr>
            <a:lvl1pPr indent="0">
              <a:lnSpc>
                <a:spcPts val="1800"/>
              </a:lnSpc>
              <a:spcBef>
                <a:spcPts val="0"/>
              </a:spcBef>
              <a:spcAft>
                <a:spcPts val="600"/>
              </a:spcAft>
              <a:buFont typeface="Arial" panose="020B0604020202020204" pitchFamily="34" charset="0"/>
              <a:buNone/>
              <a:defRPr sz="1600" b="1">
                <a:solidFill>
                  <a:schemeClr val="tx1">
                    <a:lumMod val="75000"/>
                    <a:lumOff val="25000"/>
                  </a:schemeClr>
                </a:solidFill>
              </a:defRPr>
            </a:lvl1pPr>
            <a:lvl2pPr marL="685800" indent="-228600">
              <a:lnSpc>
                <a:spcPts val="1800"/>
              </a:lnSpc>
              <a:spcBef>
                <a:spcPts val="1000"/>
              </a:spcBef>
              <a:spcAft>
                <a:spcPts val="1000"/>
              </a:spcAft>
              <a:buFont typeface="Arial" panose="020B0604020202020204" pitchFamily="34" charset="0"/>
              <a:buChar char="•"/>
              <a:defRPr sz="1200">
                <a:solidFill>
                  <a:schemeClr val="tx1">
                    <a:lumMod val="75000"/>
                    <a:lumOff val="25000"/>
                  </a:schemeClr>
                </a:solidFill>
              </a:defRPr>
            </a:lvl2pPr>
            <a:lvl3pPr marL="1143000" indent="-228600">
              <a:lnSpc>
                <a:spcPts val="1800"/>
              </a:lnSpc>
              <a:spcBef>
                <a:spcPts val="1000"/>
              </a:spcBef>
              <a:spcAft>
                <a:spcPts val="1000"/>
              </a:spcAft>
              <a:buFont typeface="Arial" panose="020B0604020202020204" pitchFamily="34" charset="0"/>
              <a:buChar char="•"/>
              <a:defRPr sz="1200">
                <a:solidFill>
                  <a:schemeClr val="tx1">
                    <a:lumMod val="75000"/>
                    <a:lumOff val="25000"/>
                  </a:schemeClr>
                </a:solidFill>
              </a:defRPr>
            </a:lvl3pPr>
            <a:lvl4pPr marL="1600200" indent="-228600">
              <a:lnSpc>
                <a:spcPts val="1800"/>
              </a:lnSpc>
              <a:spcBef>
                <a:spcPts val="1000"/>
              </a:spcBef>
              <a:spcAft>
                <a:spcPts val="1000"/>
              </a:spcAft>
              <a:buFont typeface="Arial" panose="020B0604020202020204" pitchFamily="34" charset="0"/>
              <a:buChar char="•"/>
              <a:defRPr sz="1200">
                <a:solidFill>
                  <a:schemeClr val="tx1">
                    <a:lumMod val="75000"/>
                    <a:lumOff val="25000"/>
                  </a:schemeClr>
                </a:solidFill>
              </a:defRPr>
            </a:lvl4pPr>
            <a:lvl5pPr marL="2057400" indent="-228600">
              <a:lnSpc>
                <a:spcPts val="1800"/>
              </a:lnSpc>
              <a:spcBef>
                <a:spcPts val="1000"/>
              </a:spcBef>
              <a:spcAft>
                <a:spcPts val="1000"/>
              </a:spcAft>
              <a:buFont typeface="Arial" panose="020B0604020202020204" pitchFamily="34" charset="0"/>
              <a:buChar char="•"/>
              <a:defRPr sz="1200">
                <a:solidFill>
                  <a:schemeClr val="tx1">
                    <a:lumMod val="75000"/>
                    <a:lumOff val="25000"/>
                  </a:schemeClr>
                </a:solidFill>
              </a:defRPr>
            </a:lvl5pPr>
            <a:lvl6pPr marL="2514600" indent="-228600">
              <a:lnSpc>
                <a:spcPct val="90000"/>
              </a:lnSpc>
              <a:spcBef>
                <a:spcPct val="30000"/>
              </a:spcBef>
              <a:buFont typeface="Arial" panose="020B0604020202020204" pitchFamily="34" charset="0"/>
              <a:buChar char="•"/>
            </a:lvl6pPr>
            <a:lvl7pPr marL="2971800" indent="-228600">
              <a:lnSpc>
                <a:spcPct val="90000"/>
              </a:lnSpc>
              <a:spcBef>
                <a:spcPct val="30000"/>
              </a:spcBef>
              <a:buFont typeface="Arial" panose="020B0604020202020204" pitchFamily="34" charset="0"/>
              <a:buChar char="•"/>
            </a:lvl7pPr>
            <a:lvl8pPr marL="3429000" indent="-228600">
              <a:lnSpc>
                <a:spcPct val="90000"/>
              </a:lnSpc>
              <a:spcBef>
                <a:spcPct val="30000"/>
              </a:spcBef>
              <a:buFont typeface="Arial" panose="020B0604020202020204" pitchFamily="34" charset="0"/>
              <a:buChar char="•"/>
            </a:lvl8pPr>
            <a:lvl9pPr marL="3886200" indent="-228600">
              <a:lnSpc>
                <a:spcPct val="90000"/>
              </a:lnSpc>
              <a:spcBef>
                <a:spcPct val="30000"/>
              </a:spcBef>
              <a:buFont typeface="Arial" panose="020B0604020202020204" pitchFamily="34" charset="0"/>
              <a:buChar char="•"/>
            </a:lvl9pPr>
          </a:lstStyle>
          <a:p>
            <a:r>
              <a:rPr lang="en-US" dirty="0"/>
              <a:t>Flow</a:t>
            </a:r>
          </a:p>
          <a:p>
            <a:r>
              <a:rPr lang="en-US" b="0" dirty="0"/>
              <a:t>Momentum + trend extraction.</a:t>
            </a:r>
          </a:p>
          <a:p>
            <a:endParaRPr lang="en-US" b="0" dirty="0"/>
          </a:p>
          <a:p>
            <a:r>
              <a:rPr lang="en-US" dirty="0"/>
              <a:t>Description</a:t>
            </a:r>
          </a:p>
          <a:p>
            <a:pPr marL="285750" indent="-285750">
              <a:buFont typeface="Arial" panose="020B0604020202020204" pitchFamily="34" charset="0"/>
              <a:buChar char="•"/>
            </a:pPr>
            <a:r>
              <a:rPr lang="en-US" b="0" dirty="0"/>
              <a:t>This engine computes technical indicators from price data. </a:t>
            </a:r>
          </a:p>
          <a:p>
            <a:pPr marL="285750" indent="-285750">
              <a:buFont typeface="Arial" panose="020B0604020202020204" pitchFamily="34" charset="0"/>
              <a:buChar char="•"/>
            </a:pPr>
            <a:r>
              <a:rPr lang="en-US" b="0" dirty="0"/>
              <a:t>These indicators provide short-term behavioral insights. </a:t>
            </a:r>
          </a:p>
          <a:p>
            <a:pPr marL="285750" indent="-285750">
              <a:buFont typeface="Arial" panose="020B0604020202020204" pitchFamily="34" charset="0"/>
              <a:buChar char="•"/>
            </a:pPr>
            <a:r>
              <a:rPr lang="en-US" b="0" dirty="0"/>
              <a:t>RSI identifies overbought and oversold zones. </a:t>
            </a:r>
          </a:p>
          <a:p>
            <a:pPr marL="285750" indent="-285750">
              <a:buFont typeface="Arial" panose="020B0604020202020204" pitchFamily="34" charset="0"/>
              <a:buChar char="•"/>
            </a:pPr>
            <a:r>
              <a:rPr lang="en-US" b="0" dirty="0"/>
              <a:t>MACD captures trend acceleration and deceleration. </a:t>
            </a:r>
          </a:p>
          <a:p>
            <a:pPr marL="285750" indent="-285750">
              <a:buFont typeface="Arial" panose="020B0604020202020204" pitchFamily="34" charset="0"/>
              <a:buChar char="•"/>
            </a:pPr>
            <a:r>
              <a:rPr lang="en-US" b="0" dirty="0"/>
              <a:t>Stochastic oscillator detects price positioning relative to recent ranges. </a:t>
            </a:r>
          </a:p>
          <a:p>
            <a:pPr marL="285750" indent="-285750">
              <a:buFont typeface="Arial" panose="020B0604020202020204" pitchFamily="34" charset="0"/>
              <a:buChar char="•"/>
            </a:pPr>
            <a:r>
              <a:rPr lang="en-US" b="0" dirty="0"/>
              <a:t>These indicators complement statistical metrics by adding directional context. </a:t>
            </a:r>
          </a:p>
          <a:p>
            <a:pPr marL="285750" indent="-285750">
              <a:buFont typeface="Arial" panose="020B0604020202020204" pitchFamily="34" charset="0"/>
              <a:buChar char="•"/>
            </a:pPr>
            <a:r>
              <a:rPr lang="en-US" b="0" dirty="0"/>
              <a:t>While statistics describe historical behavior, indicators describe present market state. </a:t>
            </a:r>
          </a:p>
          <a:p>
            <a:pPr marL="285750" indent="-285750">
              <a:buFont typeface="Arial" panose="020B0604020202020204" pitchFamily="34" charset="0"/>
              <a:buChar char="•"/>
            </a:pPr>
            <a:r>
              <a:rPr lang="en-US" b="0" dirty="0"/>
              <a:t>This combination improves stock scoring quality. </a:t>
            </a:r>
          </a:p>
          <a:p>
            <a:pPr marL="285750" indent="-285750">
              <a:buFont typeface="Arial" panose="020B0604020202020204" pitchFamily="34" charset="0"/>
              <a:buChar char="•"/>
            </a:pPr>
            <a:r>
              <a:rPr lang="en-US" b="0" dirty="0"/>
              <a:t>It makes the system hybrid instead of purely statistical.</a:t>
            </a:r>
          </a:p>
          <a:p>
            <a:endParaRPr lang="en-US" b="0" dirty="0"/>
          </a:p>
        </p:txBody>
      </p:sp>
    </p:spTree>
    <p:extLst>
      <p:ext uri="{BB962C8B-B14F-4D97-AF65-F5344CB8AC3E}">
        <p14:creationId xmlns:p14="http://schemas.microsoft.com/office/powerpoint/2010/main" val="111065058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CF9828-CA02-EAE5-0364-6B9105A95D6B}"/>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D46647E6-8FC7-BC42-8EF7-6C832C7D53FE}"/>
              </a:ext>
            </a:extLst>
          </p:cNvPr>
          <p:cNvSpPr>
            <a:spLocks noGrp="1"/>
          </p:cNvSpPr>
          <p:nvPr>
            <p:ph type="title"/>
          </p:nvPr>
        </p:nvSpPr>
        <p:spPr/>
        <p:txBody>
          <a:bodyPr>
            <a:noAutofit/>
          </a:bodyPr>
          <a:lstStyle/>
          <a:p>
            <a:r>
              <a:rPr lang="en-US" sz="3200" b="1" dirty="0"/>
              <a:t>7. Physics Layer</a:t>
            </a:r>
            <a:endParaRPr lang="en-US" sz="3200" b="1" dirty="0">
              <a:latin typeface="Segoe UI Light" panose="020B0502040204020203" pitchFamily="34" charset="0"/>
              <a:cs typeface="Segoe UI Light" panose="020B0502040204020203" pitchFamily="34" charset="0"/>
            </a:endParaRPr>
          </a:p>
        </p:txBody>
      </p:sp>
      <p:sp>
        <p:nvSpPr>
          <p:cNvPr id="38" name="Content Placeholder 17">
            <a:extLst>
              <a:ext uri="{FF2B5EF4-FFF2-40B4-BE49-F238E27FC236}">
                <a16:creationId xmlns:a16="http://schemas.microsoft.com/office/drawing/2014/main" id="{FA4EA214-E8F8-3610-7455-9EA64B7846E1}"/>
              </a:ext>
            </a:extLst>
          </p:cNvPr>
          <p:cNvSpPr txBox="1">
            <a:spLocks/>
          </p:cNvSpPr>
          <p:nvPr/>
        </p:nvSpPr>
        <p:spPr>
          <a:xfrm>
            <a:off x="541610" y="1445195"/>
            <a:ext cx="11027538" cy="5124569"/>
          </a:xfrm>
          <a:prstGeom prst="rect">
            <a:avLst/>
          </a:prstGeom>
        </p:spPr>
        <p:txBody>
          <a:bodyPr vert="horz" wrap="square" lIns="91440" tIns="45720" rIns="91440" bIns="45720" rtlCol="0">
            <a:noAutofit/>
          </a:bodyPr>
          <a:lstStyle>
            <a:defPPr>
              <a:defRPr lang="en-US"/>
            </a:defPPr>
            <a:lvl1pPr indent="0">
              <a:lnSpc>
                <a:spcPts val="1800"/>
              </a:lnSpc>
              <a:spcBef>
                <a:spcPts val="0"/>
              </a:spcBef>
              <a:spcAft>
                <a:spcPts val="600"/>
              </a:spcAft>
              <a:buFont typeface="Arial" panose="020B0604020202020204" pitchFamily="34" charset="0"/>
              <a:buNone/>
              <a:defRPr sz="1600" b="1">
                <a:solidFill>
                  <a:schemeClr val="tx1">
                    <a:lumMod val="75000"/>
                    <a:lumOff val="25000"/>
                  </a:schemeClr>
                </a:solidFill>
              </a:defRPr>
            </a:lvl1pPr>
            <a:lvl2pPr marL="685800" indent="-228600">
              <a:lnSpc>
                <a:spcPts val="1800"/>
              </a:lnSpc>
              <a:spcBef>
                <a:spcPts val="1000"/>
              </a:spcBef>
              <a:spcAft>
                <a:spcPts val="1000"/>
              </a:spcAft>
              <a:buFont typeface="Arial" panose="020B0604020202020204" pitchFamily="34" charset="0"/>
              <a:buChar char="•"/>
              <a:defRPr sz="1200">
                <a:solidFill>
                  <a:schemeClr val="tx1">
                    <a:lumMod val="75000"/>
                    <a:lumOff val="25000"/>
                  </a:schemeClr>
                </a:solidFill>
              </a:defRPr>
            </a:lvl2pPr>
            <a:lvl3pPr marL="1143000" indent="-228600">
              <a:lnSpc>
                <a:spcPts val="1800"/>
              </a:lnSpc>
              <a:spcBef>
                <a:spcPts val="1000"/>
              </a:spcBef>
              <a:spcAft>
                <a:spcPts val="1000"/>
              </a:spcAft>
              <a:buFont typeface="Arial" panose="020B0604020202020204" pitchFamily="34" charset="0"/>
              <a:buChar char="•"/>
              <a:defRPr sz="1200">
                <a:solidFill>
                  <a:schemeClr val="tx1">
                    <a:lumMod val="75000"/>
                    <a:lumOff val="25000"/>
                  </a:schemeClr>
                </a:solidFill>
              </a:defRPr>
            </a:lvl3pPr>
            <a:lvl4pPr marL="1600200" indent="-228600">
              <a:lnSpc>
                <a:spcPts val="1800"/>
              </a:lnSpc>
              <a:spcBef>
                <a:spcPts val="1000"/>
              </a:spcBef>
              <a:spcAft>
                <a:spcPts val="1000"/>
              </a:spcAft>
              <a:buFont typeface="Arial" panose="020B0604020202020204" pitchFamily="34" charset="0"/>
              <a:buChar char="•"/>
              <a:defRPr sz="1200">
                <a:solidFill>
                  <a:schemeClr val="tx1">
                    <a:lumMod val="75000"/>
                    <a:lumOff val="25000"/>
                  </a:schemeClr>
                </a:solidFill>
              </a:defRPr>
            </a:lvl4pPr>
            <a:lvl5pPr marL="2057400" indent="-228600">
              <a:lnSpc>
                <a:spcPts val="1800"/>
              </a:lnSpc>
              <a:spcBef>
                <a:spcPts val="1000"/>
              </a:spcBef>
              <a:spcAft>
                <a:spcPts val="1000"/>
              </a:spcAft>
              <a:buFont typeface="Arial" panose="020B0604020202020204" pitchFamily="34" charset="0"/>
              <a:buChar char="•"/>
              <a:defRPr sz="1200">
                <a:solidFill>
                  <a:schemeClr val="tx1">
                    <a:lumMod val="75000"/>
                    <a:lumOff val="25000"/>
                  </a:schemeClr>
                </a:solidFill>
              </a:defRPr>
            </a:lvl5pPr>
            <a:lvl6pPr marL="2514600" indent="-228600">
              <a:lnSpc>
                <a:spcPct val="90000"/>
              </a:lnSpc>
              <a:spcBef>
                <a:spcPct val="30000"/>
              </a:spcBef>
              <a:buFont typeface="Arial" panose="020B0604020202020204" pitchFamily="34" charset="0"/>
              <a:buChar char="•"/>
            </a:lvl6pPr>
            <a:lvl7pPr marL="2971800" indent="-228600">
              <a:lnSpc>
                <a:spcPct val="90000"/>
              </a:lnSpc>
              <a:spcBef>
                <a:spcPct val="30000"/>
              </a:spcBef>
              <a:buFont typeface="Arial" panose="020B0604020202020204" pitchFamily="34" charset="0"/>
              <a:buChar char="•"/>
            </a:lvl7pPr>
            <a:lvl8pPr marL="3429000" indent="-228600">
              <a:lnSpc>
                <a:spcPct val="90000"/>
              </a:lnSpc>
              <a:spcBef>
                <a:spcPct val="30000"/>
              </a:spcBef>
              <a:buFont typeface="Arial" panose="020B0604020202020204" pitchFamily="34" charset="0"/>
              <a:buChar char="•"/>
            </a:lvl8pPr>
            <a:lvl9pPr marL="3886200" indent="-228600">
              <a:lnSpc>
                <a:spcPct val="90000"/>
              </a:lnSpc>
              <a:spcBef>
                <a:spcPct val="30000"/>
              </a:spcBef>
              <a:buFont typeface="Arial" panose="020B0604020202020204" pitchFamily="34" charset="0"/>
              <a:buChar char="•"/>
            </a:lvl9pPr>
          </a:lstStyle>
          <a:p>
            <a:r>
              <a:rPr lang="en-US" dirty="0"/>
              <a:t>Flow</a:t>
            </a:r>
          </a:p>
          <a:p>
            <a:r>
              <a:rPr lang="en-US" b="0" dirty="0"/>
              <a:t>Statistical Parameters → Stochastic Models → Price Path Generation</a:t>
            </a:r>
          </a:p>
          <a:p>
            <a:endParaRPr lang="en-US" b="0" dirty="0"/>
          </a:p>
          <a:p>
            <a:r>
              <a:rPr lang="en-US" dirty="0"/>
              <a:t>Description</a:t>
            </a:r>
          </a:p>
          <a:p>
            <a:pPr marL="285750" indent="-285750">
              <a:buFont typeface="Arial" panose="020B0604020202020204" pitchFamily="34" charset="0"/>
              <a:buChar char="•"/>
            </a:pPr>
            <a:r>
              <a:rPr lang="en-US" b="0" dirty="0"/>
              <a:t>This layer applies mathematical physics to model stock price behavior. </a:t>
            </a:r>
          </a:p>
          <a:p>
            <a:pPr marL="285750" indent="-285750">
              <a:buFont typeface="Arial" panose="020B0604020202020204" pitchFamily="34" charset="0"/>
              <a:buChar char="•"/>
            </a:pPr>
            <a:r>
              <a:rPr lang="en-US" b="0" dirty="0"/>
              <a:t>It transforms historical statistics into simulated future dynamics. </a:t>
            </a:r>
          </a:p>
          <a:p>
            <a:pPr marL="285750" indent="-285750">
              <a:buFont typeface="Arial" panose="020B0604020202020204" pitchFamily="34" charset="0"/>
              <a:buChar char="•"/>
            </a:pPr>
            <a:r>
              <a:rPr lang="en-US" b="0" dirty="0"/>
              <a:t>Brownian Motion models noise diffusion, Random Walk tests unpredictability, and GBM simulates multiplicative price growth. </a:t>
            </a:r>
          </a:p>
          <a:p>
            <a:pPr marL="285750" indent="-285750">
              <a:buFont typeface="Arial" panose="020B0604020202020204" pitchFamily="34" charset="0"/>
              <a:buChar char="•"/>
            </a:pPr>
            <a:r>
              <a:rPr lang="en-US" b="0" dirty="0"/>
              <a:t>These models are the mathematical heart of modern quantitative finance. </a:t>
            </a:r>
          </a:p>
          <a:p>
            <a:pPr marL="285750" indent="-285750">
              <a:buFont typeface="Arial" panose="020B0604020202020204" pitchFamily="34" charset="0"/>
              <a:buChar char="•"/>
            </a:pPr>
            <a:r>
              <a:rPr lang="en-US" b="0" dirty="0"/>
              <a:t>They provide synthetic future scenarios for stress analysis. </a:t>
            </a:r>
          </a:p>
          <a:p>
            <a:pPr marL="285750" indent="-285750">
              <a:buFont typeface="Arial" panose="020B0604020202020204" pitchFamily="34" charset="0"/>
              <a:buChar char="•"/>
            </a:pPr>
            <a:r>
              <a:rPr lang="en-US" b="0" dirty="0"/>
              <a:t>They also allow experimentation beyond historical limitations. </a:t>
            </a:r>
          </a:p>
          <a:p>
            <a:pPr marL="285750" indent="-285750">
              <a:buFont typeface="Arial" panose="020B0604020202020204" pitchFamily="34" charset="0"/>
              <a:buChar char="•"/>
            </a:pPr>
            <a:r>
              <a:rPr lang="en-US" b="0" dirty="0"/>
              <a:t>This layer makes the system research-grade. </a:t>
            </a:r>
          </a:p>
          <a:p>
            <a:pPr marL="285750" indent="-285750">
              <a:buFont typeface="Arial" panose="020B0604020202020204" pitchFamily="34" charset="0"/>
              <a:buChar char="•"/>
            </a:pPr>
            <a:r>
              <a:rPr lang="en-US" b="0" dirty="0"/>
              <a:t>It is where finance meets stochastic calculus.</a:t>
            </a:r>
          </a:p>
          <a:p>
            <a:endParaRPr lang="en-US" b="0" dirty="0"/>
          </a:p>
        </p:txBody>
      </p:sp>
    </p:spTree>
    <p:extLst>
      <p:ext uri="{BB962C8B-B14F-4D97-AF65-F5344CB8AC3E}">
        <p14:creationId xmlns:p14="http://schemas.microsoft.com/office/powerpoint/2010/main" val="392436050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743AF7-2B94-8E44-2990-8A5706E08EB5}"/>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B0873C8F-A141-1B02-5B51-1567CAF716E6}"/>
              </a:ext>
            </a:extLst>
          </p:cNvPr>
          <p:cNvSpPr>
            <a:spLocks noGrp="1"/>
          </p:cNvSpPr>
          <p:nvPr>
            <p:ph type="title"/>
          </p:nvPr>
        </p:nvSpPr>
        <p:spPr/>
        <p:txBody>
          <a:bodyPr>
            <a:noAutofit/>
          </a:bodyPr>
          <a:lstStyle/>
          <a:p>
            <a:r>
              <a:rPr lang="en-US" sz="3200" b="1" dirty="0"/>
              <a:t>8. Brownian Motion Engine</a:t>
            </a:r>
            <a:endParaRPr lang="en-US" sz="3200" b="1" dirty="0">
              <a:latin typeface="Segoe UI Light" panose="020B0502040204020203" pitchFamily="34" charset="0"/>
              <a:cs typeface="Segoe UI Light" panose="020B0502040204020203" pitchFamily="34" charset="0"/>
            </a:endParaRPr>
          </a:p>
        </p:txBody>
      </p:sp>
      <p:sp>
        <p:nvSpPr>
          <p:cNvPr id="38" name="Content Placeholder 17">
            <a:extLst>
              <a:ext uri="{FF2B5EF4-FFF2-40B4-BE49-F238E27FC236}">
                <a16:creationId xmlns:a16="http://schemas.microsoft.com/office/drawing/2014/main" id="{302DCEB1-B282-0C6C-C0F5-B7F0F8C7126A}"/>
              </a:ext>
            </a:extLst>
          </p:cNvPr>
          <p:cNvSpPr txBox="1">
            <a:spLocks/>
          </p:cNvSpPr>
          <p:nvPr/>
        </p:nvSpPr>
        <p:spPr>
          <a:xfrm>
            <a:off x="541610" y="1445195"/>
            <a:ext cx="11027538" cy="5124569"/>
          </a:xfrm>
          <a:prstGeom prst="rect">
            <a:avLst/>
          </a:prstGeom>
        </p:spPr>
        <p:txBody>
          <a:bodyPr vert="horz" wrap="square" lIns="91440" tIns="45720" rIns="91440" bIns="45720" rtlCol="0">
            <a:noAutofit/>
          </a:bodyPr>
          <a:lstStyle>
            <a:defPPr>
              <a:defRPr lang="en-US"/>
            </a:defPPr>
            <a:lvl1pPr indent="0">
              <a:lnSpc>
                <a:spcPts val="1800"/>
              </a:lnSpc>
              <a:spcBef>
                <a:spcPts val="0"/>
              </a:spcBef>
              <a:spcAft>
                <a:spcPts val="600"/>
              </a:spcAft>
              <a:buFont typeface="Arial" panose="020B0604020202020204" pitchFamily="34" charset="0"/>
              <a:buNone/>
              <a:defRPr sz="1600" b="1">
                <a:solidFill>
                  <a:schemeClr val="tx1">
                    <a:lumMod val="75000"/>
                    <a:lumOff val="25000"/>
                  </a:schemeClr>
                </a:solidFill>
              </a:defRPr>
            </a:lvl1pPr>
            <a:lvl2pPr marL="685800" indent="-228600">
              <a:lnSpc>
                <a:spcPts val="1800"/>
              </a:lnSpc>
              <a:spcBef>
                <a:spcPts val="1000"/>
              </a:spcBef>
              <a:spcAft>
                <a:spcPts val="1000"/>
              </a:spcAft>
              <a:buFont typeface="Arial" panose="020B0604020202020204" pitchFamily="34" charset="0"/>
              <a:buChar char="•"/>
              <a:defRPr sz="1200">
                <a:solidFill>
                  <a:schemeClr val="tx1">
                    <a:lumMod val="75000"/>
                    <a:lumOff val="25000"/>
                  </a:schemeClr>
                </a:solidFill>
              </a:defRPr>
            </a:lvl2pPr>
            <a:lvl3pPr marL="1143000" indent="-228600">
              <a:lnSpc>
                <a:spcPts val="1800"/>
              </a:lnSpc>
              <a:spcBef>
                <a:spcPts val="1000"/>
              </a:spcBef>
              <a:spcAft>
                <a:spcPts val="1000"/>
              </a:spcAft>
              <a:buFont typeface="Arial" panose="020B0604020202020204" pitchFamily="34" charset="0"/>
              <a:buChar char="•"/>
              <a:defRPr sz="1200">
                <a:solidFill>
                  <a:schemeClr val="tx1">
                    <a:lumMod val="75000"/>
                    <a:lumOff val="25000"/>
                  </a:schemeClr>
                </a:solidFill>
              </a:defRPr>
            </a:lvl3pPr>
            <a:lvl4pPr marL="1600200" indent="-228600">
              <a:lnSpc>
                <a:spcPts val="1800"/>
              </a:lnSpc>
              <a:spcBef>
                <a:spcPts val="1000"/>
              </a:spcBef>
              <a:spcAft>
                <a:spcPts val="1000"/>
              </a:spcAft>
              <a:buFont typeface="Arial" panose="020B0604020202020204" pitchFamily="34" charset="0"/>
              <a:buChar char="•"/>
              <a:defRPr sz="1200">
                <a:solidFill>
                  <a:schemeClr val="tx1">
                    <a:lumMod val="75000"/>
                    <a:lumOff val="25000"/>
                  </a:schemeClr>
                </a:solidFill>
              </a:defRPr>
            </a:lvl4pPr>
            <a:lvl5pPr marL="2057400" indent="-228600">
              <a:lnSpc>
                <a:spcPts val="1800"/>
              </a:lnSpc>
              <a:spcBef>
                <a:spcPts val="1000"/>
              </a:spcBef>
              <a:spcAft>
                <a:spcPts val="1000"/>
              </a:spcAft>
              <a:buFont typeface="Arial" panose="020B0604020202020204" pitchFamily="34" charset="0"/>
              <a:buChar char="•"/>
              <a:defRPr sz="1200">
                <a:solidFill>
                  <a:schemeClr val="tx1">
                    <a:lumMod val="75000"/>
                    <a:lumOff val="25000"/>
                  </a:schemeClr>
                </a:solidFill>
              </a:defRPr>
            </a:lvl5pPr>
            <a:lvl6pPr marL="2514600" indent="-228600">
              <a:lnSpc>
                <a:spcPct val="90000"/>
              </a:lnSpc>
              <a:spcBef>
                <a:spcPct val="30000"/>
              </a:spcBef>
              <a:buFont typeface="Arial" panose="020B0604020202020204" pitchFamily="34" charset="0"/>
              <a:buChar char="•"/>
            </a:lvl6pPr>
            <a:lvl7pPr marL="2971800" indent="-228600">
              <a:lnSpc>
                <a:spcPct val="90000"/>
              </a:lnSpc>
              <a:spcBef>
                <a:spcPct val="30000"/>
              </a:spcBef>
              <a:buFont typeface="Arial" panose="020B0604020202020204" pitchFamily="34" charset="0"/>
              <a:buChar char="•"/>
            </a:lvl7pPr>
            <a:lvl8pPr marL="3429000" indent="-228600">
              <a:lnSpc>
                <a:spcPct val="90000"/>
              </a:lnSpc>
              <a:spcBef>
                <a:spcPct val="30000"/>
              </a:spcBef>
              <a:buFont typeface="Arial" panose="020B0604020202020204" pitchFamily="34" charset="0"/>
              <a:buChar char="•"/>
            </a:lvl8pPr>
            <a:lvl9pPr marL="3886200" indent="-228600">
              <a:lnSpc>
                <a:spcPct val="90000"/>
              </a:lnSpc>
              <a:spcBef>
                <a:spcPct val="30000"/>
              </a:spcBef>
              <a:buFont typeface="Arial" panose="020B0604020202020204" pitchFamily="34" charset="0"/>
              <a:buChar char="•"/>
            </a:lvl9pPr>
          </a:lstStyle>
          <a:p>
            <a:r>
              <a:rPr lang="en-US" dirty="0"/>
              <a:t>Equation</a:t>
            </a:r>
          </a:p>
          <a:p>
            <a:r>
              <a:rPr lang="en-US" b="0" dirty="0" err="1"/>
              <a:t>dX</a:t>
            </a:r>
            <a:r>
              <a:rPr lang="en-US" b="0" dirty="0"/>
              <a:t> = </a:t>
            </a:r>
            <a:r>
              <a:rPr lang="el-GR" b="0" dirty="0"/>
              <a:t>μ</a:t>
            </a:r>
            <a:r>
              <a:rPr lang="en-US" b="0" dirty="0"/>
              <a:t>dt + </a:t>
            </a:r>
            <a:r>
              <a:rPr lang="el-GR" b="0" dirty="0"/>
              <a:t>σ</a:t>
            </a:r>
            <a:r>
              <a:rPr lang="en-US" b="0" dirty="0" err="1"/>
              <a:t>dW</a:t>
            </a:r>
            <a:endParaRPr lang="en-US" b="0" dirty="0"/>
          </a:p>
          <a:p>
            <a:endParaRPr lang="en-US" b="0" dirty="0"/>
          </a:p>
          <a:p>
            <a:r>
              <a:rPr lang="en-US" dirty="0"/>
              <a:t>Description</a:t>
            </a:r>
          </a:p>
          <a:p>
            <a:pPr marL="285750" indent="-285750">
              <a:buFont typeface="Arial" panose="020B0604020202020204" pitchFamily="34" charset="0"/>
              <a:buChar char="•"/>
            </a:pPr>
            <a:r>
              <a:rPr lang="en-US" b="0" dirty="0"/>
              <a:t>Brownian motion models continuous random movement. </a:t>
            </a:r>
          </a:p>
          <a:p>
            <a:pPr marL="285750" indent="-285750">
              <a:buFont typeface="Arial" panose="020B0604020202020204" pitchFamily="34" charset="0"/>
              <a:buChar char="•"/>
            </a:pPr>
            <a:r>
              <a:rPr lang="en-US" b="0" dirty="0"/>
              <a:t>In finance, it represents market noise. </a:t>
            </a:r>
          </a:p>
          <a:p>
            <a:pPr marL="285750" indent="-285750">
              <a:buFont typeface="Arial" panose="020B0604020202020204" pitchFamily="34" charset="0"/>
              <a:buChar char="•"/>
            </a:pPr>
            <a:r>
              <a:rPr lang="en-US" b="0" dirty="0"/>
              <a:t>Each increment is normally distributed. </a:t>
            </a:r>
          </a:p>
          <a:p>
            <a:pPr marL="285750" indent="-285750">
              <a:buFont typeface="Arial" panose="020B0604020202020204" pitchFamily="34" charset="0"/>
              <a:buChar char="•"/>
            </a:pPr>
            <a:r>
              <a:rPr lang="en-US" b="0" dirty="0"/>
              <a:t>The model assumes no memory. </a:t>
            </a:r>
          </a:p>
          <a:p>
            <a:pPr marL="285750" indent="-285750">
              <a:buFont typeface="Arial" panose="020B0604020202020204" pitchFamily="34" charset="0"/>
              <a:buChar char="•"/>
            </a:pPr>
            <a:r>
              <a:rPr lang="en-US" b="0" dirty="0"/>
              <a:t>It is useful for understanding baseline randomness. </a:t>
            </a:r>
          </a:p>
          <a:p>
            <a:pPr marL="285750" indent="-285750">
              <a:buFont typeface="Arial" panose="020B0604020202020204" pitchFamily="34" charset="0"/>
              <a:buChar char="•"/>
            </a:pPr>
            <a:r>
              <a:rPr lang="en-US" b="0" dirty="0"/>
              <a:t>It is the foundation of GBM and Black-Scholes style pricing. </a:t>
            </a:r>
          </a:p>
          <a:p>
            <a:pPr marL="285750" indent="-285750">
              <a:buFont typeface="Arial" panose="020B0604020202020204" pitchFamily="34" charset="0"/>
              <a:buChar char="•"/>
            </a:pPr>
            <a:r>
              <a:rPr lang="en-US" b="0" dirty="0"/>
              <a:t>This model is ideal for diffusion analysis. </a:t>
            </a:r>
          </a:p>
          <a:p>
            <a:pPr marL="285750" indent="-285750">
              <a:buFont typeface="Arial" panose="020B0604020202020204" pitchFamily="34" charset="0"/>
              <a:buChar char="•"/>
            </a:pPr>
            <a:r>
              <a:rPr lang="en-US" b="0" dirty="0"/>
              <a:t>It provides the simplest continuous stochastic framework</a:t>
            </a:r>
          </a:p>
        </p:txBody>
      </p:sp>
    </p:spTree>
    <p:extLst>
      <p:ext uri="{BB962C8B-B14F-4D97-AF65-F5344CB8AC3E}">
        <p14:creationId xmlns:p14="http://schemas.microsoft.com/office/powerpoint/2010/main" val="149805825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483D88-3397-1270-6B4E-9B30A7500EB4}"/>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772386C1-B2EE-A172-FA37-248B946BDE38}"/>
              </a:ext>
            </a:extLst>
          </p:cNvPr>
          <p:cNvSpPr>
            <a:spLocks noGrp="1"/>
          </p:cNvSpPr>
          <p:nvPr>
            <p:ph type="title"/>
          </p:nvPr>
        </p:nvSpPr>
        <p:spPr/>
        <p:txBody>
          <a:bodyPr>
            <a:noAutofit/>
          </a:bodyPr>
          <a:lstStyle/>
          <a:p>
            <a:r>
              <a:rPr lang="en-US" sz="3200" b="1" dirty="0"/>
              <a:t>9. GBM Engine</a:t>
            </a:r>
            <a:endParaRPr lang="en-US" sz="3200" b="1" dirty="0">
              <a:latin typeface="Segoe UI Light" panose="020B0502040204020203" pitchFamily="34" charset="0"/>
              <a:cs typeface="Segoe UI Light" panose="020B0502040204020203" pitchFamily="34" charset="0"/>
            </a:endParaRPr>
          </a:p>
        </p:txBody>
      </p:sp>
      <p:sp>
        <p:nvSpPr>
          <p:cNvPr id="38" name="Content Placeholder 17">
            <a:extLst>
              <a:ext uri="{FF2B5EF4-FFF2-40B4-BE49-F238E27FC236}">
                <a16:creationId xmlns:a16="http://schemas.microsoft.com/office/drawing/2014/main" id="{E221995E-F9BD-3E2B-51BA-4BCD2DDED806}"/>
              </a:ext>
            </a:extLst>
          </p:cNvPr>
          <p:cNvSpPr txBox="1">
            <a:spLocks/>
          </p:cNvSpPr>
          <p:nvPr/>
        </p:nvSpPr>
        <p:spPr>
          <a:xfrm>
            <a:off x="541610" y="1445195"/>
            <a:ext cx="11027538" cy="5124569"/>
          </a:xfrm>
          <a:prstGeom prst="rect">
            <a:avLst/>
          </a:prstGeom>
        </p:spPr>
        <p:txBody>
          <a:bodyPr vert="horz" wrap="square" lIns="91440" tIns="45720" rIns="91440" bIns="45720" rtlCol="0">
            <a:noAutofit/>
          </a:bodyPr>
          <a:lstStyle>
            <a:defPPr>
              <a:defRPr lang="en-US"/>
            </a:defPPr>
            <a:lvl1pPr indent="0">
              <a:lnSpc>
                <a:spcPts val="1800"/>
              </a:lnSpc>
              <a:spcBef>
                <a:spcPts val="0"/>
              </a:spcBef>
              <a:spcAft>
                <a:spcPts val="600"/>
              </a:spcAft>
              <a:buFont typeface="Arial" panose="020B0604020202020204" pitchFamily="34" charset="0"/>
              <a:buNone/>
              <a:defRPr sz="1600" b="1">
                <a:solidFill>
                  <a:schemeClr val="tx1">
                    <a:lumMod val="75000"/>
                    <a:lumOff val="25000"/>
                  </a:schemeClr>
                </a:solidFill>
              </a:defRPr>
            </a:lvl1pPr>
            <a:lvl2pPr marL="685800" indent="-228600">
              <a:lnSpc>
                <a:spcPts val="1800"/>
              </a:lnSpc>
              <a:spcBef>
                <a:spcPts val="1000"/>
              </a:spcBef>
              <a:spcAft>
                <a:spcPts val="1000"/>
              </a:spcAft>
              <a:buFont typeface="Arial" panose="020B0604020202020204" pitchFamily="34" charset="0"/>
              <a:buChar char="•"/>
              <a:defRPr sz="1200">
                <a:solidFill>
                  <a:schemeClr val="tx1">
                    <a:lumMod val="75000"/>
                    <a:lumOff val="25000"/>
                  </a:schemeClr>
                </a:solidFill>
              </a:defRPr>
            </a:lvl2pPr>
            <a:lvl3pPr marL="1143000" indent="-228600">
              <a:lnSpc>
                <a:spcPts val="1800"/>
              </a:lnSpc>
              <a:spcBef>
                <a:spcPts val="1000"/>
              </a:spcBef>
              <a:spcAft>
                <a:spcPts val="1000"/>
              </a:spcAft>
              <a:buFont typeface="Arial" panose="020B0604020202020204" pitchFamily="34" charset="0"/>
              <a:buChar char="•"/>
              <a:defRPr sz="1200">
                <a:solidFill>
                  <a:schemeClr val="tx1">
                    <a:lumMod val="75000"/>
                    <a:lumOff val="25000"/>
                  </a:schemeClr>
                </a:solidFill>
              </a:defRPr>
            </a:lvl3pPr>
            <a:lvl4pPr marL="1600200" indent="-228600">
              <a:lnSpc>
                <a:spcPts val="1800"/>
              </a:lnSpc>
              <a:spcBef>
                <a:spcPts val="1000"/>
              </a:spcBef>
              <a:spcAft>
                <a:spcPts val="1000"/>
              </a:spcAft>
              <a:buFont typeface="Arial" panose="020B0604020202020204" pitchFamily="34" charset="0"/>
              <a:buChar char="•"/>
              <a:defRPr sz="1200">
                <a:solidFill>
                  <a:schemeClr val="tx1">
                    <a:lumMod val="75000"/>
                    <a:lumOff val="25000"/>
                  </a:schemeClr>
                </a:solidFill>
              </a:defRPr>
            </a:lvl4pPr>
            <a:lvl5pPr marL="2057400" indent="-228600">
              <a:lnSpc>
                <a:spcPts val="1800"/>
              </a:lnSpc>
              <a:spcBef>
                <a:spcPts val="1000"/>
              </a:spcBef>
              <a:spcAft>
                <a:spcPts val="1000"/>
              </a:spcAft>
              <a:buFont typeface="Arial" panose="020B0604020202020204" pitchFamily="34" charset="0"/>
              <a:buChar char="•"/>
              <a:defRPr sz="1200">
                <a:solidFill>
                  <a:schemeClr val="tx1">
                    <a:lumMod val="75000"/>
                    <a:lumOff val="25000"/>
                  </a:schemeClr>
                </a:solidFill>
              </a:defRPr>
            </a:lvl5pPr>
            <a:lvl6pPr marL="2514600" indent="-228600">
              <a:lnSpc>
                <a:spcPct val="90000"/>
              </a:lnSpc>
              <a:spcBef>
                <a:spcPct val="30000"/>
              </a:spcBef>
              <a:buFont typeface="Arial" panose="020B0604020202020204" pitchFamily="34" charset="0"/>
              <a:buChar char="•"/>
            </a:lvl6pPr>
            <a:lvl7pPr marL="2971800" indent="-228600">
              <a:lnSpc>
                <a:spcPct val="90000"/>
              </a:lnSpc>
              <a:spcBef>
                <a:spcPct val="30000"/>
              </a:spcBef>
              <a:buFont typeface="Arial" panose="020B0604020202020204" pitchFamily="34" charset="0"/>
              <a:buChar char="•"/>
            </a:lvl7pPr>
            <a:lvl8pPr marL="3429000" indent="-228600">
              <a:lnSpc>
                <a:spcPct val="90000"/>
              </a:lnSpc>
              <a:spcBef>
                <a:spcPct val="30000"/>
              </a:spcBef>
              <a:buFont typeface="Arial" panose="020B0604020202020204" pitchFamily="34" charset="0"/>
              <a:buChar char="•"/>
            </a:lvl8pPr>
            <a:lvl9pPr marL="3886200" indent="-228600">
              <a:lnSpc>
                <a:spcPct val="90000"/>
              </a:lnSpc>
              <a:spcBef>
                <a:spcPct val="30000"/>
              </a:spcBef>
              <a:buFont typeface="Arial" panose="020B0604020202020204" pitchFamily="34" charset="0"/>
              <a:buChar char="•"/>
            </a:lvl9pPr>
          </a:lstStyle>
          <a:p>
            <a:r>
              <a:rPr lang="en-US" dirty="0"/>
              <a:t>Equation</a:t>
            </a:r>
          </a:p>
          <a:p>
            <a:r>
              <a:rPr lang="en-US" b="0" dirty="0" err="1"/>
              <a:t>dS</a:t>
            </a:r>
            <a:r>
              <a:rPr lang="en-US" b="0" dirty="0"/>
              <a:t> = </a:t>
            </a:r>
            <a:r>
              <a:rPr lang="el-GR" b="0" dirty="0"/>
              <a:t>μ</a:t>
            </a:r>
            <a:r>
              <a:rPr lang="en-US" b="0" dirty="0" err="1"/>
              <a:t>Sdt</a:t>
            </a:r>
            <a:r>
              <a:rPr lang="en-US" b="0" dirty="0"/>
              <a:t> + </a:t>
            </a:r>
            <a:r>
              <a:rPr lang="el-GR" b="0" dirty="0"/>
              <a:t>σ</a:t>
            </a:r>
            <a:r>
              <a:rPr lang="en-US" b="0" dirty="0" err="1"/>
              <a:t>SdW</a:t>
            </a:r>
            <a:endParaRPr lang="en-US" b="0" dirty="0"/>
          </a:p>
          <a:p>
            <a:endParaRPr lang="en-US" b="0" dirty="0"/>
          </a:p>
          <a:p>
            <a:r>
              <a:rPr lang="en-US" dirty="0"/>
              <a:t>Description</a:t>
            </a:r>
          </a:p>
          <a:p>
            <a:pPr marL="285750" indent="-285750">
              <a:buFont typeface="Arial" panose="020B0604020202020204" pitchFamily="34" charset="0"/>
              <a:buChar char="•"/>
            </a:pPr>
            <a:r>
              <a:rPr lang="en-US" b="0" dirty="0"/>
              <a:t>Gradient Boosting Machine (GBM) improves Brownian motion by making price changes proportional to current price. </a:t>
            </a:r>
          </a:p>
          <a:p>
            <a:pPr marL="285750" indent="-285750">
              <a:buFont typeface="Arial" panose="020B0604020202020204" pitchFamily="34" charset="0"/>
              <a:buChar char="•"/>
            </a:pPr>
            <a:r>
              <a:rPr lang="en-US" b="0" dirty="0"/>
              <a:t>This reflects real market behavior better. </a:t>
            </a:r>
          </a:p>
          <a:p>
            <a:pPr marL="285750" indent="-285750">
              <a:buFont typeface="Arial" panose="020B0604020202020204" pitchFamily="34" charset="0"/>
              <a:buChar char="•"/>
            </a:pPr>
            <a:r>
              <a:rPr lang="en-US" b="0" dirty="0"/>
              <a:t>It preserves positivity, unlike standard Brownian motion.</a:t>
            </a:r>
          </a:p>
          <a:p>
            <a:pPr marL="285750" indent="-285750">
              <a:buFont typeface="Arial" panose="020B0604020202020204" pitchFamily="34" charset="0"/>
              <a:buChar char="•"/>
            </a:pPr>
            <a:r>
              <a:rPr lang="en-US" b="0" dirty="0"/>
              <a:t>It is widely used in derivatives pricing. </a:t>
            </a:r>
          </a:p>
          <a:p>
            <a:pPr marL="285750" indent="-285750">
              <a:buFont typeface="Arial" panose="020B0604020202020204" pitchFamily="34" charset="0"/>
              <a:buChar char="•"/>
            </a:pPr>
            <a:r>
              <a:rPr lang="en-US" b="0" dirty="0"/>
              <a:t>Drift controls expected growth. </a:t>
            </a:r>
          </a:p>
          <a:p>
            <a:pPr marL="285750" indent="-285750">
              <a:buFont typeface="Arial" panose="020B0604020202020204" pitchFamily="34" charset="0"/>
              <a:buChar char="•"/>
            </a:pPr>
            <a:r>
              <a:rPr lang="en-US" b="0" dirty="0"/>
              <a:t>Volatility controls uncertainty. </a:t>
            </a:r>
          </a:p>
          <a:p>
            <a:pPr marL="285750" indent="-285750">
              <a:buFont typeface="Arial" panose="020B0604020202020204" pitchFamily="34" charset="0"/>
              <a:buChar char="•"/>
            </a:pPr>
            <a:r>
              <a:rPr lang="en-US" b="0" dirty="0"/>
              <a:t>This makes it ideal for forecasting future price distributions. </a:t>
            </a:r>
          </a:p>
          <a:p>
            <a:pPr marL="285750" indent="-285750">
              <a:buFont typeface="Arial" panose="020B0604020202020204" pitchFamily="34" charset="0"/>
              <a:buChar char="•"/>
            </a:pPr>
            <a:r>
              <a:rPr lang="en-US" b="0" dirty="0"/>
              <a:t>It is the main simulation model for Monte Carlo.</a:t>
            </a:r>
          </a:p>
        </p:txBody>
      </p:sp>
    </p:spTree>
    <p:extLst>
      <p:ext uri="{BB962C8B-B14F-4D97-AF65-F5344CB8AC3E}">
        <p14:creationId xmlns:p14="http://schemas.microsoft.com/office/powerpoint/2010/main" val="266131570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840960-E561-3150-F6E4-878534E929D5}"/>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A2D457BF-15D5-B538-C9FC-68382D69A61E}"/>
              </a:ext>
            </a:extLst>
          </p:cNvPr>
          <p:cNvSpPr>
            <a:spLocks noGrp="1"/>
          </p:cNvSpPr>
          <p:nvPr>
            <p:ph type="title"/>
          </p:nvPr>
        </p:nvSpPr>
        <p:spPr/>
        <p:txBody>
          <a:bodyPr>
            <a:noAutofit/>
          </a:bodyPr>
          <a:lstStyle/>
          <a:p>
            <a:r>
              <a:rPr lang="en-US" sz="3200" b="1" dirty="0"/>
              <a:t>10. Monte Carlo Engine</a:t>
            </a:r>
            <a:endParaRPr lang="en-US" sz="3200" b="1" dirty="0">
              <a:latin typeface="Segoe UI Light" panose="020B0502040204020203" pitchFamily="34" charset="0"/>
              <a:cs typeface="Segoe UI Light" panose="020B0502040204020203" pitchFamily="34" charset="0"/>
            </a:endParaRPr>
          </a:p>
        </p:txBody>
      </p:sp>
      <p:sp>
        <p:nvSpPr>
          <p:cNvPr id="38" name="Content Placeholder 17">
            <a:extLst>
              <a:ext uri="{FF2B5EF4-FFF2-40B4-BE49-F238E27FC236}">
                <a16:creationId xmlns:a16="http://schemas.microsoft.com/office/drawing/2014/main" id="{35B21E3E-4BD5-7A94-6526-E859619566C5}"/>
              </a:ext>
            </a:extLst>
          </p:cNvPr>
          <p:cNvSpPr txBox="1">
            <a:spLocks/>
          </p:cNvSpPr>
          <p:nvPr/>
        </p:nvSpPr>
        <p:spPr>
          <a:xfrm>
            <a:off x="541610" y="1445195"/>
            <a:ext cx="11027538" cy="5124569"/>
          </a:xfrm>
          <a:prstGeom prst="rect">
            <a:avLst/>
          </a:prstGeom>
        </p:spPr>
        <p:txBody>
          <a:bodyPr vert="horz" wrap="square" lIns="91440" tIns="45720" rIns="91440" bIns="45720" rtlCol="0">
            <a:noAutofit/>
          </a:bodyPr>
          <a:lstStyle>
            <a:defPPr>
              <a:defRPr lang="en-US"/>
            </a:defPPr>
            <a:lvl1pPr indent="0">
              <a:lnSpc>
                <a:spcPts val="1800"/>
              </a:lnSpc>
              <a:spcBef>
                <a:spcPts val="0"/>
              </a:spcBef>
              <a:spcAft>
                <a:spcPts val="600"/>
              </a:spcAft>
              <a:buFont typeface="Arial" panose="020B0604020202020204" pitchFamily="34" charset="0"/>
              <a:buNone/>
              <a:defRPr sz="1600" b="1">
                <a:solidFill>
                  <a:schemeClr val="tx1">
                    <a:lumMod val="75000"/>
                    <a:lumOff val="25000"/>
                  </a:schemeClr>
                </a:solidFill>
              </a:defRPr>
            </a:lvl1pPr>
            <a:lvl2pPr marL="685800" indent="-228600">
              <a:lnSpc>
                <a:spcPts val="1800"/>
              </a:lnSpc>
              <a:spcBef>
                <a:spcPts val="1000"/>
              </a:spcBef>
              <a:spcAft>
                <a:spcPts val="1000"/>
              </a:spcAft>
              <a:buFont typeface="Arial" panose="020B0604020202020204" pitchFamily="34" charset="0"/>
              <a:buChar char="•"/>
              <a:defRPr sz="1200">
                <a:solidFill>
                  <a:schemeClr val="tx1">
                    <a:lumMod val="75000"/>
                    <a:lumOff val="25000"/>
                  </a:schemeClr>
                </a:solidFill>
              </a:defRPr>
            </a:lvl2pPr>
            <a:lvl3pPr marL="1143000" indent="-228600">
              <a:lnSpc>
                <a:spcPts val="1800"/>
              </a:lnSpc>
              <a:spcBef>
                <a:spcPts val="1000"/>
              </a:spcBef>
              <a:spcAft>
                <a:spcPts val="1000"/>
              </a:spcAft>
              <a:buFont typeface="Arial" panose="020B0604020202020204" pitchFamily="34" charset="0"/>
              <a:buChar char="•"/>
              <a:defRPr sz="1200">
                <a:solidFill>
                  <a:schemeClr val="tx1">
                    <a:lumMod val="75000"/>
                    <a:lumOff val="25000"/>
                  </a:schemeClr>
                </a:solidFill>
              </a:defRPr>
            </a:lvl3pPr>
            <a:lvl4pPr marL="1600200" indent="-228600">
              <a:lnSpc>
                <a:spcPts val="1800"/>
              </a:lnSpc>
              <a:spcBef>
                <a:spcPts val="1000"/>
              </a:spcBef>
              <a:spcAft>
                <a:spcPts val="1000"/>
              </a:spcAft>
              <a:buFont typeface="Arial" panose="020B0604020202020204" pitchFamily="34" charset="0"/>
              <a:buChar char="•"/>
              <a:defRPr sz="1200">
                <a:solidFill>
                  <a:schemeClr val="tx1">
                    <a:lumMod val="75000"/>
                    <a:lumOff val="25000"/>
                  </a:schemeClr>
                </a:solidFill>
              </a:defRPr>
            </a:lvl4pPr>
            <a:lvl5pPr marL="2057400" indent="-228600">
              <a:lnSpc>
                <a:spcPts val="1800"/>
              </a:lnSpc>
              <a:spcBef>
                <a:spcPts val="1000"/>
              </a:spcBef>
              <a:spcAft>
                <a:spcPts val="1000"/>
              </a:spcAft>
              <a:buFont typeface="Arial" panose="020B0604020202020204" pitchFamily="34" charset="0"/>
              <a:buChar char="•"/>
              <a:defRPr sz="1200">
                <a:solidFill>
                  <a:schemeClr val="tx1">
                    <a:lumMod val="75000"/>
                    <a:lumOff val="25000"/>
                  </a:schemeClr>
                </a:solidFill>
              </a:defRPr>
            </a:lvl5pPr>
            <a:lvl6pPr marL="2514600" indent="-228600">
              <a:lnSpc>
                <a:spcPct val="90000"/>
              </a:lnSpc>
              <a:spcBef>
                <a:spcPct val="30000"/>
              </a:spcBef>
              <a:buFont typeface="Arial" panose="020B0604020202020204" pitchFamily="34" charset="0"/>
              <a:buChar char="•"/>
            </a:lvl6pPr>
            <a:lvl7pPr marL="2971800" indent="-228600">
              <a:lnSpc>
                <a:spcPct val="90000"/>
              </a:lnSpc>
              <a:spcBef>
                <a:spcPct val="30000"/>
              </a:spcBef>
              <a:buFont typeface="Arial" panose="020B0604020202020204" pitchFamily="34" charset="0"/>
              <a:buChar char="•"/>
            </a:lvl7pPr>
            <a:lvl8pPr marL="3429000" indent="-228600">
              <a:lnSpc>
                <a:spcPct val="90000"/>
              </a:lnSpc>
              <a:spcBef>
                <a:spcPct val="30000"/>
              </a:spcBef>
              <a:buFont typeface="Arial" panose="020B0604020202020204" pitchFamily="34" charset="0"/>
              <a:buChar char="•"/>
            </a:lvl8pPr>
            <a:lvl9pPr marL="3886200" indent="-228600">
              <a:lnSpc>
                <a:spcPct val="90000"/>
              </a:lnSpc>
              <a:spcBef>
                <a:spcPct val="30000"/>
              </a:spcBef>
              <a:buFont typeface="Arial" panose="020B0604020202020204" pitchFamily="34" charset="0"/>
              <a:buChar char="•"/>
            </a:lvl9pPr>
          </a:lstStyle>
          <a:p>
            <a:r>
              <a:rPr lang="en-US" dirty="0"/>
              <a:t>Flow</a:t>
            </a:r>
          </a:p>
          <a:p>
            <a:r>
              <a:rPr lang="en-US" b="0" dirty="0"/>
              <a:t>GBM → Thousands of Paths → Future Distribution</a:t>
            </a:r>
          </a:p>
          <a:p>
            <a:endParaRPr lang="en-US" b="0" dirty="0"/>
          </a:p>
          <a:p>
            <a:r>
              <a:rPr lang="en-US" dirty="0"/>
              <a:t>Description</a:t>
            </a:r>
          </a:p>
          <a:p>
            <a:pPr marL="285750" indent="-285750">
              <a:buFont typeface="Arial" panose="020B0604020202020204" pitchFamily="34" charset="0"/>
              <a:buChar char="•"/>
            </a:pPr>
            <a:r>
              <a:rPr lang="en-US" b="0" dirty="0"/>
              <a:t>Monte Carlo repeats GBM thousands of times to generate future probability distributions. </a:t>
            </a:r>
          </a:p>
          <a:p>
            <a:pPr marL="285750" indent="-285750">
              <a:buFont typeface="Arial" panose="020B0604020202020204" pitchFamily="34" charset="0"/>
              <a:buChar char="•"/>
            </a:pPr>
            <a:r>
              <a:rPr lang="en-US" b="0" dirty="0"/>
              <a:t>Instead of one forecast, it creates many possible futures. </a:t>
            </a:r>
          </a:p>
          <a:p>
            <a:pPr marL="285750" indent="-285750">
              <a:buFont typeface="Arial" panose="020B0604020202020204" pitchFamily="34" charset="0"/>
              <a:buChar char="•"/>
            </a:pPr>
            <a:r>
              <a:rPr lang="en-US" b="0" dirty="0"/>
              <a:t>This helps estimate upside probability, downside probability, and confidence intervals. </a:t>
            </a:r>
          </a:p>
          <a:p>
            <a:pPr marL="285750" indent="-285750">
              <a:buFont typeface="Arial" panose="020B0604020202020204" pitchFamily="34" charset="0"/>
              <a:buChar char="•"/>
            </a:pPr>
            <a:r>
              <a:rPr lang="en-US" b="0" dirty="0"/>
              <a:t>It is probabilistic forecasting rather than deterministic forecasting. </a:t>
            </a:r>
          </a:p>
          <a:p>
            <a:pPr marL="285750" indent="-285750">
              <a:buFont typeface="Arial" panose="020B0604020202020204" pitchFamily="34" charset="0"/>
              <a:buChar char="•"/>
            </a:pPr>
            <a:r>
              <a:rPr lang="en-US" b="0" dirty="0"/>
              <a:t>Institutions use this heavily in portfolio management. </a:t>
            </a:r>
          </a:p>
          <a:p>
            <a:pPr marL="285750" indent="-285750">
              <a:buFont typeface="Arial" panose="020B0604020202020204" pitchFamily="34" charset="0"/>
              <a:buChar char="•"/>
            </a:pPr>
            <a:r>
              <a:rPr lang="en-US" b="0" dirty="0"/>
              <a:t>It quantifies uncertainty explicitly. </a:t>
            </a:r>
          </a:p>
          <a:p>
            <a:pPr marL="285750" indent="-285750">
              <a:buFont typeface="Arial" panose="020B0604020202020204" pitchFamily="34" charset="0"/>
              <a:buChar char="•"/>
            </a:pPr>
            <a:r>
              <a:rPr lang="en-US" b="0" dirty="0"/>
              <a:t>It is one of the strongest forecasting tools. </a:t>
            </a:r>
          </a:p>
          <a:p>
            <a:pPr marL="285750" indent="-285750">
              <a:buFont typeface="Arial" panose="020B0604020202020204" pitchFamily="34" charset="0"/>
              <a:buChar char="•"/>
            </a:pPr>
            <a:r>
              <a:rPr lang="en-US" b="0" dirty="0"/>
              <a:t>This is the probabilistic intelligence engine.</a:t>
            </a:r>
          </a:p>
        </p:txBody>
      </p:sp>
    </p:spTree>
    <p:extLst>
      <p:ext uri="{BB962C8B-B14F-4D97-AF65-F5344CB8AC3E}">
        <p14:creationId xmlns:p14="http://schemas.microsoft.com/office/powerpoint/2010/main" val="167605776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F8AE07-302C-94AA-0E60-2F24E2A70CDE}"/>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9424188F-6828-A2D5-09EE-1C4D3D78F638}"/>
              </a:ext>
            </a:extLst>
          </p:cNvPr>
          <p:cNvSpPr>
            <a:spLocks noGrp="1"/>
          </p:cNvSpPr>
          <p:nvPr>
            <p:ph type="title"/>
          </p:nvPr>
        </p:nvSpPr>
        <p:spPr/>
        <p:txBody>
          <a:bodyPr>
            <a:noAutofit/>
          </a:bodyPr>
          <a:lstStyle/>
          <a:p>
            <a:r>
              <a:rPr lang="en-US" sz="3200" b="1" dirty="0"/>
              <a:t>11. Risk Engine</a:t>
            </a:r>
            <a:endParaRPr lang="en-US" sz="3200" b="1" dirty="0">
              <a:latin typeface="Segoe UI Light" panose="020B0502040204020203" pitchFamily="34" charset="0"/>
              <a:cs typeface="Segoe UI Light" panose="020B0502040204020203" pitchFamily="34" charset="0"/>
            </a:endParaRPr>
          </a:p>
        </p:txBody>
      </p:sp>
      <p:sp>
        <p:nvSpPr>
          <p:cNvPr id="38" name="Content Placeholder 17">
            <a:extLst>
              <a:ext uri="{FF2B5EF4-FFF2-40B4-BE49-F238E27FC236}">
                <a16:creationId xmlns:a16="http://schemas.microsoft.com/office/drawing/2014/main" id="{87AFF18E-3FC9-DDD4-F524-A74854F7E9C8}"/>
              </a:ext>
            </a:extLst>
          </p:cNvPr>
          <p:cNvSpPr txBox="1">
            <a:spLocks/>
          </p:cNvSpPr>
          <p:nvPr/>
        </p:nvSpPr>
        <p:spPr>
          <a:xfrm>
            <a:off x="541610" y="1445195"/>
            <a:ext cx="11027538" cy="5124569"/>
          </a:xfrm>
          <a:prstGeom prst="rect">
            <a:avLst/>
          </a:prstGeom>
        </p:spPr>
        <p:txBody>
          <a:bodyPr vert="horz" wrap="square" lIns="91440" tIns="45720" rIns="91440" bIns="45720" rtlCol="0">
            <a:noAutofit/>
          </a:bodyPr>
          <a:lstStyle>
            <a:defPPr>
              <a:defRPr lang="en-US"/>
            </a:defPPr>
            <a:lvl1pPr indent="0">
              <a:lnSpc>
                <a:spcPts val="1800"/>
              </a:lnSpc>
              <a:spcBef>
                <a:spcPts val="0"/>
              </a:spcBef>
              <a:spcAft>
                <a:spcPts val="600"/>
              </a:spcAft>
              <a:buFont typeface="Arial" panose="020B0604020202020204" pitchFamily="34" charset="0"/>
              <a:buNone/>
              <a:defRPr sz="1600" b="1">
                <a:solidFill>
                  <a:schemeClr val="tx1">
                    <a:lumMod val="75000"/>
                    <a:lumOff val="25000"/>
                  </a:schemeClr>
                </a:solidFill>
              </a:defRPr>
            </a:lvl1pPr>
            <a:lvl2pPr marL="685800" indent="-228600">
              <a:lnSpc>
                <a:spcPts val="1800"/>
              </a:lnSpc>
              <a:spcBef>
                <a:spcPts val="1000"/>
              </a:spcBef>
              <a:spcAft>
                <a:spcPts val="1000"/>
              </a:spcAft>
              <a:buFont typeface="Arial" panose="020B0604020202020204" pitchFamily="34" charset="0"/>
              <a:buChar char="•"/>
              <a:defRPr sz="1200">
                <a:solidFill>
                  <a:schemeClr val="tx1">
                    <a:lumMod val="75000"/>
                    <a:lumOff val="25000"/>
                  </a:schemeClr>
                </a:solidFill>
              </a:defRPr>
            </a:lvl2pPr>
            <a:lvl3pPr marL="1143000" indent="-228600">
              <a:lnSpc>
                <a:spcPts val="1800"/>
              </a:lnSpc>
              <a:spcBef>
                <a:spcPts val="1000"/>
              </a:spcBef>
              <a:spcAft>
                <a:spcPts val="1000"/>
              </a:spcAft>
              <a:buFont typeface="Arial" panose="020B0604020202020204" pitchFamily="34" charset="0"/>
              <a:buChar char="•"/>
              <a:defRPr sz="1200">
                <a:solidFill>
                  <a:schemeClr val="tx1">
                    <a:lumMod val="75000"/>
                    <a:lumOff val="25000"/>
                  </a:schemeClr>
                </a:solidFill>
              </a:defRPr>
            </a:lvl3pPr>
            <a:lvl4pPr marL="1600200" indent="-228600">
              <a:lnSpc>
                <a:spcPts val="1800"/>
              </a:lnSpc>
              <a:spcBef>
                <a:spcPts val="1000"/>
              </a:spcBef>
              <a:spcAft>
                <a:spcPts val="1000"/>
              </a:spcAft>
              <a:buFont typeface="Arial" panose="020B0604020202020204" pitchFamily="34" charset="0"/>
              <a:buChar char="•"/>
              <a:defRPr sz="1200">
                <a:solidFill>
                  <a:schemeClr val="tx1">
                    <a:lumMod val="75000"/>
                    <a:lumOff val="25000"/>
                  </a:schemeClr>
                </a:solidFill>
              </a:defRPr>
            </a:lvl4pPr>
            <a:lvl5pPr marL="2057400" indent="-228600">
              <a:lnSpc>
                <a:spcPts val="1800"/>
              </a:lnSpc>
              <a:spcBef>
                <a:spcPts val="1000"/>
              </a:spcBef>
              <a:spcAft>
                <a:spcPts val="1000"/>
              </a:spcAft>
              <a:buFont typeface="Arial" panose="020B0604020202020204" pitchFamily="34" charset="0"/>
              <a:buChar char="•"/>
              <a:defRPr sz="1200">
                <a:solidFill>
                  <a:schemeClr val="tx1">
                    <a:lumMod val="75000"/>
                    <a:lumOff val="25000"/>
                  </a:schemeClr>
                </a:solidFill>
              </a:defRPr>
            </a:lvl5pPr>
            <a:lvl6pPr marL="2514600" indent="-228600">
              <a:lnSpc>
                <a:spcPct val="90000"/>
              </a:lnSpc>
              <a:spcBef>
                <a:spcPct val="30000"/>
              </a:spcBef>
              <a:buFont typeface="Arial" panose="020B0604020202020204" pitchFamily="34" charset="0"/>
              <a:buChar char="•"/>
            </a:lvl6pPr>
            <a:lvl7pPr marL="2971800" indent="-228600">
              <a:lnSpc>
                <a:spcPct val="90000"/>
              </a:lnSpc>
              <a:spcBef>
                <a:spcPct val="30000"/>
              </a:spcBef>
              <a:buFont typeface="Arial" panose="020B0604020202020204" pitchFamily="34" charset="0"/>
              <a:buChar char="•"/>
            </a:lvl7pPr>
            <a:lvl8pPr marL="3429000" indent="-228600">
              <a:lnSpc>
                <a:spcPct val="90000"/>
              </a:lnSpc>
              <a:spcBef>
                <a:spcPct val="30000"/>
              </a:spcBef>
              <a:buFont typeface="Arial" panose="020B0604020202020204" pitchFamily="34" charset="0"/>
              <a:buChar char="•"/>
            </a:lvl8pPr>
            <a:lvl9pPr marL="3886200" indent="-228600">
              <a:lnSpc>
                <a:spcPct val="90000"/>
              </a:lnSpc>
              <a:spcBef>
                <a:spcPct val="30000"/>
              </a:spcBef>
              <a:buFont typeface="Arial" panose="020B0604020202020204" pitchFamily="34" charset="0"/>
              <a:buChar char="•"/>
            </a:lvl9pPr>
          </a:lstStyle>
          <a:p>
            <a:r>
              <a:rPr lang="en-US" dirty="0"/>
              <a:t>Flow</a:t>
            </a:r>
          </a:p>
          <a:p>
            <a:r>
              <a:rPr lang="en-US" b="0" dirty="0"/>
              <a:t>Returns → Risk Metrics → Tail Analysis</a:t>
            </a:r>
          </a:p>
          <a:p>
            <a:endParaRPr lang="en-US" b="0" dirty="0"/>
          </a:p>
          <a:p>
            <a:r>
              <a:rPr lang="en-US" dirty="0"/>
              <a:t>Description</a:t>
            </a:r>
          </a:p>
          <a:p>
            <a:pPr marL="285750" indent="-285750">
              <a:buFont typeface="Arial" panose="020B0604020202020204" pitchFamily="34" charset="0"/>
              <a:buChar char="•"/>
            </a:pPr>
            <a:r>
              <a:rPr lang="en-US" b="0" dirty="0"/>
              <a:t>This engine quantifies loss. </a:t>
            </a:r>
          </a:p>
          <a:p>
            <a:pPr marL="285750" indent="-285750">
              <a:buFont typeface="Arial" panose="020B0604020202020204" pitchFamily="34" charset="0"/>
              <a:buChar char="•"/>
            </a:pPr>
            <a:r>
              <a:rPr lang="en-US" b="0" dirty="0" err="1"/>
              <a:t>VaR</a:t>
            </a:r>
            <a:r>
              <a:rPr lang="en-US" b="0" dirty="0"/>
              <a:t> estimates maximum expected loss under confidence assumptions. </a:t>
            </a:r>
          </a:p>
          <a:p>
            <a:pPr marL="285750" indent="-285750">
              <a:buFont typeface="Arial" panose="020B0604020202020204" pitchFamily="34" charset="0"/>
              <a:buChar char="•"/>
            </a:pPr>
            <a:r>
              <a:rPr lang="en-US" b="0" dirty="0"/>
              <a:t>CVaR estimates average loss beyond </a:t>
            </a:r>
            <a:r>
              <a:rPr lang="en-US" b="0" dirty="0" err="1"/>
              <a:t>VaR.</a:t>
            </a:r>
            <a:r>
              <a:rPr lang="en-US" b="0" dirty="0"/>
              <a:t> </a:t>
            </a:r>
          </a:p>
          <a:p>
            <a:pPr marL="285750" indent="-285750">
              <a:buFont typeface="Arial" panose="020B0604020202020204" pitchFamily="34" charset="0"/>
              <a:buChar char="•"/>
            </a:pPr>
            <a:r>
              <a:rPr lang="en-US" b="0" dirty="0"/>
              <a:t>Stress testing applies synthetic crashes. </a:t>
            </a:r>
          </a:p>
          <a:p>
            <a:pPr marL="285750" indent="-285750">
              <a:buFont typeface="Arial" panose="020B0604020202020204" pitchFamily="34" charset="0"/>
              <a:buChar char="•"/>
            </a:pPr>
            <a:r>
              <a:rPr lang="en-US" b="0" dirty="0"/>
              <a:t>This helps evaluate stock robustness. </a:t>
            </a:r>
          </a:p>
          <a:p>
            <a:pPr marL="285750" indent="-285750">
              <a:buFont typeface="Arial" panose="020B0604020202020204" pitchFamily="34" charset="0"/>
              <a:buChar char="•"/>
            </a:pPr>
            <a:r>
              <a:rPr lang="en-US" b="0" dirty="0"/>
              <a:t>Risk is as important as return. </a:t>
            </a:r>
          </a:p>
          <a:p>
            <a:pPr marL="285750" indent="-285750">
              <a:buFont typeface="Arial" panose="020B0604020202020204" pitchFamily="34" charset="0"/>
              <a:buChar char="•"/>
            </a:pPr>
            <a:r>
              <a:rPr lang="en-US" b="0" dirty="0"/>
              <a:t>A stock with high returns but extreme tail risk should rank lower. </a:t>
            </a:r>
          </a:p>
          <a:p>
            <a:pPr marL="285750" indent="-285750">
              <a:buFont typeface="Arial" panose="020B0604020202020204" pitchFamily="34" charset="0"/>
              <a:buChar char="•"/>
            </a:pPr>
            <a:r>
              <a:rPr lang="en-US" b="0" dirty="0"/>
              <a:t>This engine ensures risk-adjusted intelligence. </a:t>
            </a:r>
          </a:p>
          <a:p>
            <a:pPr marL="285750" indent="-285750">
              <a:buFont typeface="Arial" panose="020B0604020202020204" pitchFamily="34" charset="0"/>
              <a:buChar char="•"/>
            </a:pPr>
            <a:r>
              <a:rPr lang="en-US" b="0" dirty="0"/>
              <a:t>It converts volatility into actionable loss estimates.</a:t>
            </a:r>
          </a:p>
          <a:p>
            <a:endParaRPr lang="en-US" b="0" dirty="0"/>
          </a:p>
        </p:txBody>
      </p:sp>
    </p:spTree>
    <p:extLst>
      <p:ext uri="{BB962C8B-B14F-4D97-AF65-F5344CB8AC3E}">
        <p14:creationId xmlns:p14="http://schemas.microsoft.com/office/powerpoint/2010/main" val="338645216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74DBF2-5C5A-59CC-9FF3-235862D81659}"/>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A2C864DB-29A0-F6F6-7101-322087B411D4}"/>
              </a:ext>
            </a:extLst>
          </p:cNvPr>
          <p:cNvSpPr>
            <a:spLocks noGrp="1"/>
          </p:cNvSpPr>
          <p:nvPr>
            <p:ph type="title"/>
          </p:nvPr>
        </p:nvSpPr>
        <p:spPr/>
        <p:txBody>
          <a:bodyPr>
            <a:noAutofit/>
          </a:bodyPr>
          <a:lstStyle/>
          <a:p>
            <a:r>
              <a:rPr lang="en-US" sz="3200" b="1" dirty="0"/>
              <a:t>12. Ranking Engine</a:t>
            </a:r>
            <a:endParaRPr lang="en-US" sz="3200" b="1" dirty="0">
              <a:latin typeface="Segoe UI Light" panose="020B0502040204020203" pitchFamily="34" charset="0"/>
              <a:cs typeface="Segoe UI Light" panose="020B0502040204020203" pitchFamily="34" charset="0"/>
            </a:endParaRPr>
          </a:p>
        </p:txBody>
      </p:sp>
      <p:sp>
        <p:nvSpPr>
          <p:cNvPr id="38" name="Content Placeholder 17">
            <a:extLst>
              <a:ext uri="{FF2B5EF4-FFF2-40B4-BE49-F238E27FC236}">
                <a16:creationId xmlns:a16="http://schemas.microsoft.com/office/drawing/2014/main" id="{A3DE92DE-AF4D-8FB2-B33B-BA54DEA8C06E}"/>
              </a:ext>
            </a:extLst>
          </p:cNvPr>
          <p:cNvSpPr txBox="1">
            <a:spLocks/>
          </p:cNvSpPr>
          <p:nvPr/>
        </p:nvSpPr>
        <p:spPr>
          <a:xfrm>
            <a:off x="541610" y="1445195"/>
            <a:ext cx="11027538" cy="5124569"/>
          </a:xfrm>
          <a:prstGeom prst="rect">
            <a:avLst/>
          </a:prstGeom>
        </p:spPr>
        <p:txBody>
          <a:bodyPr vert="horz" wrap="square" lIns="91440" tIns="45720" rIns="91440" bIns="45720" rtlCol="0">
            <a:noAutofit/>
          </a:bodyPr>
          <a:lstStyle>
            <a:defPPr>
              <a:defRPr lang="en-US"/>
            </a:defPPr>
            <a:lvl1pPr indent="0">
              <a:lnSpc>
                <a:spcPts val="1800"/>
              </a:lnSpc>
              <a:spcBef>
                <a:spcPts val="0"/>
              </a:spcBef>
              <a:spcAft>
                <a:spcPts val="600"/>
              </a:spcAft>
              <a:buFont typeface="Arial" panose="020B0604020202020204" pitchFamily="34" charset="0"/>
              <a:buNone/>
              <a:defRPr sz="1600" b="1">
                <a:solidFill>
                  <a:schemeClr val="tx1">
                    <a:lumMod val="75000"/>
                    <a:lumOff val="25000"/>
                  </a:schemeClr>
                </a:solidFill>
              </a:defRPr>
            </a:lvl1pPr>
            <a:lvl2pPr marL="685800" indent="-228600">
              <a:lnSpc>
                <a:spcPts val="1800"/>
              </a:lnSpc>
              <a:spcBef>
                <a:spcPts val="1000"/>
              </a:spcBef>
              <a:spcAft>
                <a:spcPts val="1000"/>
              </a:spcAft>
              <a:buFont typeface="Arial" panose="020B0604020202020204" pitchFamily="34" charset="0"/>
              <a:buChar char="•"/>
              <a:defRPr sz="1200">
                <a:solidFill>
                  <a:schemeClr val="tx1">
                    <a:lumMod val="75000"/>
                    <a:lumOff val="25000"/>
                  </a:schemeClr>
                </a:solidFill>
              </a:defRPr>
            </a:lvl2pPr>
            <a:lvl3pPr marL="1143000" indent="-228600">
              <a:lnSpc>
                <a:spcPts val="1800"/>
              </a:lnSpc>
              <a:spcBef>
                <a:spcPts val="1000"/>
              </a:spcBef>
              <a:spcAft>
                <a:spcPts val="1000"/>
              </a:spcAft>
              <a:buFont typeface="Arial" panose="020B0604020202020204" pitchFamily="34" charset="0"/>
              <a:buChar char="•"/>
              <a:defRPr sz="1200">
                <a:solidFill>
                  <a:schemeClr val="tx1">
                    <a:lumMod val="75000"/>
                    <a:lumOff val="25000"/>
                  </a:schemeClr>
                </a:solidFill>
              </a:defRPr>
            </a:lvl3pPr>
            <a:lvl4pPr marL="1600200" indent="-228600">
              <a:lnSpc>
                <a:spcPts val="1800"/>
              </a:lnSpc>
              <a:spcBef>
                <a:spcPts val="1000"/>
              </a:spcBef>
              <a:spcAft>
                <a:spcPts val="1000"/>
              </a:spcAft>
              <a:buFont typeface="Arial" panose="020B0604020202020204" pitchFamily="34" charset="0"/>
              <a:buChar char="•"/>
              <a:defRPr sz="1200">
                <a:solidFill>
                  <a:schemeClr val="tx1">
                    <a:lumMod val="75000"/>
                    <a:lumOff val="25000"/>
                  </a:schemeClr>
                </a:solidFill>
              </a:defRPr>
            </a:lvl4pPr>
            <a:lvl5pPr marL="2057400" indent="-228600">
              <a:lnSpc>
                <a:spcPts val="1800"/>
              </a:lnSpc>
              <a:spcBef>
                <a:spcPts val="1000"/>
              </a:spcBef>
              <a:spcAft>
                <a:spcPts val="1000"/>
              </a:spcAft>
              <a:buFont typeface="Arial" panose="020B0604020202020204" pitchFamily="34" charset="0"/>
              <a:buChar char="•"/>
              <a:defRPr sz="1200">
                <a:solidFill>
                  <a:schemeClr val="tx1">
                    <a:lumMod val="75000"/>
                    <a:lumOff val="25000"/>
                  </a:schemeClr>
                </a:solidFill>
              </a:defRPr>
            </a:lvl5pPr>
            <a:lvl6pPr marL="2514600" indent="-228600">
              <a:lnSpc>
                <a:spcPct val="90000"/>
              </a:lnSpc>
              <a:spcBef>
                <a:spcPct val="30000"/>
              </a:spcBef>
              <a:buFont typeface="Arial" panose="020B0604020202020204" pitchFamily="34" charset="0"/>
              <a:buChar char="•"/>
            </a:lvl6pPr>
            <a:lvl7pPr marL="2971800" indent="-228600">
              <a:lnSpc>
                <a:spcPct val="90000"/>
              </a:lnSpc>
              <a:spcBef>
                <a:spcPct val="30000"/>
              </a:spcBef>
              <a:buFont typeface="Arial" panose="020B0604020202020204" pitchFamily="34" charset="0"/>
              <a:buChar char="•"/>
            </a:lvl7pPr>
            <a:lvl8pPr marL="3429000" indent="-228600">
              <a:lnSpc>
                <a:spcPct val="90000"/>
              </a:lnSpc>
              <a:spcBef>
                <a:spcPct val="30000"/>
              </a:spcBef>
              <a:buFont typeface="Arial" panose="020B0604020202020204" pitchFamily="34" charset="0"/>
              <a:buChar char="•"/>
            </a:lvl8pPr>
            <a:lvl9pPr marL="3886200" indent="-228600">
              <a:lnSpc>
                <a:spcPct val="90000"/>
              </a:lnSpc>
              <a:spcBef>
                <a:spcPct val="30000"/>
              </a:spcBef>
              <a:buFont typeface="Arial" panose="020B0604020202020204" pitchFamily="34" charset="0"/>
              <a:buChar char="•"/>
            </a:lvl9pPr>
          </a:lstStyle>
          <a:p>
            <a:r>
              <a:rPr lang="en-US" dirty="0"/>
              <a:t>Flow</a:t>
            </a:r>
          </a:p>
          <a:p>
            <a:r>
              <a:rPr lang="en-US" b="0" dirty="0"/>
              <a:t>Statistical Parameters → Stochastic Models → Price Path Generation</a:t>
            </a:r>
          </a:p>
          <a:p>
            <a:endParaRPr lang="en-US" dirty="0"/>
          </a:p>
          <a:p>
            <a:r>
              <a:rPr lang="en-US" dirty="0"/>
              <a:t>Description</a:t>
            </a:r>
          </a:p>
          <a:p>
            <a:pPr marL="285750" indent="-285750">
              <a:buFont typeface="Arial" panose="020B0604020202020204" pitchFamily="34" charset="0"/>
              <a:buChar char="•"/>
            </a:pPr>
            <a:r>
              <a:rPr lang="en-US" b="0" dirty="0"/>
              <a:t>This is the decision engine. </a:t>
            </a:r>
          </a:p>
          <a:p>
            <a:pPr marL="285750" indent="-285750">
              <a:buFont typeface="Arial" panose="020B0604020202020204" pitchFamily="34" charset="0"/>
              <a:buChar char="•"/>
            </a:pPr>
            <a:r>
              <a:rPr lang="en-US" b="0" dirty="0"/>
              <a:t>It aggregates all analytical outputs into one score. </a:t>
            </a:r>
          </a:p>
          <a:p>
            <a:pPr marL="285750" indent="-285750">
              <a:buFont typeface="Arial" panose="020B0604020202020204" pitchFamily="34" charset="0"/>
              <a:buChar char="•"/>
            </a:pPr>
            <a:r>
              <a:rPr lang="en-US" b="0" dirty="0"/>
              <a:t>Each factor is weighted according to importance. </a:t>
            </a:r>
          </a:p>
          <a:p>
            <a:pPr marL="285750" indent="-285750">
              <a:buFont typeface="Arial" panose="020B0604020202020204" pitchFamily="34" charset="0"/>
              <a:buChar char="•"/>
            </a:pPr>
            <a:r>
              <a:rPr lang="en-US" b="0" dirty="0"/>
              <a:t>Momentum, volatility, returns, and simulation confidence all influence ranking. </a:t>
            </a:r>
          </a:p>
          <a:p>
            <a:pPr marL="285750" indent="-285750">
              <a:buFont typeface="Arial" panose="020B0604020202020204" pitchFamily="34" charset="0"/>
              <a:buChar char="•"/>
            </a:pPr>
            <a:r>
              <a:rPr lang="en-US" b="0" dirty="0"/>
              <a:t>This allows multi-factor stock comparison. </a:t>
            </a:r>
          </a:p>
          <a:p>
            <a:pPr marL="285750" indent="-285750">
              <a:buFont typeface="Arial" panose="020B0604020202020204" pitchFamily="34" charset="0"/>
              <a:buChar char="•"/>
            </a:pPr>
            <a:r>
              <a:rPr lang="en-US" b="0" dirty="0"/>
              <a:t>It transforms raw analytics into actionable insights. </a:t>
            </a:r>
          </a:p>
          <a:p>
            <a:pPr marL="285750" indent="-285750">
              <a:buFont typeface="Arial" panose="020B0604020202020204" pitchFamily="34" charset="0"/>
              <a:buChar char="•"/>
            </a:pPr>
            <a:r>
              <a:rPr lang="en-US" b="0" dirty="0"/>
              <a:t>It acts like a hedge-fund screening engine. </a:t>
            </a:r>
          </a:p>
          <a:p>
            <a:pPr marL="285750" indent="-285750">
              <a:buFont typeface="Arial" panose="020B0604020202020204" pitchFamily="34" charset="0"/>
              <a:buChar char="•"/>
            </a:pPr>
            <a:r>
              <a:rPr lang="en-US" b="0" dirty="0"/>
              <a:t>This layer is where intelligence becomes usable.</a:t>
            </a:r>
          </a:p>
        </p:txBody>
      </p:sp>
    </p:spTree>
    <p:extLst>
      <p:ext uri="{BB962C8B-B14F-4D97-AF65-F5344CB8AC3E}">
        <p14:creationId xmlns:p14="http://schemas.microsoft.com/office/powerpoint/2010/main" val="141339145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68DFF4-FB2C-0283-88FD-FD42F19E109C}"/>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A8FA3A54-B276-97C3-8E6C-188531E28854}"/>
              </a:ext>
            </a:extLst>
          </p:cNvPr>
          <p:cNvSpPr>
            <a:spLocks noGrp="1"/>
          </p:cNvSpPr>
          <p:nvPr>
            <p:ph type="title"/>
          </p:nvPr>
        </p:nvSpPr>
        <p:spPr/>
        <p:txBody>
          <a:bodyPr>
            <a:noAutofit/>
          </a:bodyPr>
          <a:lstStyle/>
          <a:p>
            <a:r>
              <a:rPr lang="en-US" sz="3200" b="1" dirty="0"/>
              <a:t>13. </a:t>
            </a:r>
            <a:r>
              <a:rPr lang="en-US" sz="3200" b="1" dirty="0" err="1"/>
              <a:t>Streamlit</a:t>
            </a:r>
            <a:r>
              <a:rPr lang="en-US" sz="3200" b="1" dirty="0"/>
              <a:t> Dashboard</a:t>
            </a:r>
            <a:endParaRPr lang="en-US" sz="3200" b="1" dirty="0">
              <a:latin typeface="Segoe UI Light" panose="020B0502040204020203" pitchFamily="34" charset="0"/>
              <a:cs typeface="Segoe UI Light" panose="020B0502040204020203" pitchFamily="34" charset="0"/>
            </a:endParaRPr>
          </a:p>
        </p:txBody>
      </p:sp>
      <p:sp>
        <p:nvSpPr>
          <p:cNvPr id="38" name="Content Placeholder 17">
            <a:extLst>
              <a:ext uri="{FF2B5EF4-FFF2-40B4-BE49-F238E27FC236}">
                <a16:creationId xmlns:a16="http://schemas.microsoft.com/office/drawing/2014/main" id="{2343F7B2-A4CA-6FFC-1C1E-6F6515AAFC99}"/>
              </a:ext>
            </a:extLst>
          </p:cNvPr>
          <p:cNvSpPr txBox="1">
            <a:spLocks/>
          </p:cNvSpPr>
          <p:nvPr/>
        </p:nvSpPr>
        <p:spPr>
          <a:xfrm>
            <a:off x="541610" y="1445195"/>
            <a:ext cx="11027538" cy="5124569"/>
          </a:xfrm>
          <a:prstGeom prst="rect">
            <a:avLst/>
          </a:prstGeom>
        </p:spPr>
        <p:txBody>
          <a:bodyPr vert="horz" wrap="square" lIns="91440" tIns="45720" rIns="91440" bIns="45720" rtlCol="0">
            <a:noAutofit/>
          </a:bodyPr>
          <a:lstStyle>
            <a:defPPr>
              <a:defRPr lang="en-US"/>
            </a:defPPr>
            <a:lvl1pPr indent="0">
              <a:lnSpc>
                <a:spcPts val="1800"/>
              </a:lnSpc>
              <a:spcBef>
                <a:spcPts val="0"/>
              </a:spcBef>
              <a:spcAft>
                <a:spcPts val="600"/>
              </a:spcAft>
              <a:buFont typeface="Arial" panose="020B0604020202020204" pitchFamily="34" charset="0"/>
              <a:buNone/>
              <a:defRPr sz="1600" b="1">
                <a:solidFill>
                  <a:schemeClr val="tx1">
                    <a:lumMod val="75000"/>
                    <a:lumOff val="25000"/>
                  </a:schemeClr>
                </a:solidFill>
              </a:defRPr>
            </a:lvl1pPr>
            <a:lvl2pPr marL="685800" indent="-228600">
              <a:lnSpc>
                <a:spcPts val="1800"/>
              </a:lnSpc>
              <a:spcBef>
                <a:spcPts val="1000"/>
              </a:spcBef>
              <a:spcAft>
                <a:spcPts val="1000"/>
              </a:spcAft>
              <a:buFont typeface="Arial" panose="020B0604020202020204" pitchFamily="34" charset="0"/>
              <a:buChar char="•"/>
              <a:defRPr sz="1200">
                <a:solidFill>
                  <a:schemeClr val="tx1">
                    <a:lumMod val="75000"/>
                    <a:lumOff val="25000"/>
                  </a:schemeClr>
                </a:solidFill>
              </a:defRPr>
            </a:lvl2pPr>
            <a:lvl3pPr marL="1143000" indent="-228600">
              <a:lnSpc>
                <a:spcPts val="1800"/>
              </a:lnSpc>
              <a:spcBef>
                <a:spcPts val="1000"/>
              </a:spcBef>
              <a:spcAft>
                <a:spcPts val="1000"/>
              </a:spcAft>
              <a:buFont typeface="Arial" panose="020B0604020202020204" pitchFamily="34" charset="0"/>
              <a:buChar char="•"/>
              <a:defRPr sz="1200">
                <a:solidFill>
                  <a:schemeClr val="tx1">
                    <a:lumMod val="75000"/>
                    <a:lumOff val="25000"/>
                  </a:schemeClr>
                </a:solidFill>
              </a:defRPr>
            </a:lvl3pPr>
            <a:lvl4pPr marL="1600200" indent="-228600">
              <a:lnSpc>
                <a:spcPts val="1800"/>
              </a:lnSpc>
              <a:spcBef>
                <a:spcPts val="1000"/>
              </a:spcBef>
              <a:spcAft>
                <a:spcPts val="1000"/>
              </a:spcAft>
              <a:buFont typeface="Arial" panose="020B0604020202020204" pitchFamily="34" charset="0"/>
              <a:buChar char="•"/>
              <a:defRPr sz="1200">
                <a:solidFill>
                  <a:schemeClr val="tx1">
                    <a:lumMod val="75000"/>
                    <a:lumOff val="25000"/>
                  </a:schemeClr>
                </a:solidFill>
              </a:defRPr>
            </a:lvl4pPr>
            <a:lvl5pPr marL="2057400" indent="-228600">
              <a:lnSpc>
                <a:spcPts val="1800"/>
              </a:lnSpc>
              <a:spcBef>
                <a:spcPts val="1000"/>
              </a:spcBef>
              <a:spcAft>
                <a:spcPts val="1000"/>
              </a:spcAft>
              <a:buFont typeface="Arial" panose="020B0604020202020204" pitchFamily="34" charset="0"/>
              <a:buChar char="•"/>
              <a:defRPr sz="1200">
                <a:solidFill>
                  <a:schemeClr val="tx1">
                    <a:lumMod val="75000"/>
                    <a:lumOff val="25000"/>
                  </a:schemeClr>
                </a:solidFill>
              </a:defRPr>
            </a:lvl5pPr>
            <a:lvl6pPr marL="2514600" indent="-228600">
              <a:lnSpc>
                <a:spcPct val="90000"/>
              </a:lnSpc>
              <a:spcBef>
                <a:spcPct val="30000"/>
              </a:spcBef>
              <a:buFont typeface="Arial" panose="020B0604020202020204" pitchFamily="34" charset="0"/>
              <a:buChar char="•"/>
            </a:lvl6pPr>
            <a:lvl7pPr marL="2971800" indent="-228600">
              <a:lnSpc>
                <a:spcPct val="90000"/>
              </a:lnSpc>
              <a:spcBef>
                <a:spcPct val="30000"/>
              </a:spcBef>
              <a:buFont typeface="Arial" panose="020B0604020202020204" pitchFamily="34" charset="0"/>
              <a:buChar char="•"/>
            </a:lvl7pPr>
            <a:lvl8pPr marL="3429000" indent="-228600">
              <a:lnSpc>
                <a:spcPct val="90000"/>
              </a:lnSpc>
              <a:spcBef>
                <a:spcPct val="30000"/>
              </a:spcBef>
              <a:buFont typeface="Arial" panose="020B0604020202020204" pitchFamily="34" charset="0"/>
              <a:buChar char="•"/>
            </a:lvl8pPr>
            <a:lvl9pPr marL="3886200" indent="-228600">
              <a:lnSpc>
                <a:spcPct val="90000"/>
              </a:lnSpc>
              <a:spcBef>
                <a:spcPct val="30000"/>
              </a:spcBef>
              <a:buFont typeface="Arial" panose="020B0604020202020204" pitchFamily="34" charset="0"/>
              <a:buChar char="•"/>
            </a:lvl9pPr>
          </a:lstStyle>
          <a:p>
            <a:r>
              <a:rPr lang="en-US" dirty="0"/>
              <a:t>Flow</a:t>
            </a:r>
          </a:p>
          <a:p>
            <a:r>
              <a:rPr lang="en-US" b="0" dirty="0"/>
              <a:t>Analytics Output → Visualization → User Decisions</a:t>
            </a:r>
          </a:p>
          <a:p>
            <a:endParaRPr lang="en-US" b="0" dirty="0"/>
          </a:p>
          <a:p>
            <a:r>
              <a:rPr lang="en-US" dirty="0"/>
              <a:t>Description</a:t>
            </a:r>
          </a:p>
          <a:p>
            <a:pPr marL="285750" indent="-285750">
              <a:buFont typeface="Arial" panose="020B0604020202020204" pitchFamily="34" charset="0"/>
              <a:buChar char="•"/>
            </a:pPr>
            <a:r>
              <a:rPr lang="en-US" b="0" dirty="0"/>
              <a:t>This layer converts quantitative outputs into human-readable visuals. </a:t>
            </a:r>
          </a:p>
          <a:p>
            <a:pPr marL="285750" indent="-285750">
              <a:buFont typeface="Arial" panose="020B0604020202020204" pitchFamily="34" charset="0"/>
              <a:buChar char="•"/>
            </a:pPr>
            <a:r>
              <a:rPr lang="en-US" b="0" dirty="0"/>
              <a:t>Charts make patterns easier to interpret. </a:t>
            </a:r>
          </a:p>
          <a:p>
            <a:pPr marL="285750" indent="-285750">
              <a:buFont typeface="Arial" panose="020B0604020202020204" pitchFamily="34" charset="0"/>
              <a:buChar char="•"/>
            </a:pPr>
            <a:r>
              <a:rPr lang="en-US" b="0" dirty="0"/>
              <a:t>Histograms reveal return distributions. </a:t>
            </a:r>
          </a:p>
          <a:p>
            <a:pPr marL="285750" indent="-285750">
              <a:buFont typeface="Arial" panose="020B0604020202020204" pitchFamily="34" charset="0"/>
              <a:buChar char="•"/>
            </a:pPr>
            <a:r>
              <a:rPr lang="en-US" b="0" dirty="0"/>
              <a:t>Simulation plots show future uncertainty bands. </a:t>
            </a:r>
          </a:p>
          <a:p>
            <a:pPr marL="285750" indent="-285750">
              <a:buFont typeface="Arial" panose="020B0604020202020204" pitchFamily="34" charset="0"/>
              <a:buChar char="•"/>
            </a:pPr>
            <a:r>
              <a:rPr lang="en-US" b="0" dirty="0"/>
              <a:t>Risk dashboards display </a:t>
            </a:r>
            <a:r>
              <a:rPr lang="en-US" b="0" dirty="0" err="1"/>
              <a:t>VaR</a:t>
            </a:r>
            <a:r>
              <a:rPr lang="en-US" b="0" dirty="0"/>
              <a:t> and drawdowns. </a:t>
            </a:r>
          </a:p>
          <a:p>
            <a:pPr marL="285750" indent="-285750">
              <a:buFont typeface="Arial" panose="020B0604020202020204" pitchFamily="34" charset="0"/>
              <a:buChar char="•"/>
            </a:pPr>
            <a:r>
              <a:rPr lang="en-US" b="0" dirty="0"/>
              <a:t>Ranking tables provide actionable screening. </a:t>
            </a:r>
          </a:p>
          <a:p>
            <a:pPr marL="285750" indent="-285750">
              <a:buFont typeface="Arial" panose="020B0604020202020204" pitchFamily="34" charset="0"/>
              <a:buChar char="•"/>
            </a:pPr>
            <a:r>
              <a:rPr lang="en-US" b="0" dirty="0"/>
              <a:t>This layer makes the research engine interactive. </a:t>
            </a:r>
          </a:p>
          <a:p>
            <a:pPr marL="285750" indent="-285750">
              <a:buFont typeface="Arial" panose="020B0604020202020204" pitchFamily="34" charset="0"/>
              <a:buChar char="•"/>
            </a:pPr>
            <a:r>
              <a:rPr lang="en-US" b="0" dirty="0"/>
              <a:t>It acts as the user’s cockpit. </a:t>
            </a:r>
          </a:p>
          <a:p>
            <a:pPr marL="285750" indent="-285750">
              <a:buFont typeface="Arial" panose="020B0604020202020204" pitchFamily="34" charset="0"/>
              <a:buChar char="•"/>
            </a:pPr>
            <a:r>
              <a:rPr lang="en-US" b="0" dirty="0"/>
              <a:t>It is the final presentation layer of the system.</a:t>
            </a:r>
          </a:p>
        </p:txBody>
      </p:sp>
    </p:spTree>
    <p:extLst>
      <p:ext uri="{BB962C8B-B14F-4D97-AF65-F5344CB8AC3E}">
        <p14:creationId xmlns:p14="http://schemas.microsoft.com/office/powerpoint/2010/main" val="320709054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6484CE-0646-A568-5C5E-9BA5344719BF}"/>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E1EC9BBE-D881-F846-4973-CF42CB38DE62}"/>
              </a:ext>
            </a:extLst>
          </p:cNvPr>
          <p:cNvSpPr>
            <a:spLocks noGrp="1"/>
          </p:cNvSpPr>
          <p:nvPr>
            <p:ph type="title"/>
          </p:nvPr>
        </p:nvSpPr>
        <p:spPr/>
        <p:txBody>
          <a:bodyPr/>
          <a:lstStyle/>
          <a:p>
            <a:r>
              <a:rPr lang="en-US" b="1" dirty="0">
                <a:latin typeface="Segoe UI Light" panose="020B0502040204020203" pitchFamily="34" charset="0"/>
                <a:cs typeface="Segoe UI Light" panose="020B0502040204020203" pitchFamily="34" charset="0"/>
              </a:rPr>
              <a:t>System Flow</a:t>
            </a:r>
          </a:p>
        </p:txBody>
      </p:sp>
      <p:sp>
        <p:nvSpPr>
          <p:cNvPr id="27" name="Content Placeholder 17">
            <a:extLst>
              <a:ext uri="{FF2B5EF4-FFF2-40B4-BE49-F238E27FC236}">
                <a16:creationId xmlns:a16="http://schemas.microsoft.com/office/drawing/2014/main" id="{AFFF8DEB-55E0-505D-D059-FD39EDDAEE58}"/>
              </a:ext>
            </a:extLst>
          </p:cNvPr>
          <p:cNvSpPr txBox="1">
            <a:spLocks/>
          </p:cNvSpPr>
          <p:nvPr/>
        </p:nvSpPr>
        <p:spPr>
          <a:xfrm>
            <a:off x="521207" y="1368193"/>
            <a:ext cx="3087114" cy="5124569"/>
          </a:xfrm>
          <a:prstGeom prst="rect">
            <a:avLst/>
          </a:prstGeom>
        </p:spPr>
        <p:txBody>
          <a:bodyPr vert="horz" wrap="square" lIns="91440" tIns="45720" rIns="91440" bIns="45720" rtlCol="0">
            <a:noAutofit/>
          </a:bodyPr>
          <a:lstStyle>
            <a:lvl1pPr marL="2286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1pPr>
            <a:lvl2pPr marL="6858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2pPr>
            <a:lvl3pPr marL="11430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3pPr>
            <a:lvl4pPr marL="16002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4pPr>
            <a:lvl5pPr marL="20574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9pPr>
          </a:lstStyle>
          <a:p>
            <a:pPr marL="0" indent="0">
              <a:spcBef>
                <a:spcPts val="0"/>
              </a:spcBef>
              <a:spcAft>
                <a:spcPts val="1200"/>
              </a:spcAft>
              <a:buNone/>
            </a:pPr>
            <a:r>
              <a:rPr lang="en-US" sz="1800" b="1" u="sng" dirty="0"/>
              <a:t>SYSTEM FLOW</a:t>
            </a:r>
          </a:p>
          <a:p>
            <a:pPr marL="0" indent="0">
              <a:spcBef>
                <a:spcPts val="0"/>
              </a:spcBef>
              <a:spcAft>
                <a:spcPts val="1200"/>
              </a:spcAft>
              <a:buNone/>
            </a:pPr>
            <a:r>
              <a:rPr lang="en-US" sz="1800" dirty="0"/>
              <a:t>Login ↓</a:t>
            </a:r>
          </a:p>
          <a:p>
            <a:pPr marL="0" indent="0">
              <a:spcBef>
                <a:spcPts val="0"/>
              </a:spcBef>
              <a:spcAft>
                <a:spcPts val="1200"/>
              </a:spcAft>
              <a:buNone/>
            </a:pPr>
            <a:r>
              <a:rPr lang="en-US" sz="1800" dirty="0"/>
              <a:t>Load Instruments ↓ </a:t>
            </a:r>
          </a:p>
          <a:p>
            <a:pPr marL="0" indent="0">
              <a:spcBef>
                <a:spcPts val="0"/>
              </a:spcBef>
              <a:spcAft>
                <a:spcPts val="1200"/>
              </a:spcAft>
              <a:buNone/>
            </a:pPr>
            <a:r>
              <a:rPr lang="en-US" sz="1800" dirty="0"/>
              <a:t>Map Tokens ↓</a:t>
            </a:r>
          </a:p>
          <a:p>
            <a:pPr marL="0" indent="0">
              <a:spcBef>
                <a:spcPts val="0"/>
              </a:spcBef>
              <a:spcAft>
                <a:spcPts val="1200"/>
              </a:spcAft>
              <a:buNone/>
            </a:pPr>
            <a:r>
              <a:rPr lang="en-US" sz="1800" dirty="0"/>
              <a:t>Download Historical Data ↓</a:t>
            </a:r>
          </a:p>
          <a:p>
            <a:pPr marL="0" indent="0">
              <a:spcBef>
                <a:spcPts val="0"/>
              </a:spcBef>
              <a:spcAft>
                <a:spcPts val="1200"/>
              </a:spcAft>
              <a:buNone/>
            </a:pPr>
            <a:r>
              <a:rPr lang="en-US" sz="1800" dirty="0"/>
              <a:t>Compute Returns ↓</a:t>
            </a:r>
          </a:p>
          <a:p>
            <a:pPr marL="0" indent="0">
              <a:spcBef>
                <a:spcPts val="0"/>
              </a:spcBef>
              <a:spcAft>
                <a:spcPts val="1200"/>
              </a:spcAft>
              <a:buNone/>
            </a:pPr>
            <a:r>
              <a:rPr lang="en-US" sz="1800" dirty="0"/>
              <a:t>Generate Indicators ↓</a:t>
            </a:r>
          </a:p>
          <a:p>
            <a:pPr marL="0" indent="0">
              <a:spcBef>
                <a:spcPts val="0"/>
              </a:spcBef>
              <a:spcAft>
                <a:spcPts val="1200"/>
              </a:spcAft>
              <a:buNone/>
            </a:pPr>
            <a:r>
              <a:rPr lang="en-US" sz="1800" dirty="0"/>
              <a:t>Run Statistical Analysis ↓</a:t>
            </a:r>
          </a:p>
          <a:p>
            <a:pPr marL="0" indent="0">
              <a:spcBef>
                <a:spcPts val="0"/>
              </a:spcBef>
              <a:spcAft>
                <a:spcPts val="1200"/>
              </a:spcAft>
              <a:buNone/>
            </a:pPr>
            <a:r>
              <a:rPr lang="en-US" sz="1800" dirty="0"/>
              <a:t>Run Physics Models ↓</a:t>
            </a:r>
          </a:p>
          <a:p>
            <a:pPr marL="0" indent="0">
              <a:spcBef>
                <a:spcPts val="0"/>
              </a:spcBef>
              <a:spcAft>
                <a:spcPts val="1200"/>
              </a:spcAft>
              <a:buNone/>
            </a:pPr>
            <a:r>
              <a:rPr lang="en-US" sz="1800" dirty="0"/>
              <a:t>Run Monte Carlo ↓</a:t>
            </a:r>
          </a:p>
          <a:p>
            <a:pPr marL="0" indent="0">
              <a:spcBef>
                <a:spcPts val="0"/>
              </a:spcBef>
              <a:spcAft>
                <a:spcPts val="1200"/>
              </a:spcAft>
              <a:buNone/>
            </a:pPr>
            <a:r>
              <a:rPr lang="en-US" sz="1800" dirty="0"/>
              <a:t>Compute Risk ↓</a:t>
            </a:r>
          </a:p>
          <a:p>
            <a:pPr marL="0" indent="0">
              <a:spcBef>
                <a:spcPts val="0"/>
              </a:spcBef>
              <a:spcAft>
                <a:spcPts val="1200"/>
              </a:spcAft>
              <a:buNone/>
            </a:pPr>
            <a:r>
              <a:rPr lang="en-US" sz="1800" dirty="0"/>
              <a:t>Rank Stocks ↓</a:t>
            </a:r>
          </a:p>
          <a:p>
            <a:pPr marL="0" indent="0">
              <a:spcBef>
                <a:spcPts val="0"/>
              </a:spcBef>
              <a:spcAft>
                <a:spcPts val="1200"/>
              </a:spcAft>
              <a:buNone/>
            </a:pPr>
            <a:r>
              <a:rPr lang="en-US" sz="1800" dirty="0"/>
              <a:t>Visualize Results ↓</a:t>
            </a:r>
          </a:p>
          <a:p>
            <a:pPr marL="0" indent="0">
              <a:spcBef>
                <a:spcPts val="0"/>
              </a:spcBef>
              <a:spcAft>
                <a:spcPts val="1200"/>
              </a:spcAft>
              <a:buNone/>
            </a:pPr>
            <a:r>
              <a:rPr lang="en-US" sz="1800" dirty="0"/>
              <a:t>Decision Making</a:t>
            </a:r>
          </a:p>
        </p:txBody>
      </p:sp>
    </p:spTree>
    <p:extLst>
      <p:ext uri="{BB962C8B-B14F-4D97-AF65-F5344CB8AC3E}">
        <p14:creationId xmlns:p14="http://schemas.microsoft.com/office/powerpoint/2010/main" val="110013468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CE2384-9CCA-7024-C653-B895C113B513}"/>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A3C3FD46-D229-C437-33C2-3CD54EF2DE49}"/>
              </a:ext>
            </a:extLst>
          </p:cNvPr>
          <p:cNvSpPr>
            <a:spLocks noGrp="1"/>
          </p:cNvSpPr>
          <p:nvPr>
            <p:ph type="title"/>
          </p:nvPr>
        </p:nvSpPr>
        <p:spPr/>
        <p:txBody>
          <a:bodyPr>
            <a:noAutofit/>
          </a:bodyPr>
          <a:lstStyle/>
          <a:p>
            <a:r>
              <a:rPr lang="en-US" sz="3200" b="1" dirty="0"/>
              <a:t>Project Structure &amp; Code Components</a:t>
            </a:r>
            <a:endParaRPr lang="en-US" sz="3200" b="1" dirty="0">
              <a:latin typeface="Segoe UI Light" panose="020B0502040204020203" pitchFamily="34" charset="0"/>
              <a:cs typeface="Segoe UI Light" panose="020B0502040204020203" pitchFamily="34" charset="0"/>
            </a:endParaRPr>
          </a:p>
        </p:txBody>
      </p:sp>
      <p:cxnSp>
        <p:nvCxnSpPr>
          <p:cNvPr id="6" name="Straight Connector 5">
            <a:extLst>
              <a:ext uri="{FF2B5EF4-FFF2-40B4-BE49-F238E27FC236}">
                <a16:creationId xmlns:a16="http://schemas.microsoft.com/office/drawing/2014/main" id="{EE6ACC90-AB5F-E736-CB7A-B39F964BEA21}"/>
              </a:ext>
            </a:extLst>
          </p:cNvPr>
          <p:cNvCxnSpPr>
            <a:cxnSpLocks/>
          </p:cNvCxnSpPr>
          <p:nvPr/>
        </p:nvCxnSpPr>
        <p:spPr>
          <a:xfrm>
            <a:off x="6238775" y="1387444"/>
            <a:ext cx="0" cy="5124569"/>
          </a:xfrm>
          <a:prstGeom prst="line">
            <a:avLst/>
          </a:prstGeom>
          <a:ln w="9525"/>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528AB656-E695-D9D3-736F-06251D32C885}"/>
              </a:ext>
            </a:extLst>
          </p:cNvPr>
          <p:cNvPicPr>
            <a:picLocks noChangeAspect="1"/>
          </p:cNvPicPr>
          <p:nvPr/>
        </p:nvPicPr>
        <p:blipFill>
          <a:blip r:embed="rId2"/>
          <a:stretch>
            <a:fillRect/>
          </a:stretch>
        </p:blipFill>
        <p:spPr>
          <a:xfrm>
            <a:off x="521207" y="1277965"/>
            <a:ext cx="2676525" cy="5343525"/>
          </a:xfrm>
          <a:prstGeom prst="rect">
            <a:avLst/>
          </a:prstGeom>
        </p:spPr>
      </p:pic>
      <p:pic>
        <p:nvPicPr>
          <p:cNvPr id="11" name="Picture 10">
            <a:extLst>
              <a:ext uri="{FF2B5EF4-FFF2-40B4-BE49-F238E27FC236}">
                <a16:creationId xmlns:a16="http://schemas.microsoft.com/office/drawing/2014/main" id="{A7A37478-D38C-9B85-B8EC-5BDE129BE11B}"/>
              </a:ext>
            </a:extLst>
          </p:cNvPr>
          <p:cNvPicPr>
            <a:picLocks noChangeAspect="1"/>
          </p:cNvPicPr>
          <p:nvPr/>
        </p:nvPicPr>
        <p:blipFill>
          <a:blip r:embed="rId3"/>
          <a:stretch>
            <a:fillRect/>
          </a:stretch>
        </p:blipFill>
        <p:spPr>
          <a:xfrm>
            <a:off x="6670170" y="1277965"/>
            <a:ext cx="2324100" cy="3629025"/>
          </a:xfrm>
          <a:prstGeom prst="rect">
            <a:avLst/>
          </a:prstGeom>
        </p:spPr>
      </p:pic>
    </p:spTree>
    <p:extLst>
      <p:ext uri="{BB962C8B-B14F-4D97-AF65-F5344CB8AC3E}">
        <p14:creationId xmlns:p14="http://schemas.microsoft.com/office/powerpoint/2010/main" val="119928767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2387B1-32BC-033B-CF14-ACE552E8DA36}"/>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0154B7DE-4563-5B26-6FE0-37E9A885573F}"/>
              </a:ext>
            </a:extLst>
          </p:cNvPr>
          <p:cNvSpPr>
            <a:spLocks noGrp="1"/>
          </p:cNvSpPr>
          <p:nvPr>
            <p:ph type="title"/>
          </p:nvPr>
        </p:nvSpPr>
        <p:spPr/>
        <p:txBody>
          <a:bodyPr/>
          <a:lstStyle/>
          <a:p>
            <a:r>
              <a:rPr lang="en-US" b="1" dirty="0">
                <a:latin typeface="Segoe UI Light" panose="020B0502040204020203" pitchFamily="34" charset="0"/>
                <a:cs typeface="Segoe UI Light" panose="020B0502040204020203" pitchFamily="34" charset="0"/>
              </a:rPr>
              <a:t>Version Control, GIT &amp; PyCharm</a:t>
            </a:r>
          </a:p>
        </p:txBody>
      </p:sp>
      <p:sp>
        <p:nvSpPr>
          <p:cNvPr id="27" name="Content Placeholder 17">
            <a:extLst>
              <a:ext uri="{FF2B5EF4-FFF2-40B4-BE49-F238E27FC236}">
                <a16:creationId xmlns:a16="http://schemas.microsoft.com/office/drawing/2014/main" id="{36DF0CA7-626C-B870-F6BC-195C4993A101}"/>
              </a:ext>
            </a:extLst>
          </p:cNvPr>
          <p:cNvSpPr txBox="1">
            <a:spLocks/>
          </p:cNvSpPr>
          <p:nvPr/>
        </p:nvSpPr>
        <p:spPr>
          <a:xfrm>
            <a:off x="6925037" y="1318499"/>
            <a:ext cx="4654466" cy="5124569"/>
          </a:xfrm>
          <a:prstGeom prst="rect">
            <a:avLst/>
          </a:prstGeom>
        </p:spPr>
        <p:txBody>
          <a:bodyPr vert="horz" wrap="square" lIns="91440" tIns="45720" rIns="91440" bIns="45720" rtlCol="0">
            <a:noAutofit/>
          </a:bodyPr>
          <a:lstStyle>
            <a:lvl1pPr marL="2286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1pPr>
            <a:lvl2pPr marL="6858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2pPr>
            <a:lvl3pPr marL="11430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3pPr>
            <a:lvl4pPr marL="16002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4pPr>
            <a:lvl5pPr marL="20574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9pPr>
          </a:lstStyle>
          <a:p>
            <a:pPr marL="0" indent="0">
              <a:lnSpc>
                <a:spcPts val="1200"/>
              </a:lnSpc>
              <a:spcBef>
                <a:spcPts val="0"/>
              </a:spcBef>
              <a:spcAft>
                <a:spcPts val="600"/>
              </a:spcAft>
              <a:buNone/>
            </a:pPr>
            <a:r>
              <a:rPr lang="en-US" b="1" u="sng" dirty="0"/>
              <a:t>GIT with PYCHARM</a:t>
            </a:r>
          </a:p>
          <a:p>
            <a:pPr>
              <a:lnSpc>
                <a:spcPts val="1200"/>
              </a:lnSpc>
              <a:spcBef>
                <a:spcPts val="0"/>
              </a:spcBef>
              <a:spcAft>
                <a:spcPts val="600"/>
              </a:spcAft>
              <a:buFont typeface="Arial" panose="020B0604020202020204" pitchFamily="34" charset="0"/>
              <a:buAutoNum type="arabicPeriod"/>
            </a:pPr>
            <a:r>
              <a:rPr lang="en-US" b="1" dirty="0">
                <a:highlight>
                  <a:srgbClr val="FFFF00"/>
                </a:highlight>
              </a:rPr>
              <a:t>Connect </a:t>
            </a:r>
            <a:r>
              <a:rPr lang="en-US" b="1" dirty="0"/>
              <a:t>Your GitHub Account </a:t>
            </a:r>
          </a:p>
          <a:p>
            <a:pPr>
              <a:lnSpc>
                <a:spcPts val="1200"/>
              </a:lnSpc>
              <a:spcBef>
                <a:spcPts val="0"/>
              </a:spcBef>
              <a:spcAft>
                <a:spcPts val="600"/>
              </a:spcAft>
              <a:buAutoNum type="arabicPeriod"/>
            </a:pPr>
            <a:r>
              <a:rPr lang="en-US" b="1" dirty="0">
                <a:highlight>
                  <a:srgbClr val="FFFF00"/>
                </a:highlight>
              </a:rPr>
              <a:t>Clone</a:t>
            </a:r>
            <a:r>
              <a:rPr lang="en-US" b="1" dirty="0"/>
              <a:t> (Initialize) and </a:t>
            </a:r>
            <a:r>
              <a:rPr lang="en-US" b="1" dirty="0">
                <a:highlight>
                  <a:srgbClr val="FFFF00"/>
                </a:highlight>
              </a:rPr>
              <a:t>Checkout</a:t>
            </a:r>
            <a:r>
              <a:rPr lang="en-US" b="1" dirty="0"/>
              <a:t> Repository (One time activity)</a:t>
            </a:r>
          </a:p>
          <a:p>
            <a:pPr marL="119063" indent="0">
              <a:lnSpc>
                <a:spcPts val="1200"/>
              </a:lnSpc>
              <a:spcBef>
                <a:spcPts val="0"/>
              </a:spcBef>
              <a:spcAft>
                <a:spcPts val="600"/>
              </a:spcAft>
              <a:buNone/>
            </a:pPr>
            <a:r>
              <a:rPr lang="en-US" dirty="0"/>
              <a:t>It downloads changes from a remote repository and immediately integrates them into your current local branch</a:t>
            </a:r>
            <a:endParaRPr lang="en-US" b="1" dirty="0"/>
          </a:p>
          <a:p>
            <a:pPr>
              <a:lnSpc>
                <a:spcPts val="1200"/>
              </a:lnSpc>
              <a:spcBef>
                <a:spcPts val="0"/>
              </a:spcBef>
              <a:spcAft>
                <a:spcPts val="600"/>
              </a:spcAft>
              <a:buFont typeface="+mj-lt"/>
              <a:buAutoNum type="arabicPeriod" startAt="3"/>
            </a:pPr>
            <a:r>
              <a:rPr lang="en-US" b="1" dirty="0">
                <a:highlight>
                  <a:srgbClr val="FFFF00"/>
                </a:highlight>
              </a:rPr>
              <a:t>Track</a:t>
            </a:r>
            <a:r>
              <a:rPr lang="en-US" b="1" dirty="0"/>
              <a:t>, </a:t>
            </a:r>
            <a:r>
              <a:rPr lang="en-US" b="1" dirty="0">
                <a:highlight>
                  <a:srgbClr val="FFFF00"/>
                </a:highlight>
              </a:rPr>
              <a:t>Commit</a:t>
            </a:r>
            <a:r>
              <a:rPr lang="en-US" b="1" dirty="0"/>
              <a:t> &amp; </a:t>
            </a:r>
            <a:r>
              <a:rPr lang="en-US" b="1" dirty="0">
                <a:highlight>
                  <a:srgbClr val="FFFF00"/>
                </a:highlight>
              </a:rPr>
              <a:t>Push</a:t>
            </a:r>
            <a:r>
              <a:rPr lang="en-US" b="1" dirty="0"/>
              <a:t> code changes</a:t>
            </a:r>
          </a:p>
          <a:p>
            <a:pPr marL="119063" lvl="1" indent="0">
              <a:lnSpc>
                <a:spcPts val="1200"/>
              </a:lnSpc>
              <a:spcBef>
                <a:spcPts val="0"/>
              </a:spcBef>
              <a:spcAft>
                <a:spcPts val="600"/>
              </a:spcAft>
              <a:buNone/>
            </a:pPr>
            <a:r>
              <a:rPr lang="en-US" dirty="0"/>
              <a:t>Once Git is enabled, PyCharm uses color coding for your files: </a:t>
            </a:r>
          </a:p>
          <a:p>
            <a:pPr marL="228600" lvl="1" indent="-109538">
              <a:lnSpc>
                <a:spcPts val="1200"/>
              </a:lnSpc>
              <a:spcBef>
                <a:spcPts val="0"/>
              </a:spcBef>
              <a:spcAft>
                <a:spcPts val="600"/>
              </a:spcAft>
              <a:buNone/>
            </a:pPr>
            <a:r>
              <a:rPr lang="en-US" b="1" dirty="0">
                <a:highlight>
                  <a:srgbClr val="FF0000"/>
                </a:highlight>
              </a:rPr>
              <a:t>Red</a:t>
            </a:r>
            <a:r>
              <a:rPr lang="en-US" dirty="0"/>
              <a:t> means un-versioned</a:t>
            </a:r>
          </a:p>
          <a:p>
            <a:pPr marL="228600" lvl="1" indent="-109538">
              <a:lnSpc>
                <a:spcPts val="1200"/>
              </a:lnSpc>
              <a:spcBef>
                <a:spcPts val="0"/>
              </a:spcBef>
              <a:spcAft>
                <a:spcPts val="600"/>
              </a:spcAft>
              <a:buNone/>
            </a:pPr>
            <a:r>
              <a:rPr lang="en-US" b="1" dirty="0">
                <a:highlight>
                  <a:srgbClr val="008000"/>
                </a:highlight>
              </a:rPr>
              <a:t>Green</a:t>
            </a:r>
            <a:r>
              <a:rPr lang="en-US" dirty="0"/>
              <a:t> means newly added, and </a:t>
            </a:r>
          </a:p>
          <a:p>
            <a:pPr marL="228600" lvl="1" indent="-109538">
              <a:lnSpc>
                <a:spcPts val="1200"/>
              </a:lnSpc>
              <a:spcBef>
                <a:spcPts val="0"/>
              </a:spcBef>
              <a:spcAft>
                <a:spcPts val="600"/>
              </a:spcAft>
              <a:buNone/>
            </a:pPr>
            <a:r>
              <a:rPr lang="en-US" b="1" dirty="0">
                <a:highlight>
                  <a:srgbClr val="00FFFF"/>
                </a:highlight>
              </a:rPr>
              <a:t>Blue</a:t>
            </a:r>
            <a:r>
              <a:rPr lang="en-US" dirty="0"/>
              <a:t> means modified.</a:t>
            </a:r>
          </a:p>
          <a:p>
            <a:pPr marL="228600" lvl="1" indent="-109538">
              <a:lnSpc>
                <a:spcPts val="1200"/>
              </a:lnSpc>
              <a:spcBef>
                <a:spcPts val="0"/>
              </a:spcBef>
              <a:spcAft>
                <a:spcPts val="600"/>
              </a:spcAft>
              <a:buNone/>
            </a:pPr>
            <a:r>
              <a:rPr lang="en-US" b="1" u="sng" dirty="0"/>
              <a:t>Steps</a:t>
            </a:r>
          </a:p>
          <a:p>
            <a:pPr marL="228600" lvl="1" indent="-109538">
              <a:lnSpc>
                <a:spcPts val="1200"/>
              </a:lnSpc>
              <a:spcBef>
                <a:spcPts val="0"/>
              </a:spcBef>
              <a:spcAft>
                <a:spcPts val="600"/>
              </a:spcAft>
            </a:pPr>
            <a:r>
              <a:rPr lang="en-US" b="1" dirty="0"/>
              <a:t>Add files</a:t>
            </a:r>
            <a:r>
              <a:rPr lang="en-US" dirty="0"/>
              <a:t>: </a:t>
            </a:r>
          </a:p>
          <a:p>
            <a:pPr marL="119062" lvl="1" indent="0">
              <a:lnSpc>
                <a:spcPts val="1200"/>
              </a:lnSpc>
              <a:spcBef>
                <a:spcPts val="0"/>
              </a:spcBef>
              <a:spcAft>
                <a:spcPts val="600"/>
              </a:spcAft>
              <a:buNone/>
            </a:pPr>
            <a:r>
              <a:rPr lang="en-US" dirty="0"/>
              <a:t>Right-click any red file and choose </a:t>
            </a:r>
            <a:r>
              <a:rPr lang="en-US" b="1" dirty="0"/>
              <a:t>Git &gt; Add</a:t>
            </a:r>
            <a:r>
              <a:rPr lang="en-US" dirty="0"/>
              <a:t> (Shortcut: Ctrl + Alt + A or </a:t>
            </a:r>
            <a:r>
              <a:rPr lang="en-US" dirty="0" err="1"/>
              <a:t>Cmd</a:t>
            </a:r>
            <a:r>
              <a:rPr lang="en-US" dirty="0"/>
              <a:t> + Option + A).</a:t>
            </a:r>
          </a:p>
          <a:p>
            <a:pPr marL="228600" lvl="1" indent="-109538">
              <a:lnSpc>
                <a:spcPts val="1200"/>
              </a:lnSpc>
              <a:spcBef>
                <a:spcPts val="0"/>
              </a:spcBef>
              <a:spcAft>
                <a:spcPts val="600"/>
              </a:spcAft>
            </a:pPr>
            <a:r>
              <a:rPr lang="en-US" b="1" dirty="0"/>
              <a:t>Commit changes</a:t>
            </a:r>
            <a:r>
              <a:rPr lang="en-US" dirty="0"/>
              <a:t>: </a:t>
            </a:r>
          </a:p>
          <a:p>
            <a:pPr marL="119062" lvl="1" indent="0">
              <a:lnSpc>
                <a:spcPts val="1200"/>
              </a:lnSpc>
              <a:spcBef>
                <a:spcPts val="0"/>
              </a:spcBef>
              <a:spcAft>
                <a:spcPts val="600"/>
              </a:spcAft>
              <a:buNone/>
            </a:pPr>
            <a:r>
              <a:rPr lang="en-US" dirty="0"/>
              <a:t>Open the </a:t>
            </a:r>
            <a:r>
              <a:rPr lang="en-US" b="1" dirty="0"/>
              <a:t>Commit</a:t>
            </a:r>
            <a:r>
              <a:rPr lang="en-US" dirty="0"/>
              <a:t> tool window on the left side (Alt + 0 / </a:t>
            </a:r>
            <a:r>
              <a:rPr lang="en-US" dirty="0" err="1"/>
              <a:t>Cmd</a:t>
            </a:r>
            <a:r>
              <a:rPr lang="en-US" dirty="0"/>
              <a:t> + 0). Check the files you want to save, write your commit message, and click </a:t>
            </a:r>
            <a:r>
              <a:rPr lang="en-US" b="1" dirty="0"/>
              <a:t>Commit</a:t>
            </a:r>
            <a:r>
              <a:rPr lang="en-US" dirty="0"/>
              <a:t>.</a:t>
            </a:r>
          </a:p>
          <a:p>
            <a:pPr marL="228600" lvl="1" indent="-109538">
              <a:lnSpc>
                <a:spcPts val="1200"/>
              </a:lnSpc>
              <a:spcBef>
                <a:spcPts val="0"/>
              </a:spcBef>
              <a:spcAft>
                <a:spcPts val="600"/>
              </a:spcAft>
            </a:pPr>
            <a:r>
              <a:rPr lang="en-US" b="1" dirty="0"/>
              <a:t>Push to a remote server</a:t>
            </a:r>
            <a:r>
              <a:rPr lang="en-US" dirty="0"/>
              <a:t>: </a:t>
            </a:r>
          </a:p>
          <a:p>
            <a:pPr marL="119062" lvl="1" indent="0">
              <a:lnSpc>
                <a:spcPts val="1200"/>
              </a:lnSpc>
              <a:spcBef>
                <a:spcPts val="0"/>
              </a:spcBef>
              <a:spcAft>
                <a:spcPts val="600"/>
              </a:spcAft>
              <a:buNone/>
            </a:pPr>
            <a:r>
              <a:rPr lang="en-US" dirty="0"/>
              <a:t>Go to </a:t>
            </a:r>
            <a:r>
              <a:rPr lang="en-US" b="1" dirty="0"/>
              <a:t>Git &gt; Push</a:t>
            </a:r>
            <a:r>
              <a:rPr lang="en-US" dirty="0"/>
              <a:t> (Shortcut: Ctrl + Shift + K or </a:t>
            </a:r>
            <a:r>
              <a:rPr lang="en-US" dirty="0" err="1"/>
              <a:t>Cmd</a:t>
            </a:r>
            <a:r>
              <a:rPr lang="en-US" dirty="0"/>
              <a:t> + Shift + K) to send your local changes to GitHub. </a:t>
            </a:r>
          </a:p>
          <a:p>
            <a:pPr marL="0" indent="0">
              <a:lnSpc>
                <a:spcPts val="1200"/>
              </a:lnSpc>
              <a:spcBef>
                <a:spcPts val="0"/>
              </a:spcBef>
              <a:spcAft>
                <a:spcPts val="600"/>
              </a:spcAft>
              <a:buNone/>
            </a:pPr>
            <a:r>
              <a:rPr lang="en-US" b="1" dirty="0"/>
              <a:t>4. </a:t>
            </a:r>
            <a:r>
              <a:rPr lang="en-US" b="1" dirty="0">
                <a:highlight>
                  <a:srgbClr val="FFFF00"/>
                </a:highlight>
              </a:rPr>
              <a:t>Pull</a:t>
            </a:r>
            <a:endParaRPr lang="en-US" dirty="0">
              <a:highlight>
                <a:srgbClr val="FFFF00"/>
              </a:highlight>
            </a:endParaRPr>
          </a:p>
          <a:p>
            <a:pPr marL="0" indent="0">
              <a:lnSpc>
                <a:spcPts val="1200"/>
              </a:lnSpc>
              <a:spcBef>
                <a:spcPts val="0"/>
              </a:spcBef>
              <a:spcAft>
                <a:spcPts val="600"/>
              </a:spcAft>
              <a:buNone/>
            </a:pPr>
            <a:r>
              <a:rPr lang="en-US" b="1" dirty="0"/>
              <a:t>5. </a:t>
            </a:r>
            <a:r>
              <a:rPr lang="en-US" b="1" dirty="0">
                <a:highlight>
                  <a:srgbClr val="FFFF00"/>
                </a:highlight>
              </a:rPr>
              <a:t>Branching and Merging</a:t>
            </a:r>
            <a:r>
              <a:rPr lang="en-US" b="1" dirty="0"/>
              <a:t> </a:t>
            </a:r>
          </a:p>
        </p:txBody>
      </p:sp>
      <p:pic>
        <p:nvPicPr>
          <p:cNvPr id="3074" name="Picture 2" descr="How Git Works: Explained in 4 Minutes">
            <a:extLst>
              <a:ext uri="{FF2B5EF4-FFF2-40B4-BE49-F238E27FC236}">
                <a16:creationId xmlns:a16="http://schemas.microsoft.com/office/drawing/2014/main" id="{DB9CDE23-B5AB-2C95-B731-56671C4022E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81450" y="3137916"/>
            <a:ext cx="6124612" cy="3335225"/>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6B2DFE84-186C-8119-9DD3-5BD170EA3B99}"/>
              </a:ext>
            </a:extLst>
          </p:cNvPr>
          <p:cNvSpPr txBox="1"/>
          <p:nvPr/>
        </p:nvSpPr>
        <p:spPr>
          <a:xfrm>
            <a:off x="492448" y="1239872"/>
            <a:ext cx="6216461" cy="1815882"/>
          </a:xfrm>
          <a:prstGeom prst="rect">
            <a:avLst/>
          </a:prstGeom>
          <a:noFill/>
        </p:spPr>
        <p:txBody>
          <a:bodyPr wrap="square">
            <a:spAutoFit/>
          </a:bodyPr>
          <a:lstStyle/>
          <a:p>
            <a:r>
              <a:rPr lang="en-US" sz="1600" b="1" u="none" strike="noStrike" dirty="0">
                <a:effectLst/>
                <a:latin typeface="Google Sans"/>
              </a:rPr>
              <a:t>Git</a:t>
            </a:r>
            <a:r>
              <a:rPr lang="en-US" sz="1600" dirty="0"/>
              <a:t> is a distributed version control system that tracks changes in computer files and coordinates work among multiple people. Seamless Collaboration with multiple teams.</a:t>
            </a:r>
          </a:p>
          <a:p>
            <a:endParaRPr lang="en-US" sz="1600" dirty="0"/>
          </a:p>
          <a:p>
            <a:r>
              <a:rPr lang="en-US" sz="1600" dirty="0"/>
              <a:t>It allows developers to record every modification to a codebase, safely experiment with new features, and easily revert to previous versions if mistakes happen.</a:t>
            </a:r>
          </a:p>
        </p:txBody>
      </p:sp>
      <p:cxnSp>
        <p:nvCxnSpPr>
          <p:cNvPr id="5" name="Straight Connector 4">
            <a:extLst>
              <a:ext uri="{FF2B5EF4-FFF2-40B4-BE49-F238E27FC236}">
                <a16:creationId xmlns:a16="http://schemas.microsoft.com/office/drawing/2014/main" id="{037C9210-D819-E931-EC96-273D657F0497}"/>
              </a:ext>
            </a:extLst>
          </p:cNvPr>
          <p:cNvCxnSpPr>
            <a:cxnSpLocks/>
          </p:cNvCxnSpPr>
          <p:nvPr/>
        </p:nvCxnSpPr>
        <p:spPr>
          <a:xfrm>
            <a:off x="6785427" y="1318499"/>
            <a:ext cx="0" cy="5124569"/>
          </a:xfrm>
          <a:prstGeom prst="line">
            <a:avLst/>
          </a:prstGeom>
          <a:ln w="9525"/>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0937076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1B33DE-8379-0296-0A37-19C6EC7CD63D}"/>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D7EC05CB-3685-05A3-FCBB-A48E8D130D71}"/>
              </a:ext>
            </a:extLst>
          </p:cNvPr>
          <p:cNvSpPr>
            <a:spLocks noGrp="1"/>
          </p:cNvSpPr>
          <p:nvPr>
            <p:ph type="title"/>
          </p:nvPr>
        </p:nvSpPr>
        <p:spPr/>
        <p:txBody>
          <a:bodyPr/>
          <a:lstStyle/>
          <a:p>
            <a:r>
              <a:rPr lang="en-US" b="1" dirty="0">
                <a:latin typeface="Segoe UI Light" panose="020B0502040204020203" pitchFamily="34" charset="0"/>
                <a:cs typeface="Segoe UI Light" panose="020B0502040204020203" pitchFamily="34" charset="0"/>
              </a:rPr>
              <a:t>Cloud &amp; Deployment </a:t>
            </a:r>
          </a:p>
        </p:txBody>
      </p:sp>
      <p:sp>
        <p:nvSpPr>
          <p:cNvPr id="27" name="Content Placeholder 17">
            <a:extLst>
              <a:ext uri="{FF2B5EF4-FFF2-40B4-BE49-F238E27FC236}">
                <a16:creationId xmlns:a16="http://schemas.microsoft.com/office/drawing/2014/main" id="{0E481160-73D8-CF61-3F61-E70F2FADC7E8}"/>
              </a:ext>
            </a:extLst>
          </p:cNvPr>
          <p:cNvSpPr txBox="1">
            <a:spLocks/>
          </p:cNvSpPr>
          <p:nvPr/>
        </p:nvSpPr>
        <p:spPr>
          <a:xfrm>
            <a:off x="521207" y="1368193"/>
            <a:ext cx="3087114" cy="5124569"/>
          </a:xfrm>
          <a:prstGeom prst="rect">
            <a:avLst/>
          </a:prstGeom>
        </p:spPr>
        <p:txBody>
          <a:bodyPr vert="horz" wrap="square" lIns="91440" tIns="45720" rIns="91440" bIns="45720" rtlCol="0">
            <a:noAutofit/>
          </a:bodyPr>
          <a:lstStyle>
            <a:lvl1pPr marL="2286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1pPr>
            <a:lvl2pPr marL="6858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2pPr>
            <a:lvl3pPr marL="11430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3pPr>
            <a:lvl4pPr marL="16002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4pPr>
            <a:lvl5pPr marL="20574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9pPr>
          </a:lstStyle>
          <a:p>
            <a:pPr marL="0" indent="0">
              <a:spcBef>
                <a:spcPts val="0"/>
              </a:spcBef>
              <a:spcAft>
                <a:spcPts val="1200"/>
              </a:spcAft>
              <a:buNone/>
            </a:pPr>
            <a:r>
              <a:rPr lang="en-US" sz="1800" b="1" u="sng" dirty="0"/>
              <a:t>…</a:t>
            </a:r>
            <a:endParaRPr lang="en-US" sz="1800" dirty="0"/>
          </a:p>
        </p:txBody>
      </p:sp>
    </p:spTree>
    <p:extLst>
      <p:ext uri="{BB962C8B-B14F-4D97-AF65-F5344CB8AC3E}">
        <p14:creationId xmlns:p14="http://schemas.microsoft.com/office/powerpoint/2010/main" val="30626944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7BDB89-60ED-C199-BECE-91F8BF59349D}"/>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BA8C3B77-6739-0044-A4CC-D807F8A1BB01}"/>
              </a:ext>
            </a:extLst>
          </p:cNvPr>
          <p:cNvSpPr>
            <a:spLocks noGrp="1"/>
          </p:cNvSpPr>
          <p:nvPr>
            <p:ph type="title"/>
          </p:nvPr>
        </p:nvSpPr>
        <p:spPr/>
        <p:txBody>
          <a:bodyPr/>
          <a:lstStyle/>
          <a:p>
            <a:r>
              <a:rPr lang="en-US" b="1" dirty="0">
                <a:latin typeface="Segoe UI Light" panose="020B0502040204020203" pitchFamily="34" charset="0"/>
                <a:cs typeface="Segoe UI Light" panose="020B0502040204020203" pitchFamily="34" charset="0"/>
              </a:rPr>
              <a:t>Agile &amp; Scrum Methodologies</a:t>
            </a:r>
          </a:p>
        </p:txBody>
      </p:sp>
      <p:sp>
        <p:nvSpPr>
          <p:cNvPr id="27" name="Content Placeholder 17">
            <a:extLst>
              <a:ext uri="{FF2B5EF4-FFF2-40B4-BE49-F238E27FC236}">
                <a16:creationId xmlns:a16="http://schemas.microsoft.com/office/drawing/2014/main" id="{3EC2E604-E711-A304-3C22-388465250660}"/>
              </a:ext>
            </a:extLst>
          </p:cNvPr>
          <p:cNvSpPr txBox="1">
            <a:spLocks/>
          </p:cNvSpPr>
          <p:nvPr/>
        </p:nvSpPr>
        <p:spPr>
          <a:xfrm>
            <a:off x="521207" y="1368193"/>
            <a:ext cx="3087114" cy="5124569"/>
          </a:xfrm>
          <a:prstGeom prst="rect">
            <a:avLst/>
          </a:prstGeom>
        </p:spPr>
        <p:txBody>
          <a:bodyPr vert="horz" wrap="square" lIns="91440" tIns="45720" rIns="91440" bIns="45720" rtlCol="0">
            <a:noAutofit/>
          </a:bodyPr>
          <a:lstStyle>
            <a:lvl1pPr marL="2286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1pPr>
            <a:lvl2pPr marL="6858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2pPr>
            <a:lvl3pPr marL="11430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3pPr>
            <a:lvl4pPr marL="16002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4pPr>
            <a:lvl5pPr marL="20574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9pPr>
          </a:lstStyle>
          <a:p>
            <a:pPr marL="0" indent="0">
              <a:spcBef>
                <a:spcPts val="0"/>
              </a:spcBef>
              <a:spcAft>
                <a:spcPts val="1200"/>
              </a:spcAft>
              <a:buNone/>
            </a:pPr>
            <a:r>
              <a:rPr lang="en-US" sz="1800" b="1" u="sng" dirty="0"/>
              <a:t>…</a:t>
            </a:r>
            <a:endParaRPr lang="en-US" sz="1800" dirty="0"/>
          </a:p>
        </p:txBody>
      </p:sp>
    </p:spTree>
    <p:extLst>
      <p:ext uri="{BB962C8B-B14F-4D97-AF65-F5344CB8AC3E}">
        <p14:creationId xmlns:p14="http://schemas.microsoft.com/office/powerpoint/2010/main" val="297850743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9"/>
          <p:cNvSpPr>
            <a:spLocks noGrp="1"/>
          </p:cNvSpPr>
          <p:nvPr>
            <p:ph type="title"/>
          </p:nvPr>
        </p:nvSpPr>
        <p:spPr/>
        <p:txBody>
          <a:bodyPr>
            <a:normAutofit/>
          </a:bodyPr>
          <a:lstStyle/>
          <a:p>
            <a:r>
              <a:rPr lang="en-US" dirty="0">
                <a:latin typeface="Segoe UI Light" panose="020B0502040204020203" pitchFamily="34" charset="0"/>
                <a:cs typeface="Segoe UI Light" panose="020B0502040204020203" pitchFamily="34" charset="0"/>
              </a:rPr>
              <a:t>Any Questions?</a:t>
            </a:r>
          </a:p>
        </p:txBody>
      </p:sp>
    </p:spTree>
    <p:extLst>
      <p:ext uri="{BB962C8B-B14F-4D97-AF65-F5344CB8AC3E}">
        <p14:creationId xmlns:p14="http://schemas.microsoft.com/office/powerpoint/2010/main" val="893025881"/>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p:transition>
    </mc:Choice>
    <mc:Fallback xmlns="">
      <p:transition xmlns:p14="http://schemas.microsoft.com/office/powerpoint/2010/main" spd="slow">
        <p:fade/>
      </p:transition>
    </mc:Fallback>
  </mc:AlternateContent>
</p:sld>
</file>

<file path=ppt/theme/theme1.xml><?xml version="1.0" encoding="utf-8"?>
<a:theme xmlns:a="http://schemas.openxmlformats.org/drawingml/2006/main" name="WelcomeDoc">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Segoe UI">
      <a:majorFont>
        <a:latin typeface="Segoe UI Light"/>
        <a:ea typeface=""/>
        <a:cs typeface=""/>
      </a:majorFont>
      <a:minorFont>
        <a:latin typeface="Segoe UI"/>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f10001108_win32_fixed.potx" id="{9A9BE078-57A7-48B2-9D33-8EFC365D262A}" vid="{66905093-CF97-471D-A25F-2AFDA5521695}"/>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{2477205E-944A-44DD-A119-55FED1DE54A3}tf10001108_win32</Template>
  <TotalTime>551</TotalTime>
  <Words>2756</Words>
  <Application>Microsoft Office PowerPoint</Application>
  <PresentationFormat>Widescreen</PresentationFormat>
  <Paragraphs>369</Paragraphs>
  <Slides>34</Slides>
  <Notes>2</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34</vt:i4>
      </vt:variant>
    </vt:vector>
  </HeadingPairs>
  <TitlesOfParts>
    <vt:vector size="41" baseType="lpstr">
      <vt:lpstr>Arial</vt:lpstr>
      <vt:lpstr>Calibri</vt:lpstr>
      <vt:lpstr>Google Sans</vt:lpstr>
      <vt:lpstr>Segoe UI</vt:lpstr>
      <vt:lpstr>Segoe UI Light</vt:lpstr>
      <vt:lpstr>Wingdings</vt:lpstr>
      <vt:lpstr>WelcomeDoc</vt:lpstr>
      <vt:lpstr>Quantative Simulation (QuantSim) Stock Market Simulation and Risk Intelligence Platform  </vt:lpstr>
      <vt:lpstr>Project Overview</vt:lpstr>
      <vt:lpstr>Core Objective</vt:lpstr>
      <vt:lpstr>Domain Model</vt:lpstr>
      <vt:lpstr>Journey</vt:lpstr>
      <vt:lpstr>E2E Architecture</vt:lpstr>
      <vt:lpstr>Main System Components</vt:lpstr>
      <vt:lpstr>Main System Components</vt:lpstr>
      <vt:lpstr>Technology &amp; Architecture Principles</vt:lpstr>
      <vt:lpstr>Key Strengths of the Project</vt:lpstr>
      <vt:lpstr>Expected Outcome</vt:lpstr>
      <vt:lpstr>Future Expansion Possibilities</vt:lpstr>
      <vt:lpstr>Architecture Walk-thru</vt:lpstr>
      <vt:lpstr>1. Broker Layer</vt:lpstr>
      <vt:lpstr>1.1 Authentication Flow</vt:lpstr>
      <vt:lpstr>1.2 Zerodha Ecosystem</vt:lpstr>
      <vt:lpstr>2. Instrument Master Layer</vt:lpstr>
      <vt:lpstr>3. Historical Data Engine</vt:lpstr>
      <vt:lpstr>4. Feature Engineering Layer</vt:lpstr>
      <vt:lpstr>5. Statistics Engine</vt:lpstr>
      <vt:lpstr>6. Technical Indicator Engine</vt:lpstr>
      <vt:lpstr>7. Physics Layer</vt:lpstr>
      <vt:lpstr>8. Brownian Motion Engine</vt:lpstr>
      <vt:lpstr>9. GBM Engine</vt:lpstr>
      <vt:lpstr>10. Monte Carlo Engine</vt:lpstr>
      <vt:lpstr>11. Risk Engine</vt:lpstr>
      <vt:lpstr>12. Ranking Engine</vt:lpstr>
      <vt:lpstr>13. Streamlit Dashboard</vt:lpstr>
      <vt:lpstr>System Flow</vt:lpstr>
      <vt:lpstr>Project Structure &amp; Code Components</vt:lpstr>
      <vt:lpstr>Version Control, GIT &amp; PyCharm</vt:lpstr>
      <vt:lpstr>Cloud &amp; Deployment </vt:lpstr>
      <vt:lpstr>Agile &amp; Scrum Methodologies</vt:lpstr>
      <vt:lpstr>Any Questions?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Welcome to PowerPoint</dc:title>
  <dc:creator>Rajendra Kulkarni</dc:creator>
  <cp:keywords/>
  <cp:lastModifiedBy>Rajendra Kulkarni</cp:lastModifiedBy>
  <cp:revision>27</cp:revision>
  <dcterms:created xsi:type="dcterms:W3CDTF">2022-02-25T13:09:07Z</dcterms:created>
  <dcterms:modified xsi:type="dcterms:W3CDTF">2026-06-21T06:59:28Z</dcterms:modified>
  <cp:version/>
</cp:coreProperties>
</file>